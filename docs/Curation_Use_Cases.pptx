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80"/>
    <p:restoredTop sz="97578"/>
  </p:normalViewPr>
  <p:slideViewPr>
    <p:cSldViewPr snapToGrid="0">
      <p:cViewPr varScale="1">
        <p:scale>
          <a:sx n="199" d="100"/>
          <a:sy n="199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3A3320-3135-A44C-8183-C0551D3CE93C}" type="datetimeFigureOut">
              <a:rPr lang="en-US" smtClean="0"/>
              <a:t>2/24/24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1F000A-0BEB-3D4D-ACF9-CF8CD957F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71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1F000A-0BEB-3D4D-ACF9-CF8CD957F2E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1F000A-0BEB-3D4D-ACF9-CF8CD957F2E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729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1F000A-0BEB-3D4D-ACF9-CF8CD957F2E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60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16A606-AC76-6E47-8AF8-3BF609A706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401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25609-666B-4AE9-E3D4-AD8947DD8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10AE43-4DD5-099F-D6E6-8EE8252E1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87EFB-9BAC-B21C-8782-EE9AFB634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179C-CE8B-E44A-B06E-4F90C3D979DD}" type="datetimeFigureOut">
              <a:rPr lang="en-US" smtClean="0"/>
              <a:t>2/24/24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FE962-D3A8-6808-3C3B-B29E3D7F9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BD5B8-E269-BD37-7D1B-B7A89E576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15034-766D-9F45-BE3F-10265A37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52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5DAF-3F45-D574-2002-B6022A798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18010-7A9D-9D71-D9C5-A05EA45F2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3A483-7F1C-A81E-CF26-CFF01C615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179C-CE8B-E44A-B06E-4F90C3D979DD}" type="datetimeFigureOut">
              <a:rPr lang="en-US" smtClean="0"/>
              <a:t>2/24/24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EF841-FF4D-0CF1-7074-B06BF1F57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E3C95-E7E9-F90D-791F-45AD87CE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15034-766D-9F45-BE3F-10265A37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48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ACA26-EBEB-D19A-050F-E146EC6B1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1AE1D-7425-A637-9496-175E912BC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DA105-C3B8-FB5C-E471-5D4E29E28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179C-CE8B-E44A-B06E-4F90C3D979DD}" type="datetimeFigureOut">
              <a:rPr lang="en-US" smtClean="0"/>
              <a:t>2/24/24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1D375-AD1C-6796-3C95-3571AD0D2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97CA6-C778-9E5C-EFE8-0F45C174D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15034-766D-9F45-BE3F-10265A37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2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1E7EB-43BB-7DF5-B226-71BAE8C80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30D8F-4E46-F12E-CAD1-81A7403A8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87839-BD2E-DEAA-099E-2122FD584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1E9FA-7442-6725-BE46-F0B1E7E02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179C-CE8B-E44A-B06E-4F90C3D979DD}" type="datetimeFigureOut">
              <a:rPr lang="en-US" smtClean="0"/>
              <a:t>2/24/24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72C20B-9DA5-AA59-10BB-D16CFC94F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68869-E66B-7E22-6F89-37EEB2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15034-766D-9F45-BE3F-10265A37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25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EECC2-46C4-EF9D-62DA-C792584ED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E0442-E570-EC19-0411-8751E530D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B3D46B-BC03-26AE-64A5-7A596B812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03D37-2DD5-0E20-4DDC-22A5CAC1BD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B359C5-CD32-F1F5-0A4A-51B7777CE1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D7F1FC-99DC-714C-3B21-FFEA55AB3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179C-CE8B-E44A-B06E-4F90C3D979DD}" type="datetimeFigureOut">
              <a:rPr lang="en-US" smtClean="0"/>
              <a:t>2/24/24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5F4C6C-1801-B884-C7FB-FAA3E3904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F9552A-618C-9583-DAB6-116A5C532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15034-766D-9F45-BE3F-10265A37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51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78D3B-8E44-31F7-C8D0-9C542E637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1367DF-D0AF-DEF8-CD19-E09B85C10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179C-CE8B-E44A-B06E-4F90C3D979DD}" type="datetimeFigureOut">
              <a:rPr lang="en-US" smtClean="0"/>
              <a:t>2/24/24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1DB02D-BB50-3611-E44E-19702CB8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7BE425-9CE7-A353-FFD9-68841335D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15034-766D-9F45-BE3F-10265A37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243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455E40-CB9B-2DA9-C558-EADA295E9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179C-CE8B-E44A-B06E-4F90C3D979DD}" type="datetimeFigureOut">
              <a:rPr lang="en-US" smtClean="0"/>
              <a:t>2/24/24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6730E-6EC9-E6E4-5E8E-AF5935A88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36D74-1BF7-B235-1685-E867A7834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15034-766D-9F45-BE3F-10265A37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046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2A89-588B-2F78-6872-DA74399C8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438E4-8865-B1A9-CB65-DD4B360C4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5A1708-1C15-3DA7-A2D8-9F193DB08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07536-41F2-4DFB-B304-68B19E137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179C-CE8B-E44A-B06E-4F90C3D979DD}" type="datetimeFigureOut">
              <a:rPr lang="en-US" smtClean="0"/>
              <a:t>2/24/24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3A6D5-4202-8E8A-69B1-507B10583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5C264-BCB9-0EFB-1356-77FE2F700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15034-766D-9F45-BE3F-10265A37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096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EBFB5-305D-3830-37FA-394161BB4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9621B5-61DF-0B60-5431-7851512B90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E4C95-F4A6-EC1E-8DB9-F3022A257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AC1D5-0649-3551-D96D-95E6004E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179C-CE8B-E44A-B06E-4F90C3D979DD}" type="datetimeFigureOut">
              <a:rPr lang="en-US" smtClean="0"/>
              <a:t>2/24/24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19AB2-CE99-9EA8-4FA2-AAB26FB89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BE9A5-0F7B-DC1C-2BA8-3CD94D742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15034-766D-9F45-BE3F-10265A37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271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58E36-CCFE-5BC1-93FD-1271EED02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BA658-62D9-9098-D590-6BDBF87DD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77BED-EA4C-CB30-3005-BF8737757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179C-CE8B-E44A-B06E-4F90C3D979DD}" type="datetimeFigureOut">
              <a:rPr lang="en-US" smtClean="0"/>
              <a:t>2/24/24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E9B24-3862-C79D-AE29-6432D639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6729B-BF0E-3C4B-B16C-F322CD302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15034-766D-9F45-BE3F-10265A37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777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933DD2-9CCB-BB3F-8EF0-E8C7A9F49A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D3640B-1C03-C49B-0A5B-02BB90432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A7D68-7956-D07B-9586-8B32BBE21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179C-CE8B-E44A-B06E-4F90C3D979DD}" type="datetimeFigureOut">
              <a:rPr lang="en-US" smtClean="0"/>
              <a:t>2/24/24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50BFF-3631-F71A-9C16-6155DF8C9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B7E99-8753-3885-A7E9-064EE0562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15034-766D-9F45-BE3F-10265A37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26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DD5402-0B4B-1A6F-B51C-651AFFADA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53F20-98F7-17B7-18F1-D87E70A6E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78602-90DE-1075-6121-0CA156554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82179C-CE8B-E44A-B06E-4F90C3D979DD}" type="datetimeFigureOut">
              <a:rPr lang="en-US" smtClean="0"/>
              <a:t>2/24/24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03F23-0A6D-2B17-FBF5-05F8CCE170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0D20B-D3A3-81E0-C518-52F3973A9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15034-766D-9F45-BE3F-10265A37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7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.langchain.com/docs/use_cases/question_answerin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15332-BE94-D792-48C9-D90CA51D1B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LLM Use Cases for Curation</a:t>
            </a:r>
          </a:p>
        </p:txBody>
      </p:sp>
    </p:spTree>
    <p:extLst>
      <p:ext uri="{BB962C8B-B14F-4D97-AF65-F5344CB8AC3E}">
        <p14:creationId xmlns:p14="http://schemas.microsoft.com/office/powerpoint/2010/main" val="1530667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7B176-C540-4DE5-EF00-7EA518DD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gene that has not been annotated in </a:t>
            </a:r>
            <a:r>
              <a:rPr lang="en-US" dirty="0" err="1"/>
              <a:t>Reactome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9B0B7-FBE9-7F52-E1FB-A61449B04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Should we expand an existing </a:t>
            </a:r>
            <a:r>
              <a:rPr lang="en-US" dirty="0" err="1"/>
              <a:t>Reactome</a:t>
            </a:r>
            <a:r>
              <a:rPr lang="en-US" dirty="0"/>
              <a:t> pathway(s) or reaction(s) to accommodate this gene (</a:t>
            </a:r>
            <a:r>
              <a:rPr lang="en-US" b="1" dirty="0"/>
              <a:t>Use_Case_1</a:t>
            </a:r>
            <a:r>
              <a:rPr lang="en-US" dirty="0"/>
              <a:t>)?</a:t>
            </a:r>
          </a:p>
          <a:p>
            <a:pPr lvl="1"/>
            <a:r>
              <a:rPr lang="en-US" dirty="0"/>
              <a:t>Find the best pathway(s) or reaction(s) for this gene?</a:t>
            </a:r>
          </a:p>
          <a:p>
            <a:pPr lvl="1"/>
            <a:r>
              <a:rPr lang="en-US" dirty="0"/>
              <a:t>Find the most relevant papers about this gene and the pathway or reaction</a:t>
            </a:r>
          </a:p>
          <a:p>
            <a:pPr lvl="1"/>
            <a:r>
              <a:rPr lang="en-US" dirty="0"/>
              <a:t>Write text summary for a new reaction</a:t>
            </a:r>
          </a:p>
          <a:p>
            <a:pPr lvl="1"/>
            <a:r>
              <a:rPr lang="en-US" dirty="0"/>
              <a:t>Structure the text summary in a format as similar as possible to </a:t>
            </a:r>
            <a:r>
              <a:rPr lang="en-US" dirty="0" err="1"/>
              <a:t>Reactome’s</a:t>
            </a:r>
            <a:r>
              <a:rPr lang="en-US" dirty="0"/>
              <a:t> format: {input} -&gt; {output}, catalyzed by {}, inhibited by {}, and activated by {}</a:t>
            </a:r>
          </a:p>
          <a:p>
            <a:r>
              <a:rPr lang="en-US" dirty="0"/>
              <a:t>If not, we need to create a new pathway. What pathway should we create?</a:t>
            </a:r>
          </a:p>
        </p:txBody>
      </p:sp>
    </p:spTree>
    <p:extLst>
      <p:ext uri="{BB962C8B-B14F-4D97-AF65-F5344CB8AC3E}">
        <p14:creationId xmlns:p14="http://schemas.microsoft.com/office/powerpoint/2010/main" val="3890266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7B176-C540-4DE5-EF00-7EA518DD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gene that has not been annotated in </a:t>
            </a:r>
            <a:r>
              <a:rPr lang="en-US" dirty="0" err="1"/>
              <a:t>Reactome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9B0B7-FBE9-7F52-E1FB-A61449B04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not, we need to create a new pathway. What pathway should we create (</a:t>
            </a:r>
            <a:r>
              <a:rPr lang="en-US" b="1" dirty="0"/>
              <a:t>Use_Case_2</a:t>
            </a:r>
            <a:r>
              <a:rPr lang="en-US" dirty="0"/>
              <a:t>)?</a:t>
            </a:r>
          </a:p>
          <a:p>
            <a:pPr lvl="1"/>
            <a:r>
              <a:rPr lang="en-US" dirty="0"/>
              <a:t>Find the most </a:t>
            </a:r>
            <a:r>
              <a:rPr lang="en-US" b="1" u="sng" dirty="0">
                <a:highlight>
                  <a:srgbClr val="00FF00"/>
                </a:highlight>
              </a:rPr>
              <a:t>pathway-</a:t>
            </a:r>
            <a:r>
              <a:rPr lang="en-US" dirty="0"/>
              <a:t>relevant papers about this gene</a:t>
            </a:r>
          </a:p>
          <a:p>
            <a:pPr lvl="2"/>
            <a:r>
              <a:rPr lang="en-US" dirty="0"/>
              <a:t>Semantic similarity analysis between the papers and </a:t>
            </a:r>
            <a:r>
              <a:rPr lang="en-US" dirty="0" err="1"/>
              <a:t>Reactome</a:t>
            </a:r>
            <a:r>
              <a:rPr lang="en-US" dirty="0"/>
              <a:t> summary text</a:t>
            </a:r>
          </a:p>
          <a:p>
            <a:pPr lvl="2"/>
            <a:r>
              <a:rPr lang="en-US" dirty="0"/>
              <a:t>May enhance the </a:t>
            </a:r>
            <a:r>
              <a:rPr lang="en-US" dirty="0" err="1"/>
              <a:t>Reactome</a:t>
            </a:r>
            <a:r>
              <a:rPr lang="en-US" dirty="0"/>
              <a:t> knowledge graph by including all publicly papers (abstracts only)</a:t>
            </a:r>
          </a:p>
          <a:p>
            <a:pPr lvl="1"/>
            <a:r>
              <a:rPr lang="en-US" dirty="0"/>
              <a:t>Write text summary about the selected papers</a:t>
            </a:r>
          </a:p>
          <a:p>
            <a:pPr lvl="2"/>
            <a:r>
              <a:rPr lang="en-US" dirty="0"/>
              <a:t>Prompt to list as many genes or proteins as possible</a:t>
            </a:r>
          </a:p>
          <a:p>
            <a:pPr lvl="2"/>
            <a:r>
              <a:rPr lang="en-US" dirty="0"/>
              <a:t>Come with a title of the pathway</a:t>
            </a:r>
          </a:p>
          <a:p>
            <a:pPr lvl="2"/>
            <a:r>
              <a:rPr lang="en-US" dirty="0"/>
              <a:t>Citations</a:t>
            </a:r>
          </a:p>
          <a:p>
            <a:pPr lvl="1"/>
            <a:r>
              <a:rPr lang="en-US" dirty="0"/>
              <a:t>Is there any way to break down the pathway into multiple small parts???</a:t>
            </a:r>
          </a:p>
          <a:p>
            <a:pPr lvl="2"/>
            <a:r>
              <a:rPr lang="en-US" dirty="0"/>
              <a:t>Need more research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510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21D69-16B7-AB15-3FC4-C5DA4175B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Annotate a new pathway (</a:t>
            </a:r>
            <a:r>
              <a:rPr lang="en-US" b="1" dirty="0"/>
              <a:t>Use_Case_3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7B2F0-FA16-7626-90C6-9491FA1DF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Variant of </a:t>
            </a:r>
            <a:r>
              <a:rPr lang="en-US" b="1" dirty="0"/>
              <a:t>Use_Case_2 </a:t>
            </a:r>
            <a:r>
              <a:rPr lang="en-US" dirty="0"/>
              <a:t>but no gene specified</a:t>
            </a:r>
          </a:p>
        </p:txBody>
      </p:sp>
    </p:spTree>
    <p:extLst>
      <p:ext uri="{BB962C8B-B14F-4D97-AF65-F5344CB8AC3E}">
        <p14:creationId xmlns:p14="http://schemas.microsoft.com/office/powerpoint/2010/main" val="1013580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B51EC-DD84-DD2A-05D8-10F2FEFD9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Annotate crosstalk between pathways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B727F-6FCC-003C-96F5-9011CDCAF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Variant of Use_Case_1:</a:t>
            </a:r>
          </a:p>
          <a:p>
            <a:pPr lvl="1"/>
            <a:r>
              <a:rPr lang="en-US" dirty="0"/>
              <a:t>Pull the most pathway-relevant papers covering two </a:t>
            </a:r>
            <a:r>
              <a:rPr lang="en-US" dirty="0" err="1"/>
              <a:t>Reactome</a:t>
            </a:r>
            <a:r>
              <a:rPr lang="en-US" dirty="0"/>
              <a:t> pathways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Write text summary for a new reaction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Structure the text summary in a format as similar as possible to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Reactome’s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format: {input} -&gt; {output}, catalyzed by {}, inhibited by {}, and activated by {}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504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E7158-6F05-F37A-6235-7CE57A837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Retrieval Augmented Generation (RAG)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A52F747-8932-C941-73A5-2BCFC4662EC9}"/>
              </a:ext>
            </a:extLst>
          </p:cNvPr>
          <p:cNvGrpSpPr/>
          <p:nvPr/>
        </p:nvGrpSpPr>
        <p:grpSpPr>
          <a:xfrm>
            <a:off x="338362" y="2231460"/>
            <a:ext cx="4679450" cy="2988834"/>
            <a:chOff x="293912" y="1774600"/>
            <a:chExt cx="3829557" cy="2487863"/>
          </a:xfrm>
        </p:grpSpPr>
        <p:pic>
          <p:nvPicPr>
            <p:cNvPr id="1026" name="Picture 2" descr="retrieval_diagram">
              <a:extLst>
                <a:ext uri="{FF2B5EF4-FFF2-40B4-BE49-F238E27FC236}">
                  <a16:creationId xmlns:a16="http://schemas.microsoft.com/office/drawing/2014/main" id="{9AF90719-6AF0-0667-4450-5E225F2E45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912" y="1774600"/>
              <a:ext cx="3829557" cy="1964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AF7DB30-8869-CDE9-0A5E-D558E8FFF68C}"/>
                </a:ext>
              </a:extLst>
            </p:cNvPr>
            <p:cNvSpPr txBox="1"/>
            <p:nvPr/>
          </p:nvSpPr>
          <p:spPr>
            <a:xfrm>
              <a:off x="293912" y="3739243"/>
              <a:ext cx="382955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hlinkClick r:id="rId3"/>
                </a:rPr>
                <a:t>https://python.langchain.com/docs/use_cases/question_answering/</a:t>
              </a:r>
              <a:r>
                <a:rPr lang="en-US" sz="1400" dirty="0"/>
                <a:t> 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C12CE48-D554-7417-55ED-8CD237DEDCE9}"/>
              </a:ext>
            </a:extLst>
          </p:cNvPr>
          <p:cNvGrpSpPr/>
          <p:nvPr/>
        </p:nvGrpSpPr>
        <p:grpSpPr>
          <a:xfrm>
            <a:off x="6392636" y="1747157"/>
            <a:ext cx="4196443" cy="4021583"/>
            <a:chOff x="6392636" y="1747157"/>
            <a:chExt cx="4196443" cy="4021583"/>
          </a:xfrm>
        </p:grpSpPr>
        <p:sp>
          <p:nvSpPr>
            <p:cNvPr id="4" name="Can 3">
              <a:extLst>
                <a:ext uri="{FF2B5EF4-FFF2-40B4-BE49-F238E27FC236}">
                  <a16:creationId xmlns:a16="http://schemas.microsoft.com/office/drawing/2014/main" id="{E1078A73-88F2-841F-7BDB-51AA70A302AA}"/>
                </a:ext>
              </a:extLst>
            </p:cNvPr>
            <p:cNvSpPr/>
            <p:nvPr/>
          </p:nvSpPr>
          <p:spPr>
            <a:xfrm>
              <a:off x="9072745" y="2030254"/>
              <a:ext cx="1353052" cy="459809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VectorDB_1</a:t>
              </a:r>
            </a:p>
          </p:txBody>
        </p:sp>
        <p:sp>
          <p:nvSpPr>
            <p:cNvPr id="9" name="Can 8">
              <a:extLst>
                <a:ext uri="{FF2B5EF4-FFF2-40B4-BE49-F238E27FC236}">
                  <a16:creationId xmlns:a16="http://schemas.microsoft.com/office/drawing/2014/main" id="{C8D1A8B5-CC4D-8BFD-8ADD-2DA670EF1097}"/>
                </a:ext>
              </a:extLst>
            </p:cNvPr>
            <p:cNvSpPr/>
            <p:nvPr/>
          </p:nvSpPr>
          <p:spPr>
            <a:xfrm>
              <a:off x="9072745" y="3316001"/>
              <a:ext cx="1353052" cy="459809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VectorDB_2</a:t>
              </a:r>
            </a:p>
          </p:txBody>
        </p:sp>
        <p:sp>
          <p:nvSpPr>
            <p:cNvPr id="10" name="Can 9">
              <a:extLst>
                <a:ext uri="{FF2B5EF4-FFF2-40B4-BE49-F238E27FC236}">
                  <a16:creationId xmlns:a16="http://schemas.microsoft.com/office/drawing/2014/main" id="{84370F8D-B828-F950-0435-868856BCE4E2}"/>
                </a:ext>
              </a:extLst>
            </p:cNvPr>
            <p:cNvSpPr/>
            <p:nvPr/>
          </p:nvSpPr>
          <p:spPr>
            <a:xfrm>
              <a:off x="9072745" y="4535199"/>
              <a:ext cx="1353052" cy="685095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/>
                <a:t>Reactome</a:t>
              </a:r>
              <a:r>
                <a:rPr lang="en-US" sz="1400" dirty="0"/>
                <a:t> Neo4j</a:t>
              </a:r>
            </a:p>
          </p:txBody>
        </p:sp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FA803F72-A2F2-5F7F-2C06-53AB8E4F2374}"/>
                </a:ext>
              </a:extLst>
            </p:cNvPr>
            <p:cNvCxnSpPr>
              <a:stCxn id="10" idx="2"/>
              <a:endCxn id="9" idx="2"/>
            </p:cNvCxnSpPr>
            <p:nvPr/>
          </p:nvCxnSpPr>
          <p:spPr>
            <a:xfrm rot="10800000">
              <a:off x="9072745" y="3545907"/>
              <a:ext cx="12700" cy="1331841"/>
            </a:xfrm>
            <a:prstGeom prst="bent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B6F4FB3-8132-7FA1-3739-0BC2D34AB97D}"/>
                </a:ext>
              </a:extLst>
            </p:cNvPr>
            <p:cNvSpPr txBox="1"/>
            <p:nvPr/>
          </p:nvSpPr>
          <p:spPr>
            <a:xfrm>
              <a:off x="8845963" y="4017945"/>
              <a:ext cx="12173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Summary Text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E74E6-DB05-193D-C569-3EB78ACA6AA8}"/>
                </a:ext>
              </a:extLst>
            </p:cNvPr>
            <p:cNvSpPr/>
            <p:nvPr/>
          </p:nvSpPr>
          <p:spPr>
            <a:xfrm>
              <a:off x="6530926" y="1992212"/>
              <a:ext cx="1804308" cy="5358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PubMed Abstracts (All)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EAA824C-7A88-B09F-85B5-63EABCD433CB}"/>
                </a:ext>
              </a:extLst>
            </p:cNvPr>
            <p:cNvSpPr/>
            <p:nvPr/>
          </p:nvSpPr>
          <p:spPr>
            <a:xfrm>
              <a:off x="6530926" y="2766904"/>
              <a:ext cx="1804308" cy="66209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PMC Full Text (To be fetched, updated on-the-fly)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1263CC7-4D7C-66E0-FA18-5D2929435DE5}"/>
                </a:ext>
              </a:extLst>
            </p:cNvPr>
            <p:cNvCxnSpPr>
              <a:stCxn id="15" idx="3"/>
              <a:endCxn id="4" idx="2"/>
            </p:cNvCxnSpPr>
            <p:nvPr/>
          </p:nvCxnSpPr>
          <p:spPr>
            <a:xfrm>
              <a:off x="8335234" y="2260159"/>
              <a:ext cx="7375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46703F6-6BDB-4A0B-05E0-F7615A4D43DE}"/>
                </a:ext>
              </a:extLst>
            </p:cNvPr>
            <p:cNvSpPr/>
            <p:nvPr/>
          </p:nvSpPr>
          <p:spPr>
            <a:xfrm>
              <a:off x="6392636" y="1747157"/>
              <a:ext cx="4196443" cy="36086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F74E3C06-ED2F-E327-05A3-8EB61416DE8F}"/>
                </a:ext>
              </a:extLst>
            </p:cNvPr>
            <p:cNvCxnSpPr>
              <a:cxnSpLocks/>
              <a:stCxn id="16" idx="3"/>
              <a:endCxn id="4" idx="3"/>
            </p:cNvCxnSpPr>
            <p:nvPr/>
          </p:nvCxnSpPr>
          <p:spPr>
            <a:xfrm flipV="1">
              <a:off x="8335234" y="2490063"/>
              <a:ext cx="1414037" cy="60788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3D8F89C-A493-E266-ABA7-3F1393F48326}"/>
                </a:ext>
              </a:extLst>
            </p:cNvPr>
            <p:cNvSpPr txBox="1"/>
            <p:nvPr/>
          </p:nvSpPr>
          <p:spPr>
            <a:xfrm>
              <a:off x="7670404" y="5399408"/>
              <a:ext cx="20671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Sources for retrieval</a:t>
              </a:r>
            </a:p>
          </p:txBody>
        </p:sp>
      </p:grp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CEAD862C-C213-C30C-F560-C3411495F695}"/>
              </a:ext>
            </a:extLst>
          </p:cNvPr>
          <p:cNvCxnSpPr>
            <a:endCxn id="22" idx="2"/>
          </p:cNvCxnSpPr>
          <p:nvPr/>
        </p:nvCxnSpPr>
        <p:spPr>
          <a:xfrm>
            <a:off x="2042160" y="3921760"/>
            <a:ext cx="6661829" cy="1846980"/>
          </a:xfrm>
          <a:prstGeom prst="bentConnector4">
            <a:avLst>
              <a:gd name="adj1" fmla="val -3"/>
              <a:gd name="adj2" fmla="val 1123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7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E7158-6F05-F37A-6235-7CE57A837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75857"/>
          </a:xfrm>
        </p:spPr>
        <p:txBody>
          <a:bodyPr/>
          <a:lstStyle/>
          <a:p>
            <a:r>
              <a:rPr lang="en-US" dirty="0"/>
              <a:t>Retrieval Augmented Generation (RAG)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C12CE48-D554-7417-55ED-8CD237DEDCE9}"/>
              </a:ext>
            </a:extLst>
          </p:cNvPr>
          <p:cNvGrpSpPr/>
          <p:nvPr/>
        </p:nvGrpSpPr>
        <p:grpSpPr>
          <a:xfrm>
            <a:off x="2792600" y="1467800"/>
            <a:ext cx="4196443" cy="4021583"/>
            <a:chOff x="6392636" y="1747157"/>
            <a:chExt cx="4196443" cy="4021583"/>
          </a:xfrm>
        </p:grpSpPr>
        <p:sp>
          <p:nvSpPr>
            <p:cNvPr id="4" name="Can 3">
              <a:extLst>
                <a:ext uri="{FF2B5EF4-FFF2-40B4-BE49-F238E27FC236}">
                  <a16:creationId xmlns:a16="http://schemas.microsoft.com/office/drawing/2014/main" id="{E1078A73-88F2-841F-7BDB-51AA70A302AA}"/>
                </a:ext>
              </a:extLst>
            </p:cNvPr>
            <p:cNvSpPr/>
            <p:nvPr/>
          </p:nvSpPr>
          <p:spPr>
            <a:xfrm>
              <a:off x="9072745" y="2030254"/>
              <a:ext cx="1353052" cy="459809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VectorDB_1</a:t>
              </a:r>
            </a:p>
          </p:txBody>
        </p:sp>
        <p:sp>
          <p:nvSpPr>
            <p:cNvPr id="9" name="Can 8">
              <a:extLst>
                <a:ext uri="{FF2B5EF4-FFF2-40B4-BE49-F238E27FC236}">
                  <a16:creationId xmlns:a16="http://schemas.microsoft.com/office/drawing/2014/main" id="{C8D1A8B5-CC4D-8BFD-8ADD-2DA670EF1097}"/>
                </a:ext>
              </a:extLst>
            </p:cNvPr>
            <p:cNvSpPr/>
            <p:nvPr/>
          </p:nvSpPr>
          <p:spPr>
            <a:xfrm>
              <a:off x="9072745" y="3316001"/>
              <a:ext cx="1353052" cy="459809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VectorDB_2</a:t>
              </a:r>
            </a:p>
          </p:txBody>
        </p:sp>
        <p:sp>
          <p:nvSpPr>
            <p:cNvPr id="10" name="Can 9">
              <a:extLst>
                <a:ext uri="{FF2B5EF4-FFF2-40B4-BE49-F238E27FC236}">
                  <a16:creationId xmlns:a16="http://schemas.microsoft.com/office/drawing/2014/main" id="{84370F8D-B828-F950-0435-868856BCE4E2}"/>
                </a:ext>
              </a:extLst>
            </p:cNvPr>
            <p:cNvSpPr/>
            <p:nvPr/>
          </p:nvSpPr>
          <p:spPr>
            <a:xfrm>
              <a:off x="9072745" y="4535199"/>
              <a:ext cx="1353052" cy="685095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/>
                <a:t>Reactome</a:t>
              </a:r>
              <a:r>
                <a:rPr lang="en-US" sz="1400" dirty="0"/>
                <a:t> Neo4j</a:t>
              </a:r>
            </a:p>
          </p:txBody>
        </p:sp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FA803F72-A2F2-5F7F-2C06-53AB8E4F2374}"/>
                </a:ext>
              </a:extLst>
            </p:cNvPr>
            <p:cNvCxnSpPr>
              <a:stCxn id="10" idx="2"/>
              <a:endCxn id="9" idx="2"/>
            </p:cNvCxnSpPr>
            <p:nvPr/>
          </p:nvCxnSpPr>
          <p:spPr>
            <a:xfrm rot="10800000">
              <a:off x="9072745" y="3545907"/>
              <a:ext cx="12700" cy="1331841"/>
            </a:xfrm>
            <a:prstGeom prst="bent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B6F4FB3-8132-7FA1-3739-0BC2D34AB97D}"/>
                </a:ext>
              </a:extLst>
            </p:cNvPr>
            <p:cNvSpPr txBox="1"/>
            <p:nvPr/>
          </p:nvSpPr>
          <p:spPr>
            <a:xfrm>
              <a:off x="8845963" y="4017945"/>
              <a:ext cx="12173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Summary Text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E74E6-DB05-193D-C569-3EB78ACA6AA8}"/>
                </a:ext>
              </a:extLst>
            </p:cNvPr>
            <p:cNvSpPr/>
            <p:nvPr/>
          </p:nvSpPr>
          <p:spPr>
            <a:xfrm>
              <a:off x="6530926" y="1992212"/>
              <a:ext cx="1804308" cy="5358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PubMed Abstracts (All)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EAA824C-7A88-B09F-85B5-63EABCD433CB}"/>
                </a:ext>
              </a:extLst>
            </p:cNvPr>
            <p:cNvSpPr/>
            <p:nvPr/>
          </p:nvSpPr>
          <p:spPr>
            <a:xfrm>
              <a:off x="6530926" y="2766904"/>
              <a:ext cx="1804308" cy="66209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PMC Full Text (To be fetched, updated on-the-fly)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1263CC7-4D7C-66E0-FA18-5D2929435DE5}"/>
                </a:ext>
              </a:extLst>
            </p:cNvPr>
            <p:cNvCxnSpPr>
              <a:stCxn id="15" idx="3"/>
              <a:endCxn id="4" idx="2"/>
            </p:cNvCxnSpPr>
            <p:nvPr/>
          </p:nvCxnSpPr>
          <p:spPr>
            <a:xfrm>
              <a:off x="8335234" y="2260159"/>
              <a:ext cx="7375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46703F6-6BDB-4A0B-05E0-F7615A4D43DE}"/>
                </a:ext>
              </a:extLst>
            </p:cNvPr>
            <p:cNvSpPr/>
            <p:nvPr/>
          </p:nvSpPr>
          <p:spPr>
            <a:xfrm>
              <a:off x="6392636" y="1747157"/>
              <a:ext cx="4196443" cy="36086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F74E3C06-ED2F-E327-05A3-8EB61416DE8F}"/>
                </a:ext>
              </a:extLst>
            </p:cNvPr>
            <p:cNvCxnSpPr>
              <a:cxnSpLocks/>
              <a:stCxn id="16" idx="3"/>
              <a:endCxn id="4" idx="3"/>
            </p:cNvCxnSpPr>
            <p:nvPr/>
          </p:nvCxnSpPr>
          <p:spPr>
            <a:xfrm flipV="1">
              <a:off x="8335234" y="2490063"/>
              <a:ext cx="1414037" cy="60788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3D8F89C-A493-E266-ABA7-3F1393F48326}"/>
                </a:ext>
              </a:extLst>
            </p:cNvPr>
            <p:cNvSpPr txBox="1"/>
            <p:nvPr/>
          </p:nvSpPr>
          <p:spPr>
            <a:xfrm>
              <a:off x="7670404" y="5399408"/>
              <a:ext cx="20671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Sources for retrieval</a:t>
              </a:r>
            </a:p>
          </p:txBody>
        </p:sp>
      </p:grp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CAF00C7-06EB-4601-4248-69AD55DCE2FE}"/>
              </a:ext>
            </a:extLst>
          </p:cNvPr>
          <p:cNvSpPr/>
          <p:nvPr/>
        </p:nvSpPr>
        <p:spPr>
          <a:xfrm>
            <a:off x="479594" y="3010762"/>
            <a:ext cx="1290320" cy="5226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Question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DCB23E1-24B4-5303-B3C5-924A60445263}"/>
              </a:ext>
            </a:extLst>
          </p:cNvPr>
          <p:cNvSpPr/>
          <p:nvPr/>
        </p:nvSpPr>
        <p:spPr>
          <a:xfrm>
            <a:off x="7869472" y="2999070"/>
            <a:ext cx="1290320" cy="5226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CBFB955-A571-A845-A352-C459F3EEBA70}"/>
              </a:ext>
            </a:extLst>
          </p:cNvPr>
          <p:cNvSpPr/>
          <p:nvPr/>
        </p:nvSpPr>
        <p:spPr>
          <a:xfrm>
            <a:off x="10185400" y="3004632"/>
            <a:ext cx="1290320" cy="5226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594A035-CC7C-90F1-4704-24B958016353}"/>
              </a:ext>
            </a:extLst>
          </p:cNvPr>
          <p:cNvSpPr/>
          <p:nvPr/>
        </p:nvSpPr>
        <p:spPr>
          <a:xfrm>
            <a:off x="10185400" y="4148993"/>
            <a:ext cx="1290320" cy="5226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Answer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A464B3E-0C03-B108-4C2A-AF5C46037ABE}"/>
              </a:ext>
            </a:extLst>
          </p:cNvPr>
          <p:cNvSpPr/>
          <p:nvPr/>
        </p:nvSpPr>
        <p:spPr>
          <a:xfrm>
            <a:off x="7869472" y="4146233"/>
            <a:ext cx="1290320" cy="5226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Extraction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D6BA0B0-65A5-79CD-AA95-EF2A2B014B95}"/>
              </a:ext>
            </a:extLst>
          </p:cNvPr>
          <p:cNvSpPr/>
          <p:nvPr/>
        </p:nvSpPr>
        <p:spPr>
          <a:xfrm>
            <a:off x="8997232" y="5325073"/>
            <a:ext cx="1290320" cy="5226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Persist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88B9ADE-6A53-04A6-9C5D-3C1E1E3B98EF}"/>
              </a:ext>
            </a:extLst>
          </p:cNvPr>
          <p:cNvCxnSpPr>
            <a:stCxn id="5" idx="3"/>
            <a:endCxn id="19" idx="1"/>
          </p:cNvCxnSpPr>
          <p:nvPr/>
        </p:nvCxnSpPr>
        <p:spPr>
          <a:xfrm>
            <a:off x="1769914" y="3272107"/>
            <a:ext cx="10226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135C1192-5D22-C7A7-DEDB-1D867DB83E43}"/>
              </a:ext>
            </a:extLst>
          </p:cNvPr>
          <p:cNvCxnSpPr>
            <a:stCxn id="4" idx="4"/>
            <a:endCxn id="8" idx="1"/>
          </p:cNvCxnSpPr>
          <p:nvPr/>
        </p:nvCxnSpPr>
        <p:spPr>
          <a:xfrm>
            <a:off x="6825761" y="1980802"/>
            <a:ext cx="1043711" cy="12796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40B9A28-9F0E-2D52-6862-B0BE16C9A84B}"/>
              </a:ext>
            </a:extLst>
          </p:cNvPr>
          <p:cNvCxnSpPr>
            <a:stCxn id="9" idx="4"/>
            <a:endCxn id="8" idx="1"/>
          </p:cNvCxnSpPr>
          <p:nvPr/>
        </p:nvCxnSpPr>
        <p:spPr>
          <a:xfrm flipV="1">
            <a:off x="6825761" y="3260415"/>
            <a:ext cx="1043711" cy="61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85479ED4-3E14-72EB-4F45-C200900445B5}"/>
              </a:ext>
            </a:extLst>
          </p:cNvPr>
          <p:cNvCxnSpPr>
            <a:stCxn id="10" idx="4"/>
            <a:endCxn id="8" idx="1"/>
          </p:cNvCxnSpPr>
          <p:nvPr/>
        </p:nvCxnSpPr>
        <p:spPr>
          <a:xfrm flipV="1">
            <a:off x="6825761" y="3260415"/>
            <a:ext cx="1043711" cy="13379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5EFE0567-6BE1-A229-F7CA-CC0A94A8C9B7}"/>
              </a:ext>
            </a:extLst>
          </p:cNvPr>
          <p:cNvCxnSpPr>
            <a:stCxn id="5" idx="0"/>
            <a:endCxn id="8" idx="0"/>
          </p:cNvCxnSpPr>
          <p:nvPr/>
        </p:nvCxnSpPr>
        <p:spPr>
          <a:xfrm rot="5400000" flipH="1" flipV="1">
            <a:off x="4813847" y="-690023"/>
            <a:ext cx="11692" cy="7389878"/>
          </a:xfrm>
          <a:prstGeom prst="bentConnector3">
            <a:avLst>
              <a:gd name="adj1" fmla="val 1578491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7FC7181-1B58-9765-A2BC-CED2C73F8FFD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9159792" y="3260415"/>
            <a:ext cx="1025608" cy="5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FDB5ECBA-7AFC-FB57-F830-1DC738360076}"/>
              </a:ext>
            </a:extLst>
          </p:cNvPr>
          <p:cNvCxnSpPr>
            <a:stCxn id="11" idx="3"/>
            <a:endCxn id="13" idx="3"/>
          </p:cNvCxnSpPr>
          <p:nvPr/>
        </p:nvCxnSpPr>
        <p:spPr>
          <a:xfrm>
            <a:off x="11475720" y="3265977"/>
            <a:ext cx="12700" cy="114436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12C9E5BA-2A4A-16C0-DD41-3F8A17216D71}"/>
              </a:ext>
            </a:extLst>
          </p:cNvPr>
          <p:cNvCxnSpPr>
            <a:stCxn id="13" idx="2"/>
            <a:endCxn id="20" idx="0"/>
          </p:cNvCxnSpPr>
          <p:nvPr/>
        </p:nvCxnSpPr>
        <p:spPr>
          <a:xfrm rot="5400000">
            <a:off x="9909781" y="4404294"/>
            <a:ext cx="653390" cy="11881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1670818-3063-B70E-20EE-CAAE6A0CB455}"/>
              </a:ext>
            </a:extLst>
          </p:cNvPr>
          <p:cNvCxnSpPr>
            <a:stCxn id="13" idx="1"/>
            <a:endCxn id="17" idx="3"/>
          </p:cNvCxnSpPr>
          <p:nvPr/>
        </p:nvCxnSpPr>
        <p:spPr>
          <a:xfrm flipH="1" flipV="1">
            <a:off x="9159792" y="4407578"/>
            <a:ext cx="1025608" cy="2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1A49883E-279A-8F42-1E7C-92FA9653B340}"/>
              </a:ext>
            </a:extLst>
          </p:cNvPr>
          <p:cNvCxnSpPr>
            <a:stCxn id="17" idx="2"/>
            <a:endCxn id="20" idx="1"/>
          </p:cNvCxnSpPr>
          <p:nvPr/>
        </p:nvCxnSpPr>
        <p:spPr>
          <a:xfrm rot="16200000" flipH="1">
            <a:off x="8297185" y="4886370"/>
            <a:ext cx="917495" cy="4826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B36E4CD-2715-5C79-51EF-E502A311A780}"/>
              </a:ext>
            </a:extLst>
          </p:cNvPr>
          <p:cNvSpPr txBox="1"/>
          <p:nvPr/>
        </p:nvSpPr>
        <p:spPr>
          <a:xfrm>
            <a:off x="7347616" y="248754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EDA91B-547A-F0BF-9D74-9BF49C8942F3}"/>
              </a:ext>
            </a:extLst>
          </p:cNvPr>
          <p:cNvSpPr txBox="1"/>
          <p:nvPr/>
        </p:nvSpPr>
        <p:spPr>
          <a:xfrm>
            <a:off x="6127006" y="2362738"/>
            <a:ext cx="276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464CBD-091B-0BF8-1816-44E4B2791835}"/>
              </a:ext>
            </a:extLst>
          </p:cNvPr>
          <p:cNvSpPr txBox="1"/>
          <p:nvPr/>
        </p:nvSpPr>
        <p:spPr>
          <a:xfrm>
            <a:off x="7337780" y="3787176"/>
            <a:ext cx="276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C8AC6D-0EE5-EAAB-1467-1A5BB38DF4C5}"/>
              </a:ext>
            </a:extLst>
          </p:cNvPr>
          <p:cNvSpPr txBox="1"/>
          <p:nvPr/>
        </p:nvSpPr>
        <p:spPr>
          <a:xfrm>
            <a:off x="8834396" y="1086746"/>
            <a:ext cx="280416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dirty="0"/>
              <a:t>Use pathway text to select abstracts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Use selected abstracts to pull out the full text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Optional: Provide the context for other related tokens (e.g. neighboring events, genes, </a:t>
            </a:r>
            <a:r>
              <a:rPr lang="en-US" sz="1400" dirty="0" err="1"/>
              <a:t>etc</a:t>
            </a:r>
            <a:r>
              <a:rPr lang="en-US" sz="140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4A9B7-2AE6-7174-686B-81F79BDD7A03}"/>
              </a:ext>
            </a:extLst>
          </p:cNvPr>
          <p:cNvSpPr txBox="1"/>
          <p:nvPr/>
        </p:nvSpPr>
        <p:spPr>
          <a:xfrm>
            <a:off x="358213" y="5468559"/>
            <a:ext cx="79037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To determine if a gene should be placed in the existing pathway (Use_Case_1):</a:t>
            </a:r>
          </a:p>
          <a:p>
            <a:r>
              <a:rPr lang="en-US" sz="1400" dirty="0"/>
              <a:t>1). Analyze the similarity distribution between </a:t>
            </a:r>
            <a:r>
              <a:rPr lang="en-US" sz="1400" dirty="0" err="1"/>
              <a:t>Reactome’s</a:t>
            </a:r>
            <a:r>
              <a:rPr lang="en-US" sz="1400" dirty="0"/>
              <a:t> text summary and abstracts and see if there is a pattern.</a:t>
            </a:r>
          </a:p>
          <a:p>
            <a:r>
              <a:rPr lang="en-US" sz="1400" dirty="0"/>
              <a:t>2). If there is a pattern, get the threshold (e.g. mean or medium). A gene having abstracts with any similarity larger than this threshold should be considered to be added into that pathway.</a:t>
            </a:r>
          </a:p>
          <a:p>
            <a:r>
              <a:rPr lang="en-US" sz="1400" dirty="0"/>
              <a:t>3). If not, compare the summary of the gene and </a:t>
            </a:r>
            <a:r>
              <a:rPr lang="en-US" sz="1400" dirty="0" err="1"/>
              <a:t>Reactome’s</a:t>
            </a:r>
            <a:r>
              <a:rPr lang="en-US" sz="1400" dirty="0"/>
              <a:t> pathway text. Ask LLM or manually check. </a:t>
            </a:r>
          </a:p>
        </p:txBody>
      </p:sp>
    </p:spTree>
    <p:extLst>
      <p:ext uri="{BB962C8B-B14F-4D97-AF65-F5344CB8AC3E}">
        <p14:creationId xmlns:p14="http://schemas.microsoft.com/office/powerpoint/2010/main" val="2800054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AE78A-5CB3-B4A3-5EDF-85A2EB468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Use Cases in Curation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27D29-493F-BD87-695B-5A1803942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text to finish some common tasks in curation</a:t>
            </a:r>
          </a:p>
          <a:p>
            <a:pPr lvl="1"/>
            <a:r>
              <a:rPr lang="en-US" dirty="0"/>
              <a:t>E.g. Create a Reaction having ATP in cytosol as one input. This Reaction’s compartment is cytosol, and the reaction’s species is human.</a:t>
            </a:r>
          </a:p>
          <a:p>
            <a:pPr lvl="2"/>
            <a:r>
              <a:rPr lang="en-US" dirty="0"/>
              <a:t>Need to make LLM to understand </a:t>
            </a:r>
            <a:r>
              <a:rPr lang="en-US" dirty="0" err="1"/>
              <a:t>Reactome’s</a:t>
            </a:r>
            <a:r>
              <a:rPr lang="en-US" dirty="0"/>
              <a:t> data model, which may be easy.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0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25A39-CD78-E4E7-C6B3-9C98E20AD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for the Production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27164-7F09-5BBF-57B3-DA717F845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Summarize the annotation for {gene} (e.g. EGFR) in </a:t>
            </a:r>
            <a:r>
              <a:rPr lang="en-US" dirty="0" err="1"/>
              <a:t>Reactome</a:t>
            </a:r>
            <a:endParaRPr lang="en-US" dirty="0"/>
          </a:p>
          <a:p>
            <a:pPr lvl="1"/>
            <a:r>
              <a:rPr lang="en-US" dirty="0"/>
              <a:t>Need links to individual pathways and/or reactions</a:t>
            </a:r>
          </a:p>
          <a:p>
            <a:r>
              <a:rPr lang="en-US" dirty="0"/>
              <a:t>Summarize the analysis result in a text paragraph </a:t>
            </a:r>
          </a:p>
          <a:p>
            <a:pPr lvl="1"/>
            <a:r>
              <a:rPr lang="en-US" dirty="0"/>
              <a:t>Based on significant pathways (FDR &lt; 0.01 or 0.05, can be set by users) for the analysis</a:t>
            </a:r>
          </a:p>
          <a:p>
            <a:r>
              <a:rPr lang="en-US" dirty="0"/>
              <a:t>If a gene is not annotated in </a:t>
            </a:r>
            <a:r>
              <a:rPr lang="en-US" dirty="0" err="1"/>
              <a:t>Reactome</a:t>
            </a:r>
            <a:r>
              <a:rPr lang="en-US" dirty="0"/>
              <a:t>, predict potential interacting pathways and write a summary about these pathways</a:t>
            </a:r>
          </a:p>
          <a:p>
            <a:pPr lvl="1"/>
            <a:r>
              <a:rPr lang="en-US" dirty="0"/>
              <a:t>Similar to the second use case here</a:t>
            </a:r>
          </a:p>
          <a:p>
            <a:pPr lvl="1"/>
            <a:r>
              <a:rPr lang="en-US" dirty="0"/>
              <a:t>Use IDG predicted interacting pathways</a:t>
            </a:r>
          </a:p>
        </p:txBody>
      </p:sp>
    </p:spTree>
    <p:extLst>
      <p:ext uri="{BB962C8B-B14F-4D97-AF65-F5344CB8AC3E}">
        <p14:creationId xmlns:p14="http://schemas.microsoft.com/office/powerpoint/2010/main" val="1540623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5601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06291A2-F2B7-3208-D0AC-CE49209A5EFA}"/>
              </a:ext>
            </a:extLst>
          </p:cNvPr>
          <p:cNvSpPr txBox="1"/>
          <p:nvPr/>
        </p:nvSpPr>
        <p:spPr>
          <a:xfrm>
            <a:off x="0" y="147782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Gene-based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FF9567-E716-5332-2E4F-C08771F51D4B}"/>
              </a:ext>
            </a:extLst>
          </p:cNvPr>
          <p:cNvSpPr txBox="1"/>
          <p:nvPr/>
        </p:nvSpPr>
        <p:spPr>
          <a:xfrm>
            <a:off x="166255" y="2463856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90E40E43-DCAF-0ED0-581A-559663885548}"/>
              </a:ext>
            </a:extLst>
          </p:cNvPr>
          <p:cNvSpPr/>
          <p:nvPr/>
        </p:nvSpPr>
        <p:spPr>
          <a:xfrm>
            <a:off x="1731816" y="1393570"/>
            <a:ext cx="2683166" cy="74848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Annotated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70D86C5-35F6-BAFF-4E61-91F548117798}"/>
              </a:ext>
            </a:extLst>
          </p:cNvPr>
          <p:cNvSpPr/>
          <p:nvPr/>
        </p:nvSpPr>
        <p:spPr>
          <a:xfrm>
            <a:off x="5514108" y="1486102"/>
            <a:ext cx="2124363" cy="5634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Annotated Pathway Summary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D18F370-D8AE-3259-DD79-608D57F08F28}"/>
              </a:ext>
            </a:extLst>
          </p:cNvPr>
          <p:cNvSpPr/>
          <p:nvPr/>
        </p:nvSpPr>
        <p:spPr>
          <a:xfrm>
            <a:off x="5514108" y="3214782"/>
            <a:ext cx="2124363" cy="5634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Interacting Pathway Summary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CA735CD-09C4-BA50-AA5E-420905E51A2B}"/>
              </a:ext>
            </a:extLst>
          </p:cNvPr>
          <p:cNvSpPr/>
          <p:nvPr/>
        </p:nvSpPr>
        <p:spPr>
          <a:xfrm>
            <a:off x="9393379" y="3214782"/>
            <a:ext cx="2124363" cy="5634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PubMed Literature Summary (Abstract)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4BFCF31-408A-1238-DEB1-1525E1215FF8}"/>
              </a:ext>
            </a:extLst>
          </p:cNvPr>
          <p:cNvSpPr/>
          <p:nvPr/>
        </p:nvSpPr>
        <p:spPr>
          <a:xfrm>
            <a:off x="9393379" y="1486102"/>
            <a:ext cx="2124363" cy="5634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PubMed Literature Summary (Full Text)</a:t>
            </a: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4EF320AB-E476-D8A1-F70B-A2FCC6C3351C}"/>
              </a:ext>
            </a:extLst>
          </p:cNvPr>
          <p:cNvSpPr/>
          <p:nvPr/>
        </p:nvSpPr>
        <p:spPr>
          <a:xfrm>
            <a:off x="1731816" y="3122908"/>
            <a:ext cx="2683166" cy="74848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Interacting Pathway</a:t>
            </a:r>
          </a:p>
        </p:txBody>
      </p: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329A9A0F-0D95-7151-DAC2-487A840A339E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849455" y="1767812"/>
            <a:ext cx="882361" cy="8807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8C47691-B911-17DB-A9B4-0E43D57D2A2A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4414982" y="1767811"/>
            <a:ext cx="10991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7649B170-473D-AC36-B63A-E6775C7562EC}"/>
              </a:ext>
            </a:extLst>
          </p:cNvPr>
          <p:cNvCxnSpPr>
            <a:stCxn id="7" idx="3"/>
            <a:endCxn id="13" idx="1"/>
          </p:cNvCxnSpPr>
          <p:nvPr/>
        </p:nvCxnSpPr>
        <p:spPr>
          <a:xfrm>
            <a:off x="849455" y="2648522"/>
            <a:ext cx="882361" cy="84862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A874F2F-C982-BF47-1778-E6FD7D130746}"/>
              </a:ext>
            </a:extLst>
          </p:cNvPr>
          <p:cNvCxnSpPr>
            <a:stCxn id="13" idx="3"/>
            <a:endCxn id="10" idx="1"/>
          </p:cNvCxnSpPr>
          <p:nvPr/>
        </p:nvCxnSpPr>
        <p:spPr>
          <a:xfrm flipV="1">
            <a:off x="4414982" y="3496491"/>
            <a:ext cx="1099126" cy="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DC2C4119-CB1B-3618-ACAF-0D9B0C6A0257}"/>
              </a:ext>
            </a:extLst>
          </p:cNvPr>
          <p:cNvCxnSpPr>
            <a:stCxn id="13" idx="2"/>
            <a:endCxn id="11" idx="2"/>
          </p:cNvCxnSpPr>
          <p:nvPr/>
        </p:nvCxnSpPr>
        <p:spPr>
          <a:xfrm rot="5400000" flipH="1" flipV="1">
            <a:off x="6717884" y="133715"/>
            <a:ext cx="93191" cy="7382162"/>
          </a:xfrm>
          <a:prstGeom prst="bentConnector3">
            <a:avLst>
              <a:gd name="adj1" fmla="val -5624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31C3EE3-93D2-A83F-F963-F623558A73DA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7638471" y="3496491"/>
            <a:ext cx="17549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D895A5E-8560-2420-170B-ABADEB4E9E00}"/>
              </a:ext>
            </a:extLst>
          </p:cNvPr>
          <p:cNvCxnSpPr>
            <a:stCxn id="11" idx="0"/>
            <a:endCxn id="12" idx="2"/>
          </p:cNvCxnSpPr>
          <p:nvPr/>
        </p:nvCxnSpPr>
        <p:spPr>
          <a:xfrm flipV="1">
            <a:off x="10455561" y="2049520"/>
            <a:ext cx="0" cy="1165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380D366-8E4B-EC1B-C6F5-1614F8E8C7C4}"/>
              </a:ext>
            </a:extLst>
          </p:cNvPr>
          <p:cNvSpPr txBox="1"/>
          <p:nvPr/>
        </p:nvSpPr>
        <p:spPr>
          <a:xfrm>
            <a:off x="669636" y="1920338"/>
            <a:ext cx="660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check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F314F0-0F9E-7667-7806-7265E3C8DB39}"/>
              </a:ext>
            </a:extLst>
          </p:cNvPr>
          <p:cNvSpPr txBox="1"/>
          <p:nvPr/>
        </p:nvSpPr>
        <p:spPr>
          <a:xfrm>
            <a:off x="669636" y="2920249"/>
            <a:ext cx="6681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query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22424F-9814-0E52-1C58-5A2D8002569A}"/>
              </a:ext>
            </a:extLst>
          </p:cNvPr>
          <p:cNvSpPr txBox="1"/>
          <p:nvPr/>
        </p:nvSpPr>
        <p:spPr>
          <a:xfrm>
            <a:off x="4636585" y="1438049"/>
            <a:ext cx="4578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yes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C0D009-7832-791B-7AB6-3E0DE5B82AB7}"/>
              </a:ext>
            </a:extLst>
          </p:cNvPr>
          <p:cNvSpPr txBox="1"/>
          <p:nvPr/>
        </p:nvSpPr>
        <p:spPr>
          <a:xfrm>
            <a:off x="4636585" y="3157937"/>
            <a:ext cx="4578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yes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F74912-6D6B-D9E7-1CEF-5914FAB735D6}"/>
              </a:ext>
            </a:extLst>
          </p:cNvPr>
          <p:cNvSpPr txBox="1"/>
          <p:nvPr/>
        </p:nvSpPr>
        <p:spPr>
          <a:xfrm>
            <a:off x="3073398" y="3936911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691158-6657-AAAE-DE98-8A4BD963C91E}"/>
              </a:ext>
            </a:extLst>
          </p:cNvPr>
          <p:cNvSpPr txBox="1"/>
          <p:nvPr/>
        </p:nvSpPr>
        <p:spPr>
          <a:xfrm>
            <a:off x="8181827" y="3161659"/>
            <a:ext cx="6681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query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3284B6-9961-6A60-C8B9-2C825194C200}"/>
              </a:ext>
            </a:extLst>
          </p:cNvPr>
          <p:cNvSpPr txBox="1"/>
          <p:nvPr/>
        </p:nvSpPr>
        <p:spPr>
          <a:xfrm>
            <a:off x="10375463" y="2437305"/>
            <a:ext cx="6681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query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085720-6897-20FD-95F2-1F6BDD0CD18C}"/>
              </a:ext>
            </a:extLst>
          </p:cNvPr>
          <p:cNvSpPr txBox="1"/>
          <p:nvPr/>
        </p:nvSpPr>
        <p:spPr>
          <a:xfrm>
            <a:off x="10455560" y="3886910"/>
            <a:ext cx="6681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query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1D1A6E1-E397-7C29-9B03-9370D929AABC}"/>
              </a:ext>
            </a:extLst>
          </p:cNvPr>
          <p:cNvSpPr/>
          <p:nvPr/>
        </p:nvSpPr>
        <p:spPr>
          <a:xfrm>
            <a:off x="7695230" y="1601612"/>
            <a:ext cx="365760" cy="36576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3FF2A7F-DCB4-7369-2B5F-7AFDBD3A2B98}"/>
              </a:ext>
            </a:extLst>
          </p:cNvPr>
          <p:cNvSpPr/>
          <p:nvPr/>
        </p:nvSpPr>
        <p:spPr>
          <a:xfrm>
            <a:off x="7678574" y="2989877"/>
            <a:ext cx="365760" cy="36576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7E4AF41-3502-6F50-45D9-CD6E985C8618}"/>
              </a:ext>
            </a:extLst>
          </p:cNvPr>
          <p:cNvSpPr/>
          <p:nvPr/>
        </p:nvSpPr>
        <p:spPr>
          <a:xfrm>
            <a:off x="11575983" y="3324301"/>
            <a:ext cx="365760" cy="36576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D71FDCD-5646-0DA3-2614-DDC6FCE1F013}"/>
              </a:ext>
            </a:extLst>
          </p:cNvPr>
          <p:cNvSpPr/>
          <p:nvPr/>
        </p:nvSpPr>
        <p:spPr>
          <a:xfrm>
            <a:off x="11562127" y="1612279"/>
            <a:ext cx="365760" cy="36576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A5BB8F-3130-A843-B11B-1C6577FAD081}"/>
              </a:ext>
            </a:extLst>
          </p:cNvPr>
          <p:cNvSpPr txBox="1"/>
          <p:nvPr/>
        </p:nvSpPr>
        <p:spPr>
          <a:xfrm>
            <a:off x="93887" y="5200734"/>
            <a:ext cx="120042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  <a:p>
            <a:r>
              <a:rPr lang="en-US" dirty="0"/>
              <a:t>1). Summary of a gene in Reactome</a:t>
            </a:r>
          </a:p>
          <a:p>
            <a:r>
              <a:rPr lang="en-US" dirty="0"/>
              <a:t>2). Summary of interacting pathways for a gene (annotated or not)</a:t>
            </a:r>
          </a:p>
          <a:p>
            <a:r>
              <a:rPr lang="en-US" dirty="0"/>
              <a:t>3). Summary of literature references for interacting pathways (expanding Reactome pathways or create new pathways)</a:t>
            </a:r>
          </a:p>
          <a:p>
            <a:r>
              <a:rPr lang="en-US" dirty="0"/>
              <a:t>4). Detailed mechanistic summary from full text papers</a:t>
            </a:r>
          </a:p>
        </p:txBody>
      </p:sp>
    </p:spTree>
    <p:extLst>
      <p:ext uri="{BB962C8B-B14F-4D97-AF65-F5344CB8AC3E}">
        <p14:creationId xmlns:p14="http://schemas.microsoft.com/office/powerpoint/2010/main" val="1853368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789</Words>
  <Application>Microsoft Macintosh PowerPoint</Application>
  <PresentationFormat>Widescreen</PresentationFormat>
  <Paragraphs>100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LLM Use Cases for Curation</vt:lpstr>
      <vt:lpstr>A gene that has not been annotated in Reactome</vt:lpstr>
      <vt:lpstr>A gene that has not been annotated in Reactome</vt:lpstr>
      <vt:lpstr>Annotate a new pathway (Use_Case_3)</vt:lpstr>
      <vt:lpstr>Annotate crosstalk between pathways</vt:lpstr>
      <vt:lpstr>Retrieval Augmented Generation (RAG)</vt:lpstr>
      <vt:lpstr>Retrieval Augmented Generation (RAG)</vt:lpstr>
      <vt:lpstr>Other Use Cases in Curation</vt:lpstr>
      <vt:lpstr>Use Cases for the Production Service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Guanming Wu</dc:creator>
  <cp:lastModifiedBy>Guanming Wu</cp:lastModifiedBy>
  <cp:revision>75</cp:revision>
  <dcterms:created xsi:type="dcterms:W3CDTF">2024-01-30T20:06:58Z</dcterms:created>
  <dcterms:modified xsi:type="dcterms:W3CDTF">2024-02-24T18:37:55Z</dcterms:modified>
</cp:coreProperties>
</file>