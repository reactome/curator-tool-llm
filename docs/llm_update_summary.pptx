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9" r:id="rId3"/>
    <p:sldId id="260" r:id="rId4"/>
    <p:sldId id="261" r:id="rId5"/>
    <p:sldId id="257" r:id="rId6"/>
    <p:sldId id="258" r:id="rId7"/>
    <p:sldId id="270" r:id="rId8"/>
    <p:sldId id="271" r:id="rId9"/>
    <p:sldId id="272" r:id="rId10"/>
    <p:sldId id="273" r:id="rId11"/>
    <p:sldId id="274" r:id="rId12"/>
    <p:sldId id="276"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88"/>
    <p:restoredTop sz="87155"/>
  </p:normalViewPr>
  <p:slideViewPr>
    <p:cSldViewPr snapToGrid="0">
      <p:cViewPr varScale="1">
        <p:scale>
          <a:sx n="144" d="100"/>
          <a:sy n="144" d="100"/>
        </p:scale>
        <p:origin x="224" y="5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B9886-975E-8444-9916-1A64C3F8C1BD}" type="datetimeFigureOut">
              <a:rPr lang="en-US" smtClean="0"/>
              <a:t>4/8/25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C2288A-B93D-C649-B51B-F5E60DC88EB9}" type="slidenum">
              <a:rPr lang="en-US" smtClean="0"/>
              <a:t>‹#›</a:t>
            </a:fld>
            <a:endParaRPr lang="en-US"/>
          </a:p>
        </p:txBody>
      </p:sp>
    </p:spTree>
    <p:extLst>
      <p:ext uri="{BB962C8B-B14F-4D97-AF65-F5344CB8AC3E}">
        <p14:creationId xmlns:p14="http://schemas.microsoft.com/office/powerpoint/2010/main" val="40109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C2288A-B93D-C649-B51B-F5E60DC88EB9}" type="slidenum">
              <a:rPr lang="en-US" smtClean="0"/>
              <a:t>1</a:t>
            </a:fld>
            <a:endParaRPr lang="en-US"/>
          </a:p>
        </p:txBody>
      </p:sp>
    </p:spTree>
    <p:extLst>
      <p:ext uri="{BB962C8B-B14F-4D97-AF65-F5344CB8AC3E}">
        <p14:creationId xmlns:p14="http://schemas.microsoft.com/office/powerpoint/2010/main" val="101304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C2288A-B93D-C649-B51B-F5E60DC88EB9}" type="slidenum">
              <a:rPr lang="en-US" smtClean="0"/>
              <a:t>2</a:t>
            </a:fld>
            <a:endParaRPr lang="en-US"/>
          </a:p>
        </p:txBody>
      </p:sp>
    </p:spTree>
    <p:extLst>
      <p:ext uri="{BB962C8B-B14F-4D97-AF65-F5344CB8AC3E}">
        <p14:creationId xmlns:p14="http://schemas.microsoft.com/office/powerpoint/2010/main" val="2695872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575E1-FEC0-3139-01EC-369554D6A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18ACD-B581-CF6E-BE27-A6D0ADCC3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5DD2C-B510-1082-7536-56931E044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0C06CE-F9B3-5CB4-FF26-BE5DDE221A34}"/>
              </a:ext>
            </a:extLst>
          </p:cNvPr>
          <p:cNvSpPr>
            <a:spLocks noGrp="1"/>
          </p:cNvSpPr>
          <p:nvPr>
            <p:ph type="sldNum" sz="quarter" idx="5"/>
          </p:nvPr>
        </p:nvSpPr>
        <p:spPr/>
        <p:txBody>
          <a:bodyPr/>
          <a:lstStyle/>
          <a:p>
            <a:fld id="{B1C2288A-B93D-C649-B51B-F5E60DC88EB9}" type="slidenum">
              <a:rPr lang="en-US" smtClean="0"/>
              <a:t>3</a:t>
            </a:fld>
            <a:endParaRPr lang="en-US"/>
          </a:p>
        </p:txBody>
      </p:sp>
    </p:spTree>
    <p:extLst>
      <p:ext uri="{BB962C8B-B14F-4D97-AF65-F5344CB8AC3E}">
        <p14:creationId xmlns:p14="http://schemas.microsoft.com/office/powerpoint/2010/main" val="3812792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F30C3-A40F-738A-65B7-F62D56584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8B9FE-3AAE-C00C-3595-721AFB4CB4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BCF06-5451-C90F-BF5A-D3AB22049B28}"/>
              </a:ext>
            </a:extLst>
          </p:cNvPr>
          <p:cNvSpPr>
            <a:spLocks noGrp="1"/>
          </p:cNvSpPr>
          <p:nvPr>
            <p:ph type="body" idx="1"/>
          </p:nvPr>
        </p:nvSpPr>
        <p:spPr/>
        <p:txBody>
          <a:bodyPr/>
          <a:lstStyle/>
          <a:p>
            <a:r>
              <a:rPr lang="en-US" dirty="0"/>
              <a:t>545 total genes queued </a:t>
            </a:r>
            <a:r>
              <a:rPr lang="en-US" dirty="0">
                <a:sym typeface="Wingdings" panose="05000000000000000000" pitchFamily="2" charset="2"/>
              </a:rPr>
              <a:t> comparable results for 326 genes ~ 60% successful ( limited by Reactome annotated pathways, some not applicable for summary)…move to slide previous</a:t>
            </a:r>
          </a:p>
          <a:p>
            <a:r>
              <a:rPr lang="en-US" dirty="0">
                <a:sym typeface="Wingdings" panose="05000000000000000000" pitchFamily="2" charset="2"/>
              </a:rPr>
              <a:t>Of the 326 genes successfully ran, 227 reach FDR significance of 0.05. </a:t>
            </a:r>
          </a:p>
          <a:p>
            <a:endParaRPr lang="en-US" dirty="0">
              <a:sym typeface="Wingdings" panose="05000000000000000000" pitchFamily="2" charset="2"/>
            </a:endParaRPr>
          </a:p>
          <a:p>
            <a:r>
              <a:rPr lang="en-US" dirty="0">
                <a:sym typeface="Wingdings" panose="05000000000000000000" pitchFamily="2" charset="2"/>
              </a:rPr>
              <a:t>Two sample t-test, p-value &lt; 0.0001</a:t>
            </a:r>
          </a:p>
          <a:p>
            <a:endParaRPr lang="en-US" dirty="0"/>
          </a:p>
        </p:txBody>
      </p:sp>
      <p:sp>
        <p:nvSpPr>
          <p:cNvPr id="4" name="Slide Number Placeholder 3">
            <a:extLst>
              <a:ext uri="{FF2B5EF4-FFF2-40B4-BE49-F238E27FC236}">
                <a16:creationId xmlns:a16="http://schemas.microsoft.com/office/drawing/2014/main" id="{9C377492-BFC8-0B5B-A4C7-3498A49DB6B2}"/>
              </a:ext>
            </a:extLst>
          </p:cNvPr>
          <p:cNvSpPr>
            <a:spLocks noGrp="1"/>
          </p:cNvSpPr>
          <p:nvPr>
            <p:ph type="sldNum" sz="quarter" idx="5"/>
          </p:nvPr>
        </p:nvSpPr>
        <p:spPr/>
        <p:txBody>
          <a:bodyPr/>
          <a:lstStyle/>
          <a:p>
            <a:fld id="{B1C2288A-B93D-C649-B51B-F5E60DC88EB9}" type="slidenum">
              <a:rPr lang="en-US" smtClean="0"/>
              <a:t>4</a:t>
            </a:fld>
            <a:endParaRPr lang="en-US"/>
          </a:p>
        </p:txBody>
      </p:sp>
    </p:spTree>
    <p:extLst>
      <p:ext uri="{BB962C8B-B14F-4D97-AF65-F5344CB8AC3E}">
        <p14:creationId xmlns:p14="http://schemas.microsoft.com/office/powerpoint/2010/main" val="1012778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C2288A-B93D-C649-B51B-F5E60DC88EB9}" type="slidenum">
              <a:rPr lang="en-US" smtClean="0"/>
              <a:t>6</a:t>
            </a:fld>
            <a:endParaRPr lang="en-US"/>
          </a:p>
        </p:txBody>
      </p:sp>
    </p:spTree>
    <p:extLst>
      <p:ext uri="{BB962C8B-B14F-4D97-AF65-F5344CB8AC3E}">
        <p14:creationId xmlns:p14="http://schemas.microsoft.com/office/powerpoint/2010/main" val="2826808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1F000A-0BEB-3D4D-ACF9-CF8CD957F2E9}" type="slidenum">
              <a:rPr lang="en-US" smtClean="0"/>
              <a:t>7</a:t>
            </a:fld>
            <a:endParaRPr lang="en-US"/>
          </a:p>
        </p:txBody>
      </p:sp>
    </p:spTree>
    <p:extLst>
      <p:ext uri="{BB962C8B-B14F-4D97-AF65-F5344CB8AC3E}">
        <p14:creationId xmlns:p14="http://schemas.microsoft.com/office/powerpoint/2010/main" val="3759921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9941E-3E6E-0DD6-C5EF-9C6CC8612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CA505C-3AF3-815F-EBD5-13F473B9F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4A495B-5F76-14FF-B260-D4034BE2B9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17E692-A6FD-E4B8-87EF-5F081F711139}"/>
              </a:ext>
            </a:extLst>
          </p:cNvPr>
          <p:cNvSpPr>
            <a:spLocks noGrp="1"/>
          </p:cNvSpPr>
          <p:nvPr>
            <p:ph type="sldNum" sz="quarter" idx="5"/>
          </p:nvPr>
        </p:nvSpPr>
        <p:spPr/>
        <p:txBody>
          <a:bodyPr/>
          <a:lstStyle/>
          <a:p>
            <a:fld id="{151F000A-0BEB-3D4D-ACF9-CF8CD957F2E9}" type="slidenum">
              <a:rPr lang="en-US" smtClean="0"/>
              <a:t>8</a:t>
            </a:fld>
            <a:endParaRPr lang="en-US"/>
          </a:p>
        </p:txBody>
      </p:sp>
    </p:spTree>
    <p:extLst>
      <p:ext uri="{BB962C8B-B14F-4D97-AF65-F5344CB8AC3E}">
        <p14:creationId xmlns:p14="http://schemas.microsoft.com/office/powerpoint/2010/main" val="4193656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2E22F-F4EA-268B-81E3-E709F6053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77974-425A-099C-A4F2-2140893CCF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9127CF-71D8-6681-4932-FB07BAB252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814518-AC01-74DC-B0B1-5C1BA9486ECB}"/>
              </a:ext>
            </a:extLst>
          </p:cNvPr>
          <p:cNvSpPr>
            <a:spLocks noGrp="1"/>
          </p:cNvSpPr>
          <p:nvPr>
            <p:ph type="sldNum" sz="quarter" idx="5"/>
          </p:nvPr>
        </p:nvSpPr>
        <p:spPr/>
        <p:txBody>
          <a:bodyPr/>
          <a:lstStyle/>
          <a:p>
            <a:fld id="{151F000A-0BEB-3D4D-ACF9-CF8CD957F2E9}" type="slidenum">
              <a:rPr lang="en-US" smtClean="0"/>
              <a:t>9</a:t>
            </a:fld>
            <a:endParaRPr lang="en-US"/>
          </a:p>
        </p:txBody>
      </p:sp>
    </p:spTree>
    <p:extLst>
      <p:ext uri="{BB962C8B-B14F-4D97-AF65-F5344CB8AC3E}">
        <p14:creationId xmlns:p14="http://schemas.microsoft.com/office/powerpoint/2010/main" val="3048537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6633-5D8C-82CC-3D79-5EF7EFF9C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C79E8-D61F-BE88-6111-9E80D55C7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01A18-1DF5-EC53-8B73-72E780A0DD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4924B7-11D0-CA71-ECA3-ED7BF1725F8D}"/>
              </a:ext>
            </a:extLst>
          </p:cNvPr>
          <p:cNvSpPr>
            <a:spLocks noGrp="1"/>
          </p:cNvSpPr>
          <p:nvPr>
            <p:ph type="sldNum" sz="quarter" idx="5"/>
          </p:nvPr>
        </p:nvSpPr>
        <p:spPr/>
        <p:txBody>
          <a:bodyPr/>
          <a:lstStyle/>
          <a:p>
            <a:fld id="{151F000A-0BEB-3D4D-ACF9-CF8CD957F2E9}" type="slidenum">
              <a:rPr lang="en-US" smtClean="0"/>
              <a:t>10</a:t>
            </a:fld>
            <a:endParaRPr lang="en-US"/>
          </a:p>
        </p:txBody>
      </p:sp>
    </p:spTree>
    <p:extLst>
      <p:ext uri="{BB962C8B-B14F-4D97-AF65-F5344CB8AC3E}">
        <p14:creationId xmlns:p14="http://schemas.microsoft.com/office/powerpoint/2010/main" val="2409225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BB31F-2D0B-383E-FCC9-5AEFCAD26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F7653-413E-EE3E-50C1-F1ED8112D5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24AD9-039C-D837-405E-50CCE01A2C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DE52B0-AA02-D603-BAAF-59AD1609F864}"/>
              </a:ext>
            </a:extLst>
          </p:cNvPr>
          <p:cNvSpPr>
            <a:spLocks noGrp="1"/>
          </p:cNvSpPr>
          <p:nvPr>
            <p:ph type="sldNum" sz="quarter" idx="5"/>
          </p:nvPr>
        </p:nvSpPr>
        <p:spPr/>
        <p:txBody>
          <a:bodyPr/>
          <a:lstStyle/>
          <a:p>
            <a:fld id="{151F000A-0BEB-3D4D-ACF9-CF8CD957F2E9}" type="slidenum">
              <a:rPr lang="en-US" smtClean="0"/>
              <a:t>11</a:t>
            </a:fld>
            <a:endParaRPr lang="en-US"/>
          </a:p>
        </p:txBody>
      </p:sp>
    </p:spTree>
    <p:extLst>
      <p:ext uri="{BB962C8B-B14F-4D97-AF65-F5344CB8AC3E}">
        <p14:creationId xmlns:p14="http://schemas.microsoft.com/office/powerpoint/2010/main" val="3162190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6CDE7-F46F-8E59-88C4-593C9D211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64A44-CF01-2DCB-1E42-BDDD3E70F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9668B-3007-B30E-BFD3-0FBE1B395D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6F6850-A710-B812-B3B1-E305B0BF102E}"/>
              </a:ext>
            </a:extLst>
          </p:cNvPr>
          <p:cNvSpPr>
            <a:spLocks noGrp="1"/>
          </p:cNvSpPr>
          <p:nvPr>
            <p:ph type="sldNum" sz="quarter" idx="5"/>
          </p:nvPr>
        </p:nvSpPr>
        <p:spPr/>
        <p:txBody>
          <a:bodyPr/>
          <a:lstStyle/>
          <a:p>
            <a:fld id="{151F000A-0BEB-3D4D-ACF9-CF8CD957F2E9}" type="slidenum">
              <a:rPr lang="en-US" smtClean="0"/>
              <a:t>12</a:t>
            </a:fld>
            <a:endParaRPr lang="en-US"/>
          </a:p>
        </p:txBody>
      </p:sp>
    </p:spTree>
    <p:extLst>
      <p:ext uri="{BB962C8B-B14F-4D97-AF65-F5344CB8AC3E}">
        <p14:creationId xmlns:p14="http://schemas.microsoft.com/office/powerpoint/2010/main" val="336322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DA4D5-971A-3DB5-A5D6-750CFA191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B2FDF-BBC5-3DDC-A169-513596508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9A4A6-661F-3A4D-C3C9-E324F3866E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3691F8-9DF1-D981-1490-1A8C710B25E5}"/>
              </a:ext>
            </a:extLst>
          </p:cNvPr>
          <p:cNvSpPr>
            <a:spLocks noGrp="1"/>
          </p:cNvSpPr>
          <p:nvPr>
            <p:ph type="sldNum" sz="quarter" idx="5"/>
          </p:nvPr>
        </p:nvSpPr>
        <p:spPr/>
        <p:txBody>
          <a:bodyPr/>
          <a:lstStyle/>
          <a:p>
            <a:fld id="{151F000A-0BEB-3D4D-ACF9-CF8CD957F2E9}" type="slidenum">
              <a:rPr lang="en-US" smtClean="0"/>
              <a:t>13</a:t>
            </a:fld>
            <a:endParaRPr lang="en-US"/>
          </a:p>
        </p:txBody>
      </p:sp>
    </p:spTree>
    <p:extLst>
      <p:ext uri="{BB962C8B-B14F-4D97-AF65-F5344CB8AC3E}">
        <p14:creationId xmlns:p14="http://schemas.microsoft.com/office/powerpoint/2010/main" val="112681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AE588-79C4-F165-2CD0-53D8004A2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B086A9-F146-946D-5EC0-30AAD356CB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412584-5478-B9DF-621C-F12A575C7587}"/>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5" name="Footer Placeholder 4">
            <a:extLst>
              <a:ext uri="{FF2B5EF4-FFF2-40B4-BE49-F238E27FC236}">
                <a16:creationId xmlns:a16="http://schemas.microsoft.com/office/drawing/2014/main" id="{4FF4A050-3CB7-8E0C-B5E0-6F5EB761F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9215C-F1A1-D47C-030C-65809FBDEC0D}"/>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2557119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B94A6-8A1D-CD56-55EB-A2C4B2EABC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4182A-7F29-9EA3-CCEF-45EF399FCA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6CD700-9EF5-73C1-5889-BA4742496CFF}"/>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5" name="Footer Placeholder 4">
            <a:extLst>
              <a:ext uri="{FF2B5EF4-FFF2-40B4-BE49-F238E27FC236}">
                <a16:creationId xmlns:a16="http://schemas.microsoft.com/office/drawing/2014/main" id="{9DB73FED-9693-86B7-CB39-C4151DFC0D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035B0D-FD47-F6C7-4A13-6DB366429EBB}"/>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4033199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E52B3-9B9B-962D-CB4D-2ABF93069F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BF2CA9-BAA1-6535-BB96-DB8BA33AB4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08E437-FC01-F650-390F-F83893B0F307}"/>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5" name="Footer Placeholder 4">
            <a:extLst>
              <a:ext uri="{FF2B5EF4-FFF2-40B4-BE49-F238E27FC236}">
                <a16:creationId xmlns:a16="http://schemas.microsoft.com/office/drawing/2014/main" id="{7C2C5D64-B888-AC1C-B4C2-4456BE66A6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5B405-E039-C310-96AB-88B886D799F0}"/>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59052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7641C-8AE2-0F53-8993-BD4E4C1CB2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EAD889-E673-6727-5619-85283B8BD3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83830A-BF65-F9FB-9BE0-B82D751D9F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EFD8F2-F83C-3BC9-45F8-F4CA58A55EE9}"/>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6" name="Footer Placeholder 5">
            <a:extLst>
              <a:ext uri="{FF2B5EF4-FFF2-40B4-BE49-F238E27FC236}">
                <a16:creationId xmlns:a16="http://schemas.microsoft.com/office/drawing/2014/main" id="{EFF57AF6-6447-57EA-6D14-244108950E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7198E3-81C3-E69F-1EE4-A23C11D402F8}"/>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3499483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D2E18-4449-BBAE-EF15-E588DFE1C5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DD9C46-F434-1AA9-7036-B7923EA816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EE7398-E4A7-30AF-FA41-40A07934D2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5EEDD9-76D3-1286-AD38-84C4064B2A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6819DC-B940-27C0-7F58-8BB4A2C2A5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B8F9B0-0FCE-DDEC-C14E-A2176159E7D0}"/>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8" name="Footer Placeholder 7">
            <a:extLst>
              <a:ext uri="{FF2B5EF4-FFF2-40B4-BE49-F238E27FC236}">
                <a16:creationId xmlns:a16="http://schemas.microsoft.com/office/drawing/2014/main" id="{EAD676D0-CC1F-1C6A-04AF-C17865EF1E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57926A-BF78-6CEE-F592-555E30714E8A}"/>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3802393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3741-2A77-D763-324C-9AA94B9806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A9FCD34-CDE1-2E89-23AF-1152127961F4}"/>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4" name="Footer Placeholder 3">
            <a:extLst>
              <a:ext uri="{FF2B5EF4-FFF2-40B4-BE49-F238E27FC236}">
                <a16:creationId xmlns:a16="http://schemas.microsoft.com/office/drawing/2014/main" id="{05668014-C2EC-609E-75A8-07F4C5C262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EF6E59-F58F-7D7C-E9E4-C860837D811A}"/>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95011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E9AC37-3C9C-FC29-6AAB-C84D7C7F533A}"/>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3" name="Footer Placeholder 2">
            <a:extLst>
              <a:ext uri="{FF2B5EF4-FFF2-40B4-BE49-F238E27FC236}">
                <a16:creationId xmlns:a16="http://schemas.microsoft.com/office/drawing/2014/main" id="{E4C58250-1274-9B81-8887-A7B87A07C2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7D71DE-9DEF-6F6D-5123-474B7529E34A}"/>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3809119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CB569-9CD7-3D97-4273-37B386244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EB6C27-E109-94CE-E35B-10B25203A6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395831-15AF-F24E-25C3-F134FD7B64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308EE-DE47-EE84-D136-B8C7AA56C4DD}"/>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6" name="Footer Placeholder 5">
            <a:extLst>
              <a:ext uri="{FF2B5EF4-FFF2-40B4-BE49-F238E27FC236}">
                <a16:creationId xmlns:a16="http://schemas.microsoft.com/office/drawing/2014/main" id="{E3991EA7-C2BA-FE28-E98B-8E3CE8679E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6D3BE1-183E-EE3B-4464-285E56D9C7D5}"/>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2055420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1D0AA-8310-A6F6-F7F1-58F4A05E80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002C58-E1DE-55A9-E085-F1260DC96D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661A05-3705-70D4-D08D-6B1C75FF38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4D047C-5EB4-FD52-C90C-A3D7CA0F250E}"/>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6" name="Footer Placeholder 5">
            <a:extLst>
              <a:ext uri="{FF2B5EF4-FFF2-40B4-BE49-F238E27FC236}">
                <a16:creationId xmlns:a16="http://schemas.microsoft.com/office/drawing/2014/main" id="{2B2F6EFE-8DF6-97FD-B9B9-3777066BFD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C083F7-29DB-D5FF-8316-A67E162C9004}"/>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2246991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EC31-CFE3-93F2-A12A-2A282192F3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2B6FBA-D9E6-8796-A51C-2DCE79A3B5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EEC2FF-B412-39E6-977D-004F3924D2F1}"/>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5" name="Footer Placeholder 4">
            <a:extLst>
              <a:ext uri="{FF2B5EF4-FFF2-40B4-BE49-F238E27FC236}">
                <a16:creationId xmlns:a16="http://schemas.microsoft.com/office/drawing/2014/main" id="{F01EBD0A-7EEC-B1AA-8330-F5026B3B53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C0367-9ED4-2072-D953-103A6ED9FB9A}"/>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3602442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EA1E59-C4B1-FE1A-796C-C2FB4849CD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942045-6478-7253-7913-0155E6A9E2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937A5F-DF06-C735-1C08-FDA6500221B0}"/>
              </a:ext>
            </a:extLst>
          </p:cNvPr>
          <p:cNvSpPr>
            <a:spLocks noGrp="1"/>
          </p:cNvSpPr>
          <p:nvPr>
            <p:ph type="dt" sz="half" idx="10"/>
          </p:nvPr>
        </p:nvSpPr>
        <p:spPr/>
        <p:txBody>
          <a:bodyPr/>
          <a:lstStyle/>
          <a:p>
            <a:fld id="{05168B72-FAD8-AC49-878B-6D02A3D12746}" type="datetimeFigureOut">
              <a:rPr lang="en-US" smtClean="0"/>
              <a:t>4/8/25</a:t>
            </a:fld>
            <a:endParaRPr lang="en-US"/>
          </a:p>
        </p:txBody>
      </p:sp>
      <p:sp>
        <p:nvSpPr>
          <p:cNvPr id="5" name="Footer Placeholder 4">
            <a:extLst>
              <a:ext uri="{FF2B5EF4-FFF2-40B4-BE49-F238E27FC236}">
                <a16:creationId xmlns:a16="http://schemas.microsoft.com/office/drawing/2014/main" id="{F8184F05-B4F3-8FFC-5D37-C93243F8A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D8016-E5D9-2E1B-6EF3-F2BFF08EB533}"/>
              </a:ext>
            </a:extLst>
          </p:cNvPr>
          <p:cNvSpPr>
            <a:spLocks noGrp="1"/>
          </p:cNvSpPr>
          <p:nvPr>
            <p:ph type="sldNum" sz="quarter" idx="12"/>
          </p:nvPr>
        </p:nvSpPr>
        <p:spPr/>
        <p:txBody>
          <a:bodyPr/>
          <a:lstStyle/>
          <a:p>
            <a:fld id="{A3D7A47C-AE25-2247-A2AC-3CFDCD5E3709}" type="slidenum">
              <a:rPr lang="en-US" smtClean="0"/>
              <a:t>‹#›</a:t>
            </a:fld>
            <a:endParaRPr lang="en-US"/>
          </a:p>
        </p:txBody>
      </p:sp>
    </p:spTree>
    <p:extLst>
      <p:ext uri="{BB962C8B-B14F-4D97-AF65-F5344CB8AC3E}">
        <p14:creationId xmlns:p14="http://schemas.microsoft.com/office/powerpoint/2010/main" val="894268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B7F179-101C-9726-4E75-51528DF394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B50376-0FC8-AAAE-CD39-E70FC86952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74388E-D0C1-7702-3B09-7D554FDE08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168B72-FAD8-AC49-878B-6D02A3D12746}" type="datetimeFigureOut">
              <a:rPr lang="en-US" smtClean="0"/>
              <a:t>4/8/25</a:t>
            </a:fld>
            <a:endParaRPr lang="en-US"/>
          </a:p>
        </p:txBody>
      </p:sp>
      <p:sp>
        <p:nvSpPr>
          <p:cNvPr id="5" name="Footer Placeholder 4">
            <a:extLst>
              <a:ext uri="{FF2B5EF4-FFF2-40B4-BE49-F238E27FC236}">
                <a16:creationId xmlns:a16="http://schemas.microsoft.com/office/drawing/2014/main" id="{DCEAB2D0-35C5-658E-00D6-C5DFDD3CCA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AA2186-C383-3BA8-B30C-A77D6CB03F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D7A47C-AE25-2247-A2AC-3CFDCD5E3709}" type="slidenum">
              <a:rPr lang="en-US" smtClean="0"/>
              <a:t>‹#›</a:t>
            </a:fld>
            <a:endParaRPr lang="en-US"/>
          </a:p>
        </p:txBody>
      </p:sp>
    </p:spTree>
    <p:extLst>
      <p:ext uri="{BB962C8B-B14F-4D97-AF65-F5344CB8AC3E}">
        <p14:creationId xmlns:p14="http://schemas.microsoft.com/office/powerpoint/2010/main" val="37362711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hyperlink" Target="https://docs.google.com/spreadsheets/d/18I-qzQofiYFs1tTGk3HMCjqB8ePUC0FlUIcxlVhvmbQ/edit?gid=0#gid=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F7EE6-F055-459A-5393-D3E1082C86E1}"/>
              </a:ext>
            </a:extLst>
          </p:cNvPr>
          <p:cNvSpPr>
            <a:spLocks noGrp="1"/>
          </p:cNvSpPr>
          <p:nvPr>
            <p:ph type="ctrTitle"/>
          </p:nvPr>
        </p:nvSpPr>
        <p:spPr/>
        <p:txBody>
          <a:bodyPr/>
          <a:lstStyle/>
          <a:p>
            <a:r>
              <a:rPr lang="en-US" dirty="0"/>
              <a:t>Update to LLM App in the Curator Tool</a:t>
            </a:r>
          </a:p>
        </p:txBody>
      </p:sp>
      <p:sp>
        <p:nvSpPr>
          <p:cNvPr id="3" name="Subtitle 2">
            <a:extLst>
              <a:ext uri="{FF2B5EF4-FFF2-40B4-BE49-F238E27FC236}">
                <a16:creationId xmlns:a16="http://schemas.microsoft.com/office/drawing/2014/main" id="{1324B599-6D91-53DC-68B4-BD3E454D36C1}"/>
              </a:ext>
            </a:extLst>
          </p:cNvPr>
          <p:cNvSpPr>
            <a:spLocks noGrp="1"/>
          </p:cNvSpPr>
          <p:nvPr>
            <p:ph type="subTitle" idx="1"/>
          </p:nvPr>
        </p:nvSpPr>
        <p:spPr>
          <a:xfrm>
            <a:off x="1524000" y="3879542"/>
            <a:ext cx="9144000" cy="1378258"/>
          </a:xfrm>
        </p:spPr>
        <p:txBody>
          <a:bodyPr/>
          <a:lstStyle/>
          <a:p>
            <a:r>
              <a:rPr lang="en-US" dirty="0"/>
              <a:t>4/9/2025</a:t>
            </a:r>
          </a:p>
        </p:txBody>
      </p:sp>
    </p:spTree>
    <p:extLst>
      <p:ext uri="{BB962C8B-B14F-4D97-AF65-F5344CB8AC3E}">
        <p14:creationId xmlns:p14="http://schemas.microsoft.com/office/powerpoint/2010/main" val="4215560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8D51B-0D4A-A871-5B31-6293BF362C62}"/>
              </a:ext>
            </a:extLst>
          </p:cNvPr>
          <p:cNvSpPr>
            <a:spLocks noGrp="1"/>
          </p:cNvSpPr>
          <p:nvPr>
            <p:ph type="title"/>
          </p:nvPr>
        </p:nvSpPr>
        <p:spPr/>
        <p:txBody>
          <a:bodyPr/>
          <a:lstStyle/>
          <a:p>
            <a:r>
              <a:rPr lang="en-US" dirty="0"/>
              <a:t>Computational Evaluation: data sources</a:t>
            </a:r>
          </a:p>
        </p:txBody>
      </p:sp>
      <p:grpSp>
        <p:nvGrpSpPr>
          <p:cNvPr id="4" name="Group 3">
            <a:extLst>
              <a:ext uri="{FF2B5EF4-FFF2-40B4-BE49-F238E27FC236}">
                <a16:creationId xmlns:a16="http://schemas.microsoft.com/office/drawing/2014/main" id="{6BF8E944-FBD0-9B70-BF40-AAD27178F1AA}"/>
              </a:ext>
            </a:extLst>
          </p:cNvPr>
          <p:cNvGrpSpPr/>
          <p:nvPr/>
        </p:nvGrpSpPr>
        <p:grpSpPr>
          <a:xfrm>
            <a:off x="3855453" y="2092715"/>
            <a:ext cx="3908240" cy="3888858"/>
            <a:chOff x="1131593" y="1042099"/>
            <a:chExt cx="3908240" cy="3888858"/>
          </a:xfrm>
        </p:grpSpPr>
        <p:sp>
          <p:nvSpPr>
            <p:cNvPr id="5" name="Oval 4">
              <a:extLst>
                <a:ext uri="{FF2B5EF4-FFF2-40B4-BE49-F238E27FC236}">
                  <a16:creationId xmlns:a16="http://schemas.microsoft.com/office/drawing/2014/main" id="{CC6282E3-001B-D00A-BDC5-DF2EC286F9CB}"/>
                </a:ext>
              </a:extLst>
            </p:cNvPr>
            <p:cNvSpPr/>
            <p:nvPr/>
          </p:nvSpPr>
          <p:spPr>
            <a:xfrm>
              <a:off x="1131593" y="1042099"/>
              <a:ext cx="3908240" cy="3888858"/>
            </a:xfrm>
            <a:prstGeom prst="ellipse">
              <a:avLst/>
            </a:prstGeom>
            <a:solidFill>
              <a:srgbClr val="D5B8EA"/>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D88D27-FB58-4B0C-3724-4F6D8C3A0891}"/>
                </a:ext>
              </a:extLst>
            </p:cNvPr>
            <p:cNvSpPr/>
            <p:nvPr/>
          </p:nvSpPr>
          <p:spPr>
            <a:xfrm>
              <a:off x="1801368" y="1409541"/>
              <a:ext cx="3238465" cy="3153973"/>
            </a:xfrm>
            <a:prstGeom prst="ellipse">
              <a:avLst/>
            </a:prstGeom>
            <a:solidFill>
              <a:srgbClr val="CCFF99"/>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0A8B8EBC-5B54-FD59-A26C-120A922E32AA}"/>
              </a:ext>
            </a:extLst>
          </p:cNvPr>
          <p:cNvSpPr txBox="1"/>
          <p:nvPr/>
        </p:nvSpPr>
        <p:spPr>
          <a:xfrm>
            <a:off x="1226457" y="2870040"/>
            <a:ext cx="2330994" cy="646331"/>
          </a:xfrm>
          <a:prstGeom prst="rect">
            <a:avLst/>
          </a:prstGeom>
          <a:noFill/>
          <a:ln>
            <a:solidFill>
              <a:schemeClr val="tx1">
                <a:lumMod val="50000"/>
              </a:schemeClr>
            </a:solidFill>
          </a:ln>
        </p:spPr>
        <p:txBody>
          <a:bodyPr wrap="square" rtlCol="0">
            <a:spAutoFit/>
          </a:bodyPr>
          <a:lstStyle/>
          <a:p>
            <a:pPr algn="ctr"/>
            <a:r>
              <a:rPr lang="en-US" b="1" dirty="0">
                <a:solidFill>
                  <a:schemeClr val="tx1">
                    <a:lumMod val="50000"/>
                  </a:schemeClr>
                </a:solidFill>
              </a:rPr>
              <a:t>Reactome Database Version 90</a:t>
            </a:r>
          </a:p>
        </p:txBody>
      </p:sp>
      <p:cxnSp>
        <p:nvCxnSpPr>
          <p:cNvPr id="8" name="Straight Arrow Connector 7">
            <a:extLst>
              <a:ext uri="{FF2B5EF4-FFF2-40B4-BE49-F238E27FC236}">
                <a16:creationId xmlns:a16="http://schemas.microsoft.com/office/drawing/2014/main" id="{E600B91B-ECBF-D26A-2881-9A177F67DC66}"/>
              </a:ext>
            </a:extLst>
          </p:cNvPr>
          <p:cNvCxnSpPr>
            <a:cxnSpLocks/>
          </p:cNvCxnSpPr>
          <p:nvPr/>
        </p:nvCxnSpPr>
        <p:spPr>
          <a:xfrm>
            <a:off x="3557451" y="3173382"/>
            <a:ext cx="457200" cy="104379"/>
          </a:xfrm>
          <a:prstGeom prst="straightConnector1">
            <a:avLst/>
          </a:prstGeom>
          <a:ln w="34925">
            <a:solidFill>
              <a:schemeClr val="tx1">
                <a:lumMod val="50000"/>
              </a:schemeClr>
            </a:solidFill>
            <a:tailEnd type="triangle"/>
          </a:ln>
        </p:spPr>
        <p:style>
          <a:lnRef idx="1">
            <a:schemeClr val="accent6"/>
          </a:lnRef>
          <a:fillRef idx="0">
            <a:schemeClr val="accent6"/>
          </a:fillRef>
          <a:effectRef idx="0">
            <a:schemeClr val="accent6"/>
          </a:effectRef>
          <a:fontRef idx="minor">
            <a:schemeClr val="tx1"/>
          </a:fontRef>
        </p:style>
      </p:cxnSp>
      <p:sp>
        <p:nvSpPr>
          <p:cNvPr id="9" name="TextBox 8">
            <a:extLst>
              <a:ext uri="{FF2B5EF4-FFF2-40B4-BE49-F238E27FC236}">
                <a16:creationId xmlns:a16="http://schemas.microsoft.com/office/drawing/2014/main" id="{39F51EEA-22DE-69A2-6C64-BFB528E87B72}"/>
              </a:ext>
            </a:extLst>
          </p:cNvPr>
          <p:cNvSpPr txBox="1"/>
          <p:nvPr/>
        </p:nvSpPr>
        <p:spPr>
          <a:xfrm>
            <a:off x="5083755" y="3729690"/>
            <a:ext cx="2289501" cy="646331"/>
          </a:xfrm>
          <a:prstGeom prst="rect">
            <a:avLst/>
          </a:prstGeom>
          <a:noFill/>
          <a:ln>
            <a:solidFill>
              <a:schemeClr val="tx1">
                <a:lumMod val="50000"/>
              </a:schemeClr>
            </a:solidFill>
          </a:ln>
        </p:spPr>
        <p:txBody>
          <a:bodyPr wrap="square" rtlCol="0">
            <a:spAutoFit/>
          </a:bodyPr>
          <a:lstStyle/>
          <a:p>
            <a:pPr algn="ctr"/>
            <a:r>
              <a:rPr lang="en-US" b="1" dirty="0">
                <a:solidFill>
                  <a:schemeClr val="tx1">
                    <a:lumMod val="50000"/>
                  </a:schemeClr>
                </a:solidFill>
              </a:rPr>
              <a:t>Reactome Database Version 71</a:t>
            </a:r>
          </a:p>
        </p:txBody>
      </p:sp>
      <p:sp>
        <p:nvSpPr>
          <p:cNvPr id="10" name="TextBox 9">
            <a:extLst>
              <a:ext uri="{FF2B5EF4-FFF2-40B4-BE49-F238E27FC236}">
                <a16:creationId xmlns:a16="http://schemas.microsoft.com/office/drawing/2014/main" id="{87FFF95C-C117-5632-9B5D-3F3E6C2397E0}"/>
              </a:ext>
            </a:extLst>
          </p:cNvPr>
          <p:cNvSpPr txBox="1"/>
          <p:nvPr/>
        </p:nvSpPr>
        <p:spPr>
          <a:xfrm>
            <a:off x="1494972" y="4561842"/>
            <a:ext cx="1979960" cy="923330"/>
          </a:xfrm>
          <a:prstGeom prst="rect">
            <a:avLst/>
          </a:prstGeom>
          <a:noFill/>
          <a:ln>
            <a:solidFill>
              <a:schemeClr val="tx1">
                <a:lumMod val="50000"/>
              </a:schemeClr>
            </a:solidFill>
          </a:ln>
        </p:spPr>
        <p:txBody>
          <a:bodyPr wrap="square" rtlCol="0">
            <a:spAutoFit/>
          </a:bodyPr>
          <a:lstStyle/>
          <a:p>
            <a:pPr algn="ctr"/>
            <a:r>
              <a:rPr lang="en-US" b="1" dirty="0">
                <a:solidFill>
                  <a:schemeClr val="tx1">
                    <a:lumMod val="50000"/>
                  </a:schemeClr>
                </a:solidFill>
              </a:rPr>
              <a:t>545 Genes Annotated in v90, but not v71</a:t>
            </a:r>
          </a:p>
        </p:txBody>
      </p:sp>
      <p:cxnSp>
        <p:nvCxnSpPr>
          <p:cNvPr id="11" name="Straight Arrow Connector 10">
            <a:extLst>
              <a:ext uri="{FF2B5EF4-FFF2-40B4-BE49-F238E27FC236}">
                <a16:creationId xmlns:a16="http://schemas.microsoft.com/office/drawing/2014/main" id="{D1C2349E-18CE-446C-B571-08882E12F790}"/>
              </a:ext>
            </a:extLst>
          </p:cNvPr>
          <p:cNvCxnSpPr>
            <a:cxnSpLocks/>
          </p:cNvCxnSpPr>
          <p:nvPr/>
        </p:nvCxnSpPr>
        <p:spPr>
          <a:xfrm flipV="1">
            <a:off x="3474931" y="4877961"/>
            <a:ext cx="942056" cy="284044"/>
          </a:xfrm>
          <a:prstGeom prst="straightConnector1">
            <a:avLst/>
          </a:prstGeom>
          <a:ln w="34925">
            <a:solidFill>
              <a:schemeClr val="tx1">
                <a:lumMod val="50000"/>
              </a:schemeClr>
            </a:solidFill>
            <a:tailEnd type="triangle"/>
          </a:ln>
        </p:spPr>
        <p:style>
          <a:lnRef idx="1">
            <a:schemeClr val="accent6"/>
          </a:lnRef>
          <a:fillRef idx="0">
            <a:schemeClr val="accent6"/>
          </a:fillRef>
          <a:effectRef idx="0">
            <a:schemeClr val="accent6"/>
          </a:effectRef>
          <a:fontRef idx="minor">
            <a:schemeClr val="tx1"/>
          </a:fontRef>
        </p:style>
      </p:cxnSp>
      <p:sp>
        <p:nvSpPr>
          <p:cNvPr id="12" name="TextBox 11">
            <a:extLst>
              <a:ext uri="{FF2B5EF4-FFF2-40B4-BE49-F238E27FC236}">
                <a16:creationId xmlns:a16="http://schemas.microsoft.com/office/drawing/2014/main" id="{9EBB88ED-5605-DC34-08FF-B1D27FFB1D7D}"/>
              </a:ext>
            </a:extLst>
          </p:cNvPr>
          <p:cNvSpPr txBox="1"/>
          <p:nvPr/>
        </p:nvSpPr>
        <p:spPr>
          <a:xfrm>
            <a:off x="10659336" y="6488668"/>
            <a:ext cx="1532664" cy="369332"/>
          </a:xfrm>
          <a:prstGeom prst="rect">
            <a:avLst/>
          </a:prstGeom>
          <a:noFill/>
        </p:spPr>
        <p:txBody>
          <a:bodyPr wrap="none" rtlCol="0">
            <a:spAutoFit/>
          </a:bodyPr>
          <a:lstStyle/>
          <a:p>
            <a:r>
              <a:rPr lang="en-US" dirty="0"/>
              <a:t>Nathan Boyer</a:t>
            </a:r>
          </a:p>
        </p:txBody>
      </p:sp>
    </p:spTree>
    <p:extLst>
      <p:ext uri="{BB962C8B-B14F-4D97-AF65-F5344CB8AC3E}">
        <p14:creationId xmlns:p14="http://schemas.microsoft.com/office/powerpoint/2010/main" val="1798093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6E668-1F93-11EF-8EA0-ACA054A35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A14B1-3AD1-1A57-72DF-663385C8CA84}"/>
              </a:ext>
            </a:extLst>
          </p:cNvPr>
          <p:cNvSpPr>
            <a:spLocks noGrp="1"/>
          </p:cNvSpPr>
          <p:nvPr>
            <p:ph type="title"/>
          </p:nvPr>
        </p:nvSpPr>
        <p:spPr/>
        <p:txBody>
          <a:bodyPr/>
          <a:lstStyle/>
          <a:p>
            <a:r>
              <a:rPr lang="en-US" dirty="0"/>
              <a:t>Computational Evaluation: workflow</a:t>
            </a:r>
          </a:p>
        </p:txBody>
      </p:sp>
      <p:sp>
        <p:nvSpPr>
          <p:cNvPr id="12" name="TextBox 11">
            <a:extLst>
              <a:ext uri="{FF2B5EF4-FFF2-40B4-BE49-F238E27FC236}">
                <a16:creationId xmlns:a16="http://schemas.microsoft.com/office/drawing/2014/main" id="{4616A254-2B5C-C526-82E2-E09DA09A1BF9}"/>
              </a:ext>
            </a:extLst>
          </p:cNvPr>
          <p:cNvSpPr txBox="1"/>
          <p:nvPr/>
        </p:nvSpPr>
        <p:spPr>
          <a:xfrm>
            <a:off x="10659336" y="6488668"/>
            <a:ext cx="1532664" cy="369332"/>
          </a:xfrm>
          <a:prstGeom prst="rect">
            <a:avLst/>
          </a:prstGeom>
          <a:noFill/>
        </p:spPr>
        <p:txBody>
          <a:bodyPr wrap="none" rtlCol="0">
            <a:spAutoFit/>
          </a:bodyPr>
          <a:lstStyle/>
          <a:p>
            <a:r>
              <a:rPr lang="en-US" dirty="0"/>
              <a:t>Nathan Boyer</a:t>
            </a:r>
          </a:p>
        </p:txBody>
      </p:sp>
      <p:sp>
        <p:nvSpPr>
          <p:cNvPr id="3" name="Text Placeholder 2">
            <a:extLst>
              <a:ext uri="{FF2B5EF4-FFF2-40B4-BE49-F238E27FC236}">
                <a16:creationId xmlns:a16="http://schemas.microsoft.com/office/drawing/2014/main" id="{AE899B42-EFC0-EDFA-EB4D-14A87FBA13BB}"/>
              </a:ext>
            </a:extLst>
          </p:cNvPr>
          <p:cNvSpPr txBox="1">
            <a:spLocks/>
          </p:cNvSpPr>
          <p:nvPr/>
        </p:nvSpPr>
        <p:spPr>
          <a:xfrm>
            <a:off x="1210709" y="2331657"/>
            <a:ext cx="7534275" cy="3820885"/>
          </a:xfrm>
          <a:prstGeom prst="rect">
            <a:avLst/>
          </a:prstGeom>
        </p:spPr>
        <p:txBody>
          <a:bodyPr>
            <a:normAutofit/>
          </a:bodyPr>
          <a:lstStyle>
            <a:lvl1pPr marL="342900" indent="-342900" algn="l" defTabSz="457200" rtl="0" eaLnBrk="1" latinLnBrk="0" hangingPunct="1">
              <a:spcBef>
                <a:spcPct val="20000"/>
              </a:spcBef>
              <a:buFont typeface="Arial"/>
              <a:buChar char="•"/>
              <a:defRPr sz="2400" kern="1200">
                <a:solidFill>
                  <a:schemeClr val="tx1"/>
                </a:solidFill>
                <a:latin typeface="Noto Serif"/>
                <a:ea typeface="+mn-ea"/>
                <a:cs typeface="Noto Serif"/>
              </a:defRPr>
            </a:lvl1pPr>
            <a:lvl2pPr marL="742950" indent="-285750" algn="l" defTabSz="457200" rtl="0" eaLnBrk="1" latinLnBrk="0" hangingPunct="1">
              <a:spcBef>
                <a:spcPct val="20000"/>
              </a:spcBef>
              <a:buFont typeface="Arial"/>
              <a:buChar char="–"/>
              <a:defRPr sz="2400" kern="1200">
                <a:solidFill>
                  <a:schemeClr val="tx1"/>
                </a:solidFill>
                <a:latin typeface="Lato Regular"/>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Lato Regular"/>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Lato Regular"/>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Lato Regular"/>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pic>
        <p:nvPicPr>
          <p:cNvPr id="13" name="Picture 2">
            <a:extLst>
              <a:ext uri="{FF2B5EF4-FFF2-40B4-BE49-F238E27FC236}">
                <a16:creationId xmlns:a16="http://schemas.microsoft.com/office/drawing/2014/main" id="{6D914CA2-22EF-2D48-948E-77F9E2739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582616"/>
            <a:ext cx="9709867" cy="5164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84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76778-FA2C-FEC8-84D6-1A47BE8D3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A27D8-ACD2-C995-95DE-5E71A27B8E02}"/>
              </a:ext>
            </a:extLst>
          </p:cNvPr>
          <p:cNvSpPr>
            <a:spLocks noGrp="1"/>
          </p:cNvSpPr>
          <p:nvPr>
            <p:ph type="title"/>
          </p:nvPr>
        </p:nvSpPr>
        <p:spPr/>
        <p:txBody>
          <a:bodyPr/>
          <a:lstStyle/>
          <a:p>
            <a:r>
              <a:rPr lang="en-US" dirty="0"/>
              <a:t>Computational Evaluation: results</a:t>
            </a:r>
          </a:p>
        </p:txBody>
      </p:sp>
      <p:sp>
        <p:nvSpPr>
          <p:cNvPr id="12" name="TextBox 11">
            <a:extLst>
              <a:ext uri="{FF2B5EF4-FFF2-40B4-BE49-F238E27FC236}">
                <a16:creationId xmlns:a16="http://schemas.microsoft.com/office/drawing/2014/main" id="{FDE5A93C-8822-E08B-A0D9-E89570302E08}"/>
              </a:ext>
            </a:extLst>
          </p:cNvPr>
          <p:cNvSpPr txBox="1"/>
          <p:nvPr/>
        </p:nvSpPr>
        <p:spPr>
          <a:xfrm>
            <a:off x="10659336" y="6488668"/>
            <a:ext cx="1532664" cy="369332"/>
          </a:xfrm>
          <a:prstGeom prst="rect">
            <a:avLst/>
          </a:prstGeom>
          <a:noFill/>
        </p:spPr>
        <p:txBody>
          <a:bodyPr wrap="none" rtlCol="0">
            <a:spAutoFit/>
          </a:bodyPr>
          <a:lstStyle/>
          <a:p>
            <a:r>
              <a:rPr lang="en-US" dirty="0"/>
              <a:t>Nathan Boyer</a:t>
            </a:r>
          </a:p>
        </p:txBody>
      </p:sp>
      <p:sp>
        <p:nvSpPr>
          <p:cNvPr id="3" name="Text Placeholder 2">
            <a:extLst>
              <a:ext uri="{FF2B5EF4-FFF2-40B4-BE49-F238E27FC236}">
                <a16:creationId xmlns:a16="http://schemas.microsoft.com/office/drawing/2014/main" id="{778FC71F-6FB0-CED5-AB80-A448089B2EDF}"/>
              </a:ext>
            </a:extLst>
          </p:cNvPr>
          <p:cNvSpPr txBox="1">
            <a:spLocks/>
          </p:cNvSpPr>
          <p:nvPr/>
        </p:nvSpPr>
        <p:spPr>
          <a:xfrm>
            <a:off x="1210709" y="2331657"/>
            <a:ext cx="7534275" cy="3820885"/>
          </a:xfrm>
          <a:prstGeom prst="rect">
            <a:avLst/>
          </a:prstGeom>
        </p:spPr>
        <p:txBody>
          <a:bodyPr>
            <a:normAutofit/>
          </a:bodyPr>
          <a:lstStyle>
            <a:lvl1pPr marL="342900" indent="-342900" algn="l" defTabSz="457200" rtl="0" eaLnBrk="1" latinLnBrk="0" hangingPunct="1">
              <a:spcBef>
                <a:spcPct val="20000"/>
              </a:spcBef>
              <a:buFont typeface="Arial"/>
              <a:buChar char="•"/>
              <a:defRPr sz="2400" kern="1200">
                <a:solidFill>
                  <a:schemeClr val="tx1"/>
                </a:solidFill>
                <a:latin typeface="Noto Serif"/>
                <a:ea typeface="+mn-ea"/>
                <a:cs typeface="Noto Serif"/>
              </a:defRPr>
            </a:lvl1pPr>
            <a:lvl2pPr marL="742950" indent="-285750" algn="l" defTabSz="457200" rtl="0" eaLnBrk="1" latinLnBrk="0" hangingPunct="1">
              <a:spcBef>
                <a:spcPct val="20000"/>
              </a:spcBef>
              <a:buFont typeface="Arial"/>
              <a:buChar char="–"/>
              <a:defRPr sz="2400" kern="1200">
                <a:solidFill>
                  <a:schemeClr val="tx1"/>
                </a:solidFill>
                <a:latin typeface="Lato Regular"/>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Lato Regular"/>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Lato Regular"/>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Lato Regular"/>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pic>
        <p:nvPicPr>
          <p:cNvPr id="4" name="Picture 3">
            <a:extLst>
              <a:ext uri="{FF2B5EF4-FFF2-40B4-BE49-F238E27FC236}">
                <a16:creationId xmlns:a16="http://schemas.microsoft.com/office/drawing/2014/main" id="{EF8948DD-B41A-DF27-AEF6-73945E2B93C8}"/>
              </a:ext>
            </a:extLst>
          </p:cNvPr>
          <p:cNvPicPr>
            <a:picLocks noChangeAspect="1"/>
          </p:cNvPicPr>
          <p:nvPr/>
        </p:nvPicPr>
        <p:blipFill>
          <a:blip r:embed="rId3"/>
          <a:srcRect t="2614"/>
          <a:stretch/>
        </p:blipFill>
        <p:spPr>
          <a:xfrm>
            <a:off x="242657" y="1539762"/>
            <a:ext cx="6406416" cy="4772872"/>
          </a:xfrm>
          <a:prstGeom prst="rect">
            <a:avLst/>
          </a:prstGeom>
        </p:spPr>
      </p:pic>
      <p:pic>
        <p:nvPicPr>
          <p:cNvPr id="5" name="Picture 4">
            <a:extLst>
              <a:ext uri="{FF2B5EF4-FFF2-40B4-BE49-F238E27FC236}">
                <a16:creationId xmlns:a16="http://schemas.microsoft.com/office/drawing/2014/main" id="{9DF1B7B2-BABE-710E-3165-EBE5C4918B8C}"/>
              </a:ext>
            </a:extLst>
          </p:cNvPr>
          <p:cNvPicPr>
            <a:picLocks noChangeAspect="1"/>
          </p:cNvPicPr>
          <p:nvPr/>
        </p:nvPicPr>
        <p:blipFill>
          <a:blip r:embed="rId4"/>
          <a:stretch>
            <a:fillRect/>
          </a:stretch>
        </p:blipFill>
        <p:spPr>
          <a:xfrm>
            <a:off x="7018965" y="1423736"/>
            <a:ext cx="4930378" cy="4778674"/>
          </a:xfrm>
          <a:prstGeom prst="rect">
            <a:avLst/>
          </a:prstGeom>
        </p:spPr>
      </p:pic>
      <p:sp>
        <p:nvSpPr>
          <p:cNvPr id="6" name="TextBox 5">
            <a:extLst>
              <a:ext uri="{FF2B5EF4-FFF2-40B4-BE49-F238E27FC236}">
                <a16:creationId xmlns:a16="http://schemas.microsoft.com/office/drawing/2014/main" id="{29B804FD-C30F-DD94-1E3C-E448E01A2640}"/>
              </a:ext>
            </a:extLst>
          </p:cNvPr>
          <p:cNvSpPr txBox="1"/>
          <p:nvPr/>
        </p:nvSpPr>
        <p:spPr>
          <a:xfrm>
            <a:off x="0" y="6304703"/>
            <a:ext cx="7927759" cy="523220"/>
          </a:xfrm>
          <a:prstGeom prst="rect">
            <a:avLst/>
          </a:prstGeom>
          <a:noFill/>
        </p:spPr>
        <p:txBody>
          <a:bodyPr wrap="square" rtlCol="0">
            <a:spAutoFit/>
          </a:bodyPr>
          <a:lstStyle/>
          <a:p>
            <a:r>
              <a:rPr lang="en-US" sz="1400" dirty="0"/>
              <a:t>545 total genes queued </a:t>
            </a:r>
            <a:r>
              <a:rPr lang="en-US" sz="1400" dirty="0">
                <a:sym typeface="Wingdings" panose="05000000000000000000" pitchFamily="2" charset="2"/>
              </a:rPr>
              <a:t> comparable results for 326 genes ~ 60% successful ( limited by Reactome annotated pathways, some not applicable for summary)</a:t>
            </a:r>
            <a:endParaRPr lang="en-US" sz="1400" dirty="0"/>
          </a:p>
        </p:txBody>
      </p:sp>
    </p:spTree>
    <p:extLst>
      <p:ext uri="{BB962C8B-B14F-4D97-AF65-F5344CB8AC3E}">
        <p14:creationId xmlns:p14="http://schemas.microsoft.com/office/powerpoint/2010/main" val="4109188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5085-107E-12E4-C5BB-BE5E4875B4AF}"/>
              </a:ext>
            </a:extLst>
          </p:cNvPr>
          <p:cNvSpPr>
            <a:spLocks noGrp="1"/>
          </p:cNvSpPr>
          <p:nvPr>
            <p:ph type="title"/>
          </p:nvPr>
        </p:nvSpPr>
        <p:spPr/>
        <p:txBody>
          <a:bodyPr/>
          <a:lstStyle/>
          <a:p>
            <a:r>
              <a:rPr lang="en-US" dirty="0"/>
              <a:t>Curation Manual Evaluation</a:t>
            </a:r>
          </a:p>
        </p:txBody>
      </p:sp>
      <p:sp>
        <p:nvSpPr>
          <p:cNvPr id="3" name="Content Placeholder 2">
            <a:extLst>
              <a:ext uri="{FF2B5EF4-FFF2-40B4-BE49-F238E27FC236}">
                <a16:creationId xmlns:a16="http://schemas.microsoft.com/office/drawing/2014/main" id="{22C0DE8C-5FA2-F592-3688-A14DAEF784F8}"/>
              </a:ext>
            </a:extLst>
          </p:cNvPr>
          <p:cNvSpPr>
            <a:spLocks noGrp="1"/>
          </p:cNvSpPr>
          <p:nvPr>
            <p:ph idx="1"/>
          </p:nvPr>
        </p:nvSpPr>
        <p:spPr/>
        <p:txBody>
          <a:bodyPr/>
          <a:lstStyle/>
          <a:p>
            <a:r>
              <a:rPr lang="en-US" dirty="0">
                <a:hlinkClick r:id="rId2"/>
              </a:rPr>
              <a:t>LLM feature testing log</a:t>
            </a:r>
            <a:endParaRPr lang="en-US" dirty="0"/>
          </a:p>
          <a:p>
            <a:pPr lvl="1"/>
            <a:r>
              <a:rPr lang="en-US" dirty="0"/>
              <a:t>Good: 4</a:t>
            </a:r>
          </a:p>
          <a:p>
            <a:pPr lvl="1"/>
            <a:r>
              <a:rPr lang="en-US" dirty="0"/>
              <a:t>Ok: 7</a:t>
            </a:r>
          </a:p>
          <a:p>
            <a:pPr lvl="1"/>
            <a:r>
              <a:rPr lang="en-US" dirty="0"/>
              <a:t>Bad: 9</a:t>
            </a:r>
          </a:p>
          <a:p>
            <a:pPr lvl="1"/>
            <a:r>
              <a:rPr lang="en-US" dirty="0"/>
              <a:t>Ok or good: 55%</a:t>
            </a:r>
          </a:p>
          <a:p>
            <a:endParaRPr lang="en-US" dirty="0"/>
          </a:p>
          <a:p>
            <a:endParaRPr lang="en-US" dirty="0"/>
          </a:p>
        </p:txBody>
      </p:sp>
    </p:spTree>
    <p:extLst>
      <p:ext uri="{BB962C8B-B14F-4D97-AF65-F5344CB8AC3E}">
        <p14:creationId xmlns:p14="http://schemas.microsoft.com/office/powerpoint/2010/main" val="2793811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C7D52-CB44-2ADB-67AE-0AA8590E2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51AFA-B8BC-3D86-E467-C4B1C6D886EF}"/>
              </a:ext>
            </a:extLst>
          </p:cNvPr>
          <p:cNvSpPr>
            <a:spLocks noGrp="1"/>
          </p:cNvSpPr>
          <p:nvPr>
            <p:ph type="title"/>
          </p:nvPr>
        </p:nvSpPr>
        <p:spPr/>
        <p:txBody>
          <a:bodyPr/>
          <a:lstStyle/>
          <a:p>
            <a:r>
              <a:rPr lang="en-US" dirty="0"/>
              <a:t>Curation Manual Evaluation: Summary</a:t>
            </a:r>
          </a:p>
        </p:txBody>
      </p:sp>
      <p:sp>
        <p:nvSpPr>
          <p:cNvPr id="5" name="Content Placeholder 4">
            <a:extLst>
              <a:ext uri="{FF2B5EF4-FFF2-40B4-BE49-F238E27FC236}">
                <a16:creationId xmlns:a16="http://schemas.microsoft.com/office/drawing/2014/main" id="{2E6B45B2-6AEA-2569-CAC8-C591F2F6F4D2}"/>
              </a:ext>
            </a:extLst>
          </p:cNvPr>
          <p:cNvSpPr>
            <a:spLocks noGrp="1"/>
          </p:cNvSpPr>
          <p:nvPr>
            <p:ph idx="1"/>
          </p:nvPr>
        </p:nvSpPr>
        <p:spPr>
          <a:xfrm>
            <a:off x="838200" y="1690688"/>
            <a:ext cx="10515600" cy="4351338"/>
          </a:xfrm>
        </p:spPr>
        <p:txBody>
          <a:bodyPr>
            <a:normAutofit/>
          </a:bodyPr>
          <a:lstStyle/>
          <a:p>
            <a:pPr marL="342900" indent="-342900">
              <a:buFont typeface="+mj-lt"/>
              <a:buAutoNum type="arabicPeriod"/>
            </a:pPr>
            <a:r>
              <a:rPr lang="en-US" sz="1800" b="0" i="0" u="none" strike="noStrike" dirty="0">
                <a:solidFill>
                  <a:srgbClr val="000000"/>
                </a:solidFill>
                <a:effectLst/>
                <a:latin typeface="Arial" panose="020B0604020202020204" pitchFamily="34" charset="0"/>
              </a:rPr>
              <a:t>The source of interactions is not supported by PMIDs: may need to switch to </a:t>
            </a:r>
            <a:r>
              <a:rPr lang="en-US" sz="1800" b="0" i="0" u="none" strike="noStrike" dirty="0" err="1">
                <a:solidFill>
                  <a:srgbClr val="000000"/>
                </a:solidFill>
                <a:effectLst/>
                <a:latin typeface="Arial" panose="020B0604020202020204" pitchFamily="34" charset="0"/>
              </a:rPr>
              <a:t>IntAct</a:t>
            </a:r>
            <a:r>
              <a:rPr lang="en-US" sz="1800" b="0" i="0" u="none" strike="noStrike" dirty="0">
                <a:solidFill>
                  <a:srgbClr val="000000"/>
                </a:solidFill>
                <a:effectLst/>
                <a:latin typeface="Arial" panose="020B0604020202020204" pitchFamily="34" charset="0"/>
              </a:rPr>
              <a:t> or other manually annotated interaction data source or interactions with literature supported. Right now FIs are used, some of which are predicted. Also the interactions should be displayed together with the summary text.</a:t>
            </a:r>
          </a:p>
          <a:p>
            <a:pPr marL="342900" indent="-342900">
              <a:buFont typeface="+mj-lt"/>
              <a:buAutoNum type="arabicPeriod"/>
            </a:pPr>
            <a:r>
              <a:rPr lang="en-US" sz="1800" b="0" i="0" u="none" strike="noStrike" dirty="0">
                <a:solidFill>
                  <a:srgbClr val="000000"/>
                </a:solidFill>
                <a:effectLst/>
                <a:latin typeface="Arial" panose="020B0604020202020204" pitchFamily="34" charset="0"/>
              </a:rPr>
              <a:t>Some match between a pathway and PMID is too vague or wrong: May need to increase the threshold for semantic similarity. Also need to provide this score in the output for curators to evaluate.</a:t>
            </a:r>
          </a:p>
          <a:p>
            <a:pPr marL="342900" indent="-342900">
              <a:buFont typeface="+mj-lt"/>
              <a:buAutoNum type="arabicPeriod"/>
            </a:pPr>
            <a:r>
              <a:rPr lang="en-US" sz="1800" b="0" i="0" u="none" strike="noStrike" dirty="0">
                <a:solidFill>
                  <a:srgbClr val="000000"/>
                </a:solidFill>
                <a:effectLst/>
                <a:latin typeface="Arial" panose="020B0604020202020204" pitchFamily="34" charset="0"/>
              </a:rPr>
              <a:t>Synonyms sometimes are mixed: need to make sure they are matched.</a:t>
            </a:r>
          </a:p>
          <a:p>
            <a:pPr marL="342900" indent="-342900">
              <a:buFont typeface="+mj-lt"/>
              <a:buAutoNum type="arabicPeriod"/>
            </a:pPr>
            <a:r>
              <a:rPr lang="en-US" sz="1800" b="0" i="0" u="none" strike="noStrike" dirty="0">
                <a:solidFill>
                  <a:srgbClr val="000000"/>
                </a:solidFill>
                <a:effectLst/>
                <a:latin typeface="Arial" panose="020B0604020202020204" pitchFamily="34" charset="0"/>
              </a:rPr>
              <a:t>The output may be too high level, more like for a pathway summary, instead of focusing on the molecular mechanisms, which actually should be extracted from the full text paper as originally designed. </a:t>
            </a:r>
          </a:p>
          <a:p>
            <a:pPr marL="342900" indent="-342900">
              <a:buFont typeface="+mj-lt"/>
              <a:buAutoNum type="arabicPeriod"/>
            </a:pPr>
            <a:r>
              <a:rPr lang="en-US" sz="1800" b="0" i="0" u="none" strike="noStrike" dirty="0">
                <a:solidFill>
                  <a:srgbClr val="0070C0"/>
                </a:solidFill>
                <a:effectLst/>
                <a:latin typeface="Arial" panose="020B0604020202020204" pitchFamily="34" charset="0"/>
              </a:rPr>
              <a:t>Need to provide configurations: e.g. FI cutoff, interaction pathway cutoff, interaction data source, LLM model etc.</a:t>
            </a:r>
          </a:p>
          <a:p>
            <a:pPr marL="342900" indent="-342900">
              <a:buFont typeface="+mj-lt"/>
              <a:buAutoNum type="arabicPeriod"/>
            </a:pPr>
            <a:r>
              <a:rPr lang="en-US" sz="1800" b="0" i="0" u="none" strike="noStrike" dirty="0">
                <a:solidFill>
                  <a:srgbClr val="0070C0"/>
                </a:solidFill>
                <a:effectLst/>
                <a:latin typeface="Arial" panose="020B0604020202020204" pitchFamily="34" charset="0"/>
              </a:rPr>
              <a:t>Software bugs?</a:t>
            </a:r>
            <a:endParaRPr lang="en-US" dirty="0">
              <a:solidFill>
                <a:srgbClr val="0070C0"/>
              </a:solidFill>
            </a:endParaRPr>
          </a:p>
        </p:txBody>
      </p:sp>
    </p:spTree>
    <p:extLst>
      <p:ext uri="{BB962C8B-B14F-4D97-AF65-F5344CB8AC3E}">
        <p14:creationId xmlns:p14="http://schemas.microsoft.com/office/powerpoint/2010/main" val="2132215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E7158-6F05-F37A-6235-7CE57A8375CE}"/>
              </a:ext>
            </a:extLst>
          </p:cNvPr>
          <p:cNvSpPr>
            <a:spLocks noGrp="1"/>
          </p:cNvSpPr>
          <p:nvPr>
            <p:ph type="title"/>
          </p:nvPr>
        </p:nvSpPr>
        <p:spPr>
          <a:xfrm>
            <a:off x="12418" y="47404"/>
            <a:ext cx="12163815" cy="751275"/>
          </a:xfrm>
        </p:spPr>
        <p:txBody>
          <a:bodyPr>
            <a:normAutofit/>
          </a:bodyPr>
          <a:lstStyle/>
          <a:p>
            <a:pPr algn="ctr"/>
            <a:r>
              <a:rPr lang="en-US" dirty="0"/>
              <a:t>RAG-based Workflow for LLM App in Curator Tool</a:t>
            </a:r>
          </a:p>
        </p:txBody>
      </p:sp>
      <p:sp>
        <p:nvSpPr>
          <p:cNvPr id="5" name="Rounded Rectangle 4">
            <a:extLst>
              <a:ext uri="{FF2B5EF4-FFF2-40B4-BE49-F238E27FC236}">
                <a16:creationId xmlns:a16="http://schemas.microsoft.com/office/drawing/2014/main" id="{7CAF00C7-06EB-4601-4248-69AD55DCE2FE}"/>
              </a:ext>
            </a:extLst>
          </p:cNvPr>
          <p:cNvSpPr/>
          <p:nvPr/>
        </p:nvSpPr>
        <p:spPr>
          <a:xfrm>
            <a:off x="135238" y="316680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 not annotated</a:t>
            </a:r>
          </a:p>
        </p:txBody>
      </p:sp>
      <p:grpSp>
        <p:nvGrpSpPr>
          <p:cNvPr id="27" name="Group 26">
            <a:extLst>
              <a:ext uri="{FF2B5EF4-FFF2-40B4-BE49-F238E27FC236}">
                <a16:creationId xmlns:a16="http://schemas.microsoft.com/office/drawing/2014/main" id="{A950EA39-CAF3-5BED-EEC6-50E2DEEEF333}"/>
              </a:ext>
            </a:extLst>
          </p:cNvPr>
          <p:cNvGrpSpPr/>
          <p:nvPr/>
        </p:nvGrpSpPr>
        <p:grpSpPr>
          <a:xfrm>
            <a:off x="218063" y="4367946"/>
            <a:ext cx="1433277" cy="1254572"/>
            <a:chOff x="1034766" y="4668922"/>
            <a:chExt cx="1433277" cy="1254572"/>
          </a:xfrm>
        </p:grpSpPr>
        <p:pic>
          <p:nvPicPr>
            <p:cNvPr id="23" name="Graphic 22" descr="Database with solid fill">
              <a:extLst>
                <a:ext uri="{FF2B5EF4-FFF2-40B4-BE49-F238E27FC236}">
                  <a16:creationId xmlns:a16="http://schemas.microsoft.com/office/drawing/2014/main" id="{B26F0821-9BAB-AB38-7418-91ED018A1D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8285" y="4668922"/>
              <a:ext cx="1023257" cy="1023257"/>
            </a:xfrm>
            <a:prstGeom prst="rect">
              <a:avLst/>
            </a:prstGeom>
          </p:spPr>
        </p:pic>
        <p:sp>
          <p:nvSpPr>
            <p:cNvPr id="26" name="TextBox 25">
              <a:extLst>
                <a:ext uri="{FF2B5EF4-FFF2-40B4-BE49-F238E27FC236}">
                  <a16:creationId xmlns:a16="http://schemas.microsoft.com/office/drawing/2014/main" id="{1D666DBC-5DCE-9E0A-0155-230207FD7B96}"/>
                </a:ext>
              </a:extLst>
            </p:cNvPr>
            <p:cNvSpPr txBox="1"/>
            <p:nvPr/>
          </p:nvSpPr>
          <p:spPr>
            <a:xfrm>
              <a:off x="1034766" y="5615717"/>
              <a:ext cx="1433277" cy="307777"/>
            </a:xfrm>
            <a:prstGeom prst="rect">
              <a:avLst/>
            </a:prstGeom>
            <a:noFill/>
          </p:spPr>
          <p:txBody>
            <a:bodyPr wrap="none" rtlCol="0">
              <a:spAutoFit/>
            </a:bodyPr>
            <a:lstStyle/>
            <a:p>
              <a:r>
                <a:rPr lang="en-US" sz="1400" dirty="0" err="1"/>
                <a:t>idg.reactome.org</a:t>
              </a:r>
              <a:endParaRPr lang="en-US" sz="1400" dirty="0"/>
            </a:p>
          </p:txBody>
        </p:sp>
      </p:grpSp>
      <p:sp>
        <p:nvSpPr>
          <p:cNvPr id="33" name="Rounded Rectangle 32">
            <a:extLst>
              <a:ext uri="{FF2B5EF4-FFF2-40B4-BE49-F238E27FC236}">
                <a16:creationId xmlns:a16="http://schemas.microsoft.com/office/drawing/2014/main" id="{26FFEA9B-D6F5-554F-02A3-633660979D9B}"/>
              </a:ext>
            </a:extLst>
          </p:cNvPr>
          <p:cNvSpPr/>
          <p:nvPr/>
        </p:nvSpPr>
        <p:spPr>
          <a:xfrm>
            <a:off x="2792503"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pathways</a:t>
            </a:r>
          </a:p>
        </p:txBody>
      </p:sp>
      <p:sp>
        <p:nvSpPr>
          <p:cNvPr id="34" name="Rounded Rectangle 33">
            <a:extLst>
              <a:ext uri="{FF2B5EF4-FFF2-40B4-BE49-F238E27FC236}">
                <a16:creationId xmlns:a16="http://schemas.microsoft.com/office/drawing/2014/main" id="{7E1143DA-9B0B-D9C9-DF34-26B785EEB5CD}"/>
              </a:ext>
            </a:extLst>
          </p:cNvPr>
          <p:cNvSpPr/>
          <p:nvPr/>
        </p:nvSpPr>
        <p:spPr>
          <a:xfrm>
            <a:off x="2792503" y="4770538"/>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genes</a:t>
            </a:r>
          </a:p>
        </p:txBody>
      </p:sp>
      <p:grpSp>
        <p:nvGrpSpPr>
          <p:cNvPr id="36" name="Group 35">
            <a:extLst>
              <a:ext uri="{FF2B5EF4-FFF2-40B4-BE49-F238E27FC236}">
                <a16:creationId xmlns:a16="http://schemas.microsoft.com/office/drawing/2014/main" id="{494BD377-E68C-1157-11A6-3F2E51297F1D}"/>
              </a:ext>
            </a:extLst>
          </p:cNvPr>
          <p:cNvGrpSpPr/>
          <p:nvPr/>
        </p:nvGrpSpPr>
        <p:grpSpPr>
          <a:xfrm>
            <a:off x="5721414" y="4440213"/>
            <a:ext cx="1391663" cy="1205235"/>
            <a:chOff x="914833" y="4686385"/>
            <a:chExt cx="1391663" cy="1205235"/>
          </a:xfrm>
        </p:grpSpPr>
        <p:pic>
          <p:nvPicPr>
            <p:cNvPr id="38" name="Graphic 37" descr="Database with solid fill">
              <a:extLst>
                <a:ext uri="{FF2B5EF4-FFF2-40B4-BE49-F238E27FC236}">
                  <a16:creationId xmlns:a16="http://schemas.microsoft.com/office/drawing/2014/main" id="{D005F81C-4721-BE18-8BB0-CABC327F62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40" name="TextBox 39">
              <a:extLst>
                <a:ext uri="{FF2B5EF4-FFF2-40B4-BE49-F238E27FC236}">
                  <a16:creationId xmlns:a16="http://schemas.microsoft.com/office/drawing/2014/main" id="{CF0CE3D7-7B28-7AEF-2DB5-2BEE2703CE0F}"/>
                </a:ext>
              </a:extLst>
            </p:cNvPr>
            <p:cNvSpPr txBox="1"/>
            <p:nvPr/>
          </p:nvSpPr>
          <p:spPr>
            <a:xfrm>
              <a:off x="914833" y="5583843"/>
              <a:ext cx="1391663" cy="307777"/>
            </a:xfrm>
            <a:prstGeom prst="rect">
              <a:avLst/>
            </a:prstGeom>
            <a:noFill/>
          </p:spPr>
          <p:txBody>
            <a:bodyPr wrap="none" rtlCol="0">
              <a:spAutoFit/>
            </a:bodyPr>
            <a:lstStyle/>
            <a:p>
              <a:r>
                <a:rPr lang="en-US" sz="1400" dirty="0" err="1"/>
                <a:t>Reactome</a:t>
              </a:r>
              <a:r>
                <a:rPr lang="en-US" sz="1400" dirty="0"/>
                <a:t> Neo4j</a:t>
              </a:r>
            </a:p>
          </p:txBody>
        </p:sp>
      </p:grpSp>
      <p:grpSp>
        <p:nvGrpSpPr>
          <p:cNvPr id="60" name="Group 59">
            <a:extLst>
              <a:ext uri="{FF2B5EF4-FFF2-40B4-BE49-F238E27FC236}">
                <a16:creationId xmlns:a16="http://schemas.microsoft.com/office/drawing/2014/main" id="{163DCC3C-63E2-00E5-57B2-75A7722DED12}"/>
              </a:ext>
            </a:extLst>
          </p:cNvPr>
          <p:cNvGrpSpPr/>
          <p:nvPr/>
        </p:nvGrpSpPr>
        <p:grpSpPr>
          <a:xfrm>
            <a:off x="453827" y="1376857"/>
            <a:ext cx="1023257" cy="1182686"/>
            <a:chOff x="1099035" y="4686385"/>
            <a:chExt cx="1023257" cy="1182686"/>
          </a:xfrm>
        </p:grpSpPr>
        <p:pic>
          <p:nvPicPr>
            <p:cNvPr id="61" name="Graphic 60" descr="Database with solid fill">
              <a:extLst>
                <a:ext uri="{FF2B5EF4-FFF2-40B4-BE49-F238E27FC236}">
                  <a16:creationId xmlns:a16="http://schemas.microsoft.com/office/drawing/2014/main" id="{E5F417E2-1F57-6AC0-DFEB-D1C132ABCE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62" name="TextBox 61">
              <a:extLst>
                <a:ext uri="{FF2B5EF4-FFF2-40B4-BE49-F238E27FC236}">
                  <a16:creationId xmlns:a16="http://schemas.microsoft.com/office/drawing/2014/main" id="{DA7DC685-615D-FEBA-80C1-F8310F400EFC}"/>
                </a:ext>
              </a:extLst>
            </p:cNvPr>
            <p:cNvSpPr txBox="1"/>
            <p:nvPr/>
          </p:nvSpPr>
          <p:spPr>
            <a:xfrm>
              <a:off x="1208148" y="5561294"/>
              <a:ext cx="805029" cy="307777"/>
            </a:xfrm>
            <a:prstGeom prst="rect">
              <a:avLst/>
            </a:prstGeom>
            <a:noFill/>
          </p:spPr>
          <p:txBody>
            <a:bodyPr wrap="none" rtlCol="0">
              <a:spAutoFit/>
            </a:bodyPr>
            <a:lstStyle/>
            <a:p>
              <a:r>
                <a:rPr lang="en-US" sz="1400" dirty="0"/>
                <a:t>PubMed</a:t>
              </a:r>
            </a:p>
          </p:txBody>
        </p:sp>
      </p:grpSp>
      <p:sp>
        <p:nvSpPr>
          <p:cNvPr id="73" name="Rounded Rectangle 72">
            <a:extLst>
              <a:ext uri="{FF2B5EF4-FFF2-40B4-BE49-F238E27FC236}">
                <a16:creationId xmlns:a16="http://schemas.microsoft.com/office/drawing/2014/main" id="{8BEB1A07-80EB-3FC6-635D-D665E7A5FEA4}"/>
              </a:ext>
            </a:extLst>
          </p:cNvPr>
          <p:cNvSpPr/>
          <p:nvPr/>
        </p:nvSpPr>
        <p:spPr>
          <a:xfrm>
            <a:off x="2792503" y="1683755"/>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Genes-related Abstracts</a:t>
            </a:r>
          </a:p>
        </p:txBody>
      </p:sp>
      <p:sp>
        <p:nvSpPr>
          <p:cNvPr id="74" name="Rounded Rectangle 73">
            <a:extLst>
              <a:ext uri="{FF2B5EF4-FFF2-40B4-BE49-F238E27FC236}">
                <a16:creationId xmlns:a16="http://schemas.microsoft.com/office/drawing/2014/main" id="{A5592DB2-0098-A29E-C89D-8CC35C116AD3}"/>
              </a:ext>
            </a:extLst>
          </p:cNvPr>
          <p:cNvSpPr/>
          <p:nvPr/>
        </p:nvSpPr>
        <p:spPr>
          <a:xfrm>
            <a:off x="5590993" y="16785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Pathway-matched Abstracts</a:t>
            </a:r>
          </a:p>
        </p:txBody>
      </p:sp>
      <p:sp>
        <p:nvSpPr>
          <p:cNvPr id="75" name="Rounded Rectangle 74">
            <a:extLst>
              <a:ext uri="{FF2B5EF4-FFF2-40B4-BE49-F238E27FC236}">
                <a16:creationId xmlns:a16="http://schemas.microsoft.com/office/drawing/2014/main" id="{6C3ED3E1-22F8-4CE1-2442-EDBE91C7F69F}"/>
              </a:ext>
            </a:extLst>
          </p:cNvPr>
          <p:cNvSpPr/>
          <p:nvPr/>
        </p:nvSpPr>
        <p:spPr>
          <a:xfrm>
            <a:off x="9191981" y="5779322"/>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Final Summary</a:t>
            </a:r>
          </a:p>
        </p:txBody>
      </p:sp>
      <p:sp>
        <p:nvSpPr>
          <p:cNvPr id="76" name="Rounded Rectangle 75">
            <a:extLst>
              <a:ext uri="{FF2B5EF4-FFF2-40B4-BE49-F238E27FC236}">
                <a16:creationId xmlns:a16="http://schemas.microsoft.com/office/drawing/2014/main" id="{4773BDD7-E43C-6541-46B7-8B090977DF96}"/>
              </a:ext>
            </a:extLst>
          </p:cNvPr>
          <p:cNvSpPr/>
          <p:nvPr/>
        </p:nvSpPr>
        <p:spPr>
          <a:xfrm>
            <a:off x="9191983" y="2247399"/>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Abstract &amp; Pathway Summary</a:t>
            </a:r>
          </a:p>
        </p:txBody>
      </p:sp>
      <p:sp>
        <p:nvSpPr>
          <p:cNvPr id="83" name="Rounded Rectangle 82">
            <a:extLst>
              <a:ext uri="{FF2B5EF4-FFF2-40B4-BE49-F238E27FC236}">
                <a16:creationId xmlns:a16="http://schemas.microsoft.com/office/drawing/2014/main" id="{4E0B1EF8-E0B1-2354-B2B4-2AA346EBE932}"/>
              </a:ext>
            </a:extLst>
          </p:cNvPr>
          <p:cNvSpPr/>
          <p:nvPr/>
        </p:nvSpPr>
        <p:spPr>
          <a:xfrm>
            <a:off x="5594286"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 Summaries</a:t>
            </a:r>
          </a:p>
        </p:txBody>
      </p:sp>
      <p:sp>
        <p:nvSpPr>
          <p:cNvPr id="84" name="Rounded Rectangle 83">
            <a:extLst>
              <a:ext uri="{FF2B5EF4-FFF2-40B4-BE49-F238E27FC236}">
                <a16:creationId xmlns:a16="http://schemas.microsoft.com/office/drawing/2014/main" id="{7E8BDD5A-B748-336D-9F56-EB55D9DB6BED}"/>
              </a:ext>
            </a:extLst>
          </p:cNvPr>
          <p:cNvSpPr/>
          <p:nvPr/>
        </p:nvSpPr>
        <p:spPr>
          <a:xfrm>
            <a:off x="8417914" y="1015859"/>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5" name="Rounded Rectangle 84">
            <a:extLst>
              <a:ext uri="{FF2B5EF4-FFF2-40B4-BE49-F238E27FC236}">
                <a16:creationId xmlns:a16="http://schemas.microsoft.com/office/drawing/2014/main" id="{74EF3E92-34A0-6280-A290-C58901B84284}"/>
              </a:ext>
            </a:extLst>
          </p:cNvPr>
          <p:cNvSpPr/>
          <p:nvPr/>
        </p:nvSpPr>
        <p:spPr>
          <a:xfrm>
            <a:off x="9503314" y="3543484"/>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6" name="Rounded Rectangle 85">
            <a:extLst>
              <a:ext uri="{FF2B5EF4-FFF2-40B4-BE49-F238E27FC236}">
                <a16:creationId xmlns:a16="http://schemas.microsoft.com/office/drawing/2014/main" id="{A55231FB-DCEF-E6B7-37D2-0D46C7587985}"/>
              </a:ext>
            </a:extLst>
          </p:cNvPr>
          <p:cNvSpPr/>
          <p:nvPr/>
        </p:nvSpPr>
        <p:spPr>
          <a:xfrm>
            <a:off x="9503313" y="4690496"/>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87" name="Rounded Rectangle 86">
            <a:extLst>
              <a:ext uri="{FF2B5EF4-FFF2-40B4-BE49-F238E27FC236}">
                <a16:creationId xmlns:a16="http://schemas.microsoft.com/office/drawing/2014/main" id="{BA2E4968-A6DD-6C1C-C813-6C537287E20C}"/>
              </a:ext>
            </a:extLst>
          </p:cNvPr>
          <p:cNvSpPr/>
          <p:nvPr/>
        </p:nvSpPr>
        <p:spPr>
          <a:xfrm>
            <a:off x="10573657" y="1015859"/>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cxnSp>
        <p:nvCxnSpPr>
          <p:cNvPr id="91" name="Straight Arrow Connector 90">
            <a:extLst>
              <a:ext uri="{FF2B5EF4-FFF2-40B4-BE49-F238E27FC236}">
                <a16:creationId xmlns:a16="http://schemas.microsoft.com/office/drawing/2014/main" id="{9E8AF6BC-6ABB-AD82-E947-66B3B00D3D31}"/>
              </a:ext>
            </a:extLst>
          </p:cNvPr>
          <p:cNvCxnSpPr>
            <a:stCxn id="5" idx="0"/>
            <a:endCxn id="62" idx="2"/>
          </p:cNvCxnSpPr>
          <p:nvPr/>
        </p:nvCxnSpPr>
        <p:spPr>
          <a:xfrm flipV="1">
            <a:off x="958198" y="2559543"/>
            <a:ext cx="7257" cy="6072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4438A468-12FF-C009-414F-51923A78A951}"/>
              </a:ext>
            </a:extLst>
          </p:cNvPr>
          <p:cNvCxnSpPr>
            <a:cxnSpLocks/>
            <a:stCxn id="5" idx="2"/>
            <a:endCxn id="23" idx="0"/>
          </p:cNvCxnSpPr>
          <p:nvPr/>
        </p:nvCxnSpPr>
        <p:spPr>
          <a:xfrm flipH="1">
            <a:off x="953211" y="3689491"/>
            <a:ext cx="4987" cy="67845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6D89232D-7B4D-EDEA-CA14-00EF2A418A0F}"/>
              </a:ext>
            </a:extLst>
          </p:cNvPr>
          <p:cNvCxnSpPr>
            <a:cxnSpLocks/>
            <a:endCxn id="73" idx="1"/>
          </p:cNvCxnSpPr>
          <p:nvPr/>
        </p:nvCxnSpPr>
        <p:spPr>
          <a:xfrm>
            <a:off x="1367969" y="1945100"/>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98E6C1FC-4AA0-04C8-AB86-E0B68ED1B111}"/>
              </a:ext>
            </a:extLst>
          </p:cNvPr>
          <p:cNvCxnSpPr>
            <a:cxnSpLocks/>
            <a:endCxn id="33" idx="2"/>
          </p:cNvCxnSpPr>
          <p:nvPr/>
        </p:nvCxnSpPr>
        <p:spPr>
          <a:xfrm flipV="1">
            <a:off x="1367969" y="3714441"/>
            <a:ext cx="2247494" cy="799502"/>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FBC033AF-7006-C26B-A298-4F0A8E068516}"/>
              </a:ext>
            </a:extLst>
          </p:cNvPr>
          <p:cNvCxnSpPr>
            <a:cxnSpLocks/>
            <a:endCxn id="34" idx="1"/>
          </p:cNvCxnSpPr>
          <p:nvPr/>
        </p:nvCxnSpPr>
        <p:spPr>
          <a:xfrm>
            <a:off x="1367969" y="5031883"/>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 name="Elbow Connector 106">
            <a:extLst>
              <a:ext uri="{FF2B5EF4-FFF2-40B4-BE49-F238E27FC236}">
                <a16:creationId xmlns:a16="http://schemas.microsoft.com/office/drawing/2014/main" id="{4151C00B-84C3-F946-A0C0-F755F4B79B38}"/>
              </a:ext>
            </a:extLst>
          </p:cNvPr>
          <p:cNvCxnSpPr>
            <a:stCxn id="33" idx="3"/>
          </p:cNvCxnSpPr>
          <p:nvPr/>
        </p:nvCxnSpPr>
        <p:spPr>
          <a:xfrm>
            <a:off x="4438423" y="3453096"/>
            <a:ext cx="1592263" cy="1578787"/>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C535A14B-A9A0-22E5-15F9-87C43FA7EACA}"/>
              </a:ext>
            </a:extLst>
          </p:cNvPr>
          <p:cNvCxnSpPr>
            <a:cxnSpLocks/>
            <a:endCxn id="83" idx="2"/>
          </p:cNvCxnSpPr>
          <p:nvPr/>
        </p:nvCxnSpPr>
        <p:spPr>
          <a:xfrm flipV="1">
            <a:off x="6417246" y="3714441"/>
            <a:ext cx="0" cy="7257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B9BF119-C42D-65C8-81D2-1923855049B6}"/>
              </a:ext>
            </a:extLst>
          </p:cNvPr>
          <p:cNvCxnSpPr>
            <a:stCxn id="73" idx="3"/>
            <a:endCxn id="74" idx="1"/>
          </p:cNvCxnSpPr>
          <p:nvPr/>
        </p:nvCxnSpPr>
        <p:spPr>
          <a:xfrm flipV="1">
            <a:off x="4438423" y="1939896"/>
            <a:ext cx="1152570" cy="52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EF6A457D-F3F7-DCF0-542F-0C0FB8E494EC}"/>
              </a:ext>
            </a:extLst>
          </p:cNvPr>
          <p:cNvCxnSpPr>
            <a:stCxn id="83" idx="0"/>
            <a:endCxn id="74" idx="2"/>
          </p:cNvCxnSpPr>
          <p:nvPr/>
        </p:nvCxnSpPr>
        <p:spPr>
          <a:xfrm flipH="1" flipV="1">
            <a:off x="6413953" y="2201241"/>
            <a:ext cx="3293" cy="9905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4AFD4AA7-8327-8CC6-BB5C-465BF6E1AFA0}"/>
              </a:ext>
            </a:extLst>
          </p:cNvPr>
          <p:cNvCxnSpPr>
            <a:stCxn id="74" idx="3"/>
            <a:endCxn id="84" idx="1"/>
          </p:cNvCxnSpPr>
          <p:nvPr/>
        </p:nvCxnSpPr>
        <p:spPr>
          <a:xfrm flipV="1">
            <a:off x="7236913" y="1277204"/>
            <a:ext cx="1181001" cy="66269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9165B174-0943-754C-3774-4893717EC286}"/>
              </a:ext>
            </a:extLst>
          </p:cNvPr>
          <p:cNvCxnSpPr>
            <a:stCxn id="84" idx="3"/>
            <a:endCxn id="87" idx="1"/>
          </p:cNvCxnSpPr>
          <p:nvPr/>
        </p:nvCxnSpPr>
        <p:spPr>
          <a:xfrm>
            <a:off x="9441171" y="1277204"/>
            <a:ext cx="113248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Elbow Connector 127">
            <a:extLst>
              <a:ext uri="{FF2B5EF4-FFF2-40B4-BE49-F238E27FC236}">
                <a16:creationId xmlns:a16="http://schemas.microsoft.com/office/drawing/2014/main" id="{32D3FD4B-001A-DB81-D9AF-DBA6C2FE0EBF}"/>
              </a:ext>
            </a:extLst>
          </p:cNvPr>
          <p:cNvCxnSpPr>
            <a:stCxn id="87" idx="2"/>
            <a:endCxn id="76" idx="0"/>
          </p:cNvCxnSpPr>
          <p:nvPr/>
        </p:nvCxnSpPr>
        <p:spPr>
          <a:xfrm rot="5400000">
            <a:off x="10195690" y="1357803"/>
            <a:ext cx="708850" cy="107034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44A0E26F-CC86-D1F7-B5CC-1DA03A1117EA}"/>
              </a:ext>
            </a:extLst>
          </p:cNvPr>
          <p:cNvCxnSpPr>
            <a:stCxn id="76" idx="2"/>
            <a:endCxn id="85" idx="0"/>
          </p:cNvCxnSpPr>
          <p:nvPr/>
        </p:nvCxnSpPr>
        <p:spPr>
          <a:xfrm>
            <a:off x="10014943" y="2770089"/>
            <a:ext cx="0" cy="77339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D36503E3-B42D-5DFD-A94E-66ED8C8C909A}"/>
              </a:ext>
            </a:extLst>
          </p:cNvPr>
          <p:cNvCxnSpPr>
            <a:stCxn id="85" idx="2"/>
            <a:endCxn id="86" idx="0"/>
          </p:cNvCxnSpPr>
          <p:nvPr/>
        </p:nvCxnSpPr>
        <p:spPr>
          <a:xfrm flipH="1">
            <a:off x="10014942" y="4066174"/>
            <a:ext cx="1" cy="6243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5522FA05-F1DC-34DC-664F-023051E39DF2}"/>
              </a:ext>
            </a:extLst>
          </p:cNvPr>
          <p:cNvCxnSpPr>
            <a:stCxn id="86" idx="2"/>
            <a:endCxn id="75" idx="0"/>
          </p:cNvCxnSpPr>
          <p:nvPr/>
        </p:nvCxnSpPr>
        <p:spPr>
          <a:xfrm flipH="1">
            <a:off x="10014941" y="5213186"/>
            <a:ext cx="1" cy="5661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99">
            <a:extLst>
              <a:ext uri="{FF2B5EF4-FFF2-40B4-BE49-F238E27FC236}">
                <a16:creationId xmlns:a16="http://schemas.microsoft.com/office/drawing/2014/main" id="{C01ADD1F-BCD3-3B58-82F7-3EFEB4FDA8A3}"/>
              </a:ext>
            </a:extLst>
          </p:cNvPr>
          <p:cNvCxnSpPr>
            <a:cxnSpLocks/>
            <a:stCxn id="34" idx="2"/>
            <a:endCxn id="84" idx="2"/>
          </p:cNvCxnSpPr>
          <p:nvPr/>
        </p:nvCxnSpPr>
        <p:spPr>
          <a:xfrm rot="5400000" flipH="1" flipV="1">
            <a:off x="4395163" y="758849"/>
            <a:ext cx="3754679" cy="5314080"/>
          </a:xfrm>
          <a:prstGeom prst="bentConnector3">
            <a:avLst>
              <a:gd name="adj1" fmla="val -10147"/>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46A70412-E0C1-02C2-F29A-C3454D9CB08E}"/>
              </a:ext>
            </a:extLst>
          </p:cNvPr>
          <p:cNvSpPr txBox="1"/>
          <p:nvPr/>
        </p:nvSpPr>
        <p:spPr>
          <a:xfrm>
            <a:off x="7997371" y="1015859"/>
            <a:ext cx="300082" cy="369332"/>
          </a:xfrm>
          <a:prstGeom prst="rect">
            <a:avLst/>
          </a:prstGeom>
          <a:noFill/>
        </p:spPr>
        <p:txBody>
          <a:bodyPr wrap="none" rtlCol="0">
            <a:spAutoFit/>
          </a:bodyPr>
          <a:lstStyle/>
          <a:p>
            <a:r>
              <a:rPr lang="en-US" dirty="0"/>
              <a:t>*</a:t>
            </a:r>
          </a:p>
        </p:txBody>
      </p:sp>
      <p:sp>
        <p:nvSpPr>
          <p:cNvPr id="140" name="TextBox 139">
            <a:extLst>
              <a:ext uri="{FF2B5EF4-FFF2-40B4-BE49-F238E27FC236}">
                <a16:creationId xmlns:a16="http://schemas.microsoft.com/office/drawing/2014/main" id="{F5B76126-4511-B7D3-CB77-CFB408C622D7}"/>
              </a:ext>
            </a:extLst>
          </p:cNvPr>
          <p:cNvSpPr txBox="1"/>
          <p:nvPr/>
        </p:nvSpPr>
        <p:spPr>
          <a:xfrm>
            <a:off x="7785269" y="1262725"/>
            <a:ext cx="694421" cy="276999"/>
          </a:xfrm>
          <a:prstGeom prst="rect">
            <a:avLst/>
          </a:prstGeom>
          <a:noFill/>
        </p:spPr>
        <p:txBody>
          <a:bodyPr wrap="none" rtlCol="0">
            <a:spAutoFit/>
          </a:bodyPr>
          <a:lstStyle/>
          <a:p>
            <a:r>
              <a:rPr lang="en-US" sz="1200" dirty="0"/>
              <a:t>for each</a:t>
            </a:r>
          </a:p>
        </p:txBody>
      </p:sp>
      <p:cxnSp>
        <p:nvCxnSpPr>
          <p:cNvPr id="141" name="Straight Arrow Connector 99">
            <a:extLst>
              <a:ext uri="{FF2B5EF4-FFF2-40B4-BE49-F238E27FC236}">
                <a16:creationId xmlns:a16="http://schemas.microsoft.com/office/drawing/2014/main" id="{3B0F7699-7F9B-DF70-9D92-EF05D768E336}"/>
              </a:ext>
            </a:extLst>
          </p:cNvPr>
          <p:cNvCxnSpPr>
            <a:cxnSpLocks/>
            <a:stCxn id="34" idx="2"/>
            <a:endCxn id="85" idx="1"/>
          </p:cNvCxnSpPr>
          <p:nvPr/>
        </p:nvCxnSpPr>
        <p:spPr>
          <a:xfrm rot="5400000" flipH="1" flipV="1">
            <a:off x="5815188" y="1605103"/>
            <a:ext cx="1488399" cy="5887851"/>
          </a:xfrm>
          <a:prstGeom prst="bentConnector4">
            <a:avLst>
              <a:gd name="adj1" fmla="val -25111"/>
              <a:gd name="adj2" fmla="val 90268"/>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9ABA7FB5-84A6-D29C-3489-C03E28264194}"/>
              </a:ext>
            </a:extLst>
          </p:cNvPr>
          <p:cNvSpPr txBox="1"/>
          <p:nvPr/>
        </p:nvSpPr>
        <p:spPr>
          <a:xfrm>
            <a:off x="9985643" y="3025609"/>
            <a:ext cx="1138581" cy="276999"/>
          </a:xfrm>
          <a:prstGeom prst="rect">
            <a:avLst/>
          </a:prstGeom>
          <a:noFill/>
        </p:spPr>
        <p:txBody>
          <a:bodyPr wrap="none" rtlCol="0">
            <a:spAutoFit/>
          </a:bodyPr>
          <a:lstStyle/>
          <a:p>
            <a:r>
              <a:rPr lang="en-US" sz="1200" dirty="0"/>
              <a:t>merge into one</a:t>
            </a:r>
          </a:p>
        </p:txBody>
      </p:sp>
      <p:sp>
        <p:nvSpPr>
          <p:cNvPr id="147" name="TextBox 146">
            <a:extLst>
              <a:ext uri="{FF2B5EF4-FFF2-40B4-BE49-F238E27FC236}">
                <a16:creationId xmlns:a16="http://schemas.microsoft.com/office/drawing/2014/main" id="{8B988A26-5516-A551-C8E7-BE25DDE0CC3C}"/>
              </a:ext>
            </a:extLst>
          </p:cNvPr>
          <p:cNvSpPr txBox="1"/>
          <p:nvPr/>
        </p:nvSpPr>
        <p:spPr>
          <a:xfrm>
            <a:off x="28185" y="6387996"/>
            <a:ext cx="1131079" cy="400110"/>
          </a:xfrm>
          <a:prstGeom prst="rect">
            <a:avLst/>
          </a:prstGeom>
          <a:noFill/>
        </p:spPr>
        <p:txBody>
          <a:bodyPr wrap="none" rtlCol="0">
            <a:spAutoFit/>
          </a:bodyPr>
          <a:lstStyle/>
          <a:p>
            <a:r>
              <a:rPr lang="en-US" sz="2000" b="1" u="sng" dirty="0"/>
              <a:t>Retrieval</a:t>
            </a:r>
          </a:p>
        </p:txBody>
      </p:sp>
      <p:sp>
        <p:nvSpPr>
          <p:cNvPr id="148" name="TextBox 147">
            <a:extLst>
              <a:ext uri="{FF2B5EF4-FFF2-40B4-BE49-F238E27FC236}">
                <a16:creationId xmlns:a16="http://schemas.microsoft.com/office/drawing/2014/main" id="{802B507E-37DF-0EC7-336B-00D99E81FA1F}"/>
              </a:ext>
            </a:extLst>
          </p:cNvPr>
          <p:cNvSpPr txBox="1"/>
          <p:nvPr/>
        </p:nvSpPr>
        <p:spPr>
          <a:xfrm>
            <a:off x="10673487" y="6387996"/>
            <a:ext cx="1382110" cy="400110"/>
          </a:xfrm>
          <a:prstGeom prst="rect">
            <a:avLst/>
          </a:prstGeom>
          <a:noFill/>
        </p:spPr>
        <p:txBody>
          <a:bodyPr wrap="none" rtlCol="0">
            <a:spAutoFit/>
          </a:bodyPr>
          <a:lstStyle/>
          <a:p>
            <a:r>
              <a:rPr lang="en-US" sz="2000" b="1" u="sng" dirty="0"/>
              <a:t>Generation</a:t>
            </a:r>
          </a:p>
        </p:txBody>
      </p:sp>
    </p:spTree>
    <p:extLst>
      <p:ext uri="{BB962C8B-B14F-4D97-AF65-F5344CB8AC3E}">
        <p14:creationId xmlns:p14="http://schemas.microsoft.com/office/powerpoint/2010/main" val="2188948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9C90A-8E7C-3C14-A543-6E8384632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5768E-26C2-6929-A797-07034D7AC7A2}"/>
              </a:ext>
            </a:extLst>
          </p:cNvPr>
          <p:cNvSpPr>
            <a:spLocks noGrp="1"/>
          </p:cNvSpPr>
          <p:nvPr>
            <p:ph type="title"/>
          </p:nvPr>
        </p:nvSpPr>
        <p:spPr>
          <a:xfrm>
            <a:off x="12418" y="47404"/>
            <a:ext cx="12163815" cy="751275"/>
          </a:xfrm>
        </p:spPr>
        <p:txBody>
          <a:bodyPr>
            <a:normAutofit/>
          </a:bodyPr>
          <a:lstStyle/>
          <a:p>
            <a:pPr algn="ctr"/>
            <a:r>
              <a:rPr lang="en-US" dirty="0"/>
              <a:t>RAG-based Workflow for LLM App in Curator Tool</a:t>
            </a:r>
          </a:p>
        </p:txBody>
      </p:sp>
      <p:sp>
        <p:nvSpPr>
          <p:cNvPr id="5" name="Rounded Rectangle 4">
            <a:extLst>
              <a:ext uri="{FF2B5EF4-FFF2-40B4-BE49-F238E27FC236}">
                <a16:creationId xmlns:a16="http://schemas.microsoft.com/office/drawing/2014/main" id="{9D494F55-7541-AE5C-D180-3038F54DEFFF}"/>
              </a:ext>
            </a:extLst>
          </p:cNvPr>
          <p:cNvSpPr/>
          <p:nvPr/>
        </p:nvSpPr>
        <p:spPr>
          <a:xfrm>
            <a:off x="135238" y="316680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 not annotated</a:t>
            </a:r>
          </a:p>
        </p:txBody>
      </p:sp>
      <p:grpSp>
        <p:nvGrpSpPr>
          <p:cNvPr id="27" name="Group 26">
            <a:extLst>
              <a:ext uri="{FF2B5EF4-FFF2-40B4-BE49-F238E27FC236}">
                <a16:creationId xmlns:a16="http://schemas.microsoft.com/office/drawing/2014/main" id="{55A1284C-3750-A076-69DC-BE1C20ADB72A}"/>
              </a:ext>
            </a:extLst>
          </p:cNvPr>
          <p:cNvGrpSpPr/>
          <p:nvPr/>
        </p:nvGrpSpPr>
        <p:grpSpPr>
          <a:xfrm>
            <a:off x="218063" y="4367946"/>
            <a:ext cx="1433277" cy="1254572"/>
            <a:chOff x="1034766" y="4668922"/>
            <a:chExt cx="1433277" cy="1254572"/>
          </a:xfrm>
        </p:grpSpPr>
        <p:pic>
          <p:nvPicPr>
            <p:cNvPr id="23" name="Graphic 22" descr="Database with solid fill">
              <a:extLst>
                <a:ext uri="{FF2B5EF4-FFF2-40B4-BE49-F238E27FC236}">
                  <a16:creationId xmlns:a16="http://schemas.microsoft.com/office/drawing/2014/main" id="{F46642B5-182F-44ED-AD36-D581409E67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8285" y="4668922"/>
              <a:ext cx="1023257" cy="1023257"/>
            </a:xfrm>
            <a:prstGeom prst="rect">
              <a:avLst/>
            </a:prstGeom>
          </p:spPr>
        </p:pic>
        <p:sp>
          <p:nvSpPr>
            <p:cNvPr id="26" name="TextBox 25">
              <a:extLst>
                <a:ext uri="{FF2B5EF4-FFF2-40B4-BE49-F238E27FC236}">
                  <a16:creationId xmlns:a16="http://schemas.microsoft.com/office/drawing/2014/main" id="{E30EBAFD-5203-0219-C575-5E8765CDA859}"/>
                </a:ext>
              </a:extLst>
            </p:cNvPr>
            <p:cNvSpPr txBox="1"/>
            <p:nvPr/>
          </p:nvSpPr>
          <p:spPr>
            <a:xfrm>
              <a:off x="1034766" y="5615717"/>
              <a:ext cx="1433277" cy="307777"/>
            </a:xfrm>
            <a:prstGeom prst="rect">
              <a:avLst/>
            </a:prstGeom>
            <a:noFill/>
          </p:spPr>
          <p:txBody>
            <a:bodyPr wrap="none" rtlCol="0">
              <a:spAutoFit/>
            </a:bodyPr>
            <a:lstStyle/>
            <a:p>
              <a:r>
                <a:rPr lang="en-US" sz="1400" dirty="0" err="1"/>
                <a:t>idg.reactome.org</a:t>
              </a:r>
              <a:endParaRPr lang="en-US" sz="1400" dirty="0"/>
            </a:p>
          </p:txBody>
        </p:sp>
      </p:grpSp>
      <p:sp>
        <p:nvSpPr>
          <p:cNvPr id="33" name="Rounded Rectangle 32">
            <a:extLst>
              <a:ext uri="{FF2B5EF4-FFF2-40B4-BE49-F238E27FC236}">
                <a16:creationId xmlns:a16="http://schemas.microsoft.com/office/drawing/2014/main" id="{ABD6BD35-B46B-1655-A09A-C5F300E366D6}"/>
              </a:ext>
            </a:extLst>
          </p:cNvPr>
          <p:cNvSpPr/>
          <p:nvPr/>
        </p:nvSpPr>
        <p:spPr>
          <a:xfrm>
            <a:off x="2792503"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pathways</a:t>
            </a:r>
          </a:p>
        </p:txBody>
      </p:sp>
      <p:sp>
        <p:nvSpPr>
          <p:cNvPr id="34" name="Rounded Rectangle 33">
            <a:extLst>
              <a:ext uri="{FF2B5EF4-FFF2-40B4-BE49-F238E27FC236}">
                <a16:creationId xmlns:a16="http://schemas.microsoft.com/office/drawing/2014/main" id="{B7EDE73E-6E97-844F-F377-42142696355D}"/>
              </a:ext>
            </a:extLst>
          </p:cNvPr>
          <p:cNvSpPr/>
          <p:nvPr/>
        </p:nvSpPr>
        <p:spPr>
          <a:xfrm>
            <a:off x="2792503" y="4770538"/>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genes</a:t>
            </a:r>
          </a:p>
        </p:txBody>
      </p:sp>
      <p:grpSp>
        <p:nvGrpSpPr>
          <p:cNvPr id="36" name="Group 35">
            <a:extLst>
              <a:ext uri="{FF2B5EF4-FFF2-40B4-BE49-F238E27FC236}">
                <a16:creationId xmlns:a16="http://schemas.microsoft.com/office/drawing/2014/main" id="{7F73D56D-6838-669F-A99A-687B193C85E5}"/>
              </a:ext>
            </a:extLst>
          </p:cNvPr>
          <p:cNvGrpSpPr/>
          <p:nvPr/>
        </p:nvGrpSpPr>
        <p:grpSpPr>
          <a:xfrm>
            <a:off x="5721414" y="4440213"/>
            <a:ext cx="1391663" cy="1205235"/>
            <a:chOff x="914833" y="4686385"/>
            <a:chExt cx="1391663" cy="1205235"/>
          </a:xfrm>
        </p:grpSpPr>
        <p:pic>
          <p:nvPicPr>
            <p:cNvPr id="38" name="Graphic 37" descr="Database with solid fill">
              <a:extLst>
                <a:ext uri="{FF2B5EF4-FFF2-40B4-BE49-F238E27FC236}">
                  <a16:creationId xmlns:a16="http://schemas.microsoft.com/office/drawing/2014/main" id="{E83EEA9F-83D0-E766-00F6-5F028FC5BE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40" name="TextBox 39">
              <a:extLst>
                <a:ext uri="{FF2B5EF4-FFF2-40B4-BE49-F238E27FC236}">
                  <a16:creationId xmlns:a16="http://schemas.microsoft.com/office/drawing/2014/main" id="{B6840667-4FAE-A33B-7907-077DCB1524C1}"/>
                </a:ext>
              </a:extLst>
            </p:cNvPr>
            <p:cNvSpPr txBox="1"/>
            <p:nvPr/>
          </p:nvSpPr>
          <p:spPr>
            <a:xfrm>
              <a:off x="914833" y="5583843"/>
              <a:ext cx="1391663" cy="307777"/>
            </a:xfrm>
            <a:prstGeom prst="rect">
              <a:avLst/>
            </a:prstGeom>
            <a:noFill/>
          </p:spPr>
          <p:txBody>
            <a:bodyPr wrap="none" rtlCol="0">
              <a:spAutoFit/>
            </a:bodyPr>
            <a:lstStyle/>
            <a:p>
              <a:r>
                <a:rPr lang="en-US" sz="1400" dirty="0" err="1"/>
                <a:t>Reactome</a:t>
              </a:r>
              <a:r>
                <a:rPr lang="en-US" sz="1400" dirty="0"/>
                <a:t> Neo4j</a:t>
              </a:r>
            </a:p>
          </p:txBody>
        </p:sp>
      </p:grpSp>
      <p:grpSp>
        <p:nvGrpSpPr>
          <p:cNvPr id="60" name="Group 59">
            <a:extLst>
              <a:ext uri="{FF2B5EF4-FFF2-40B4-BE49-F238E27FC236}">
                <a16:creationId xmlns:a16="http://schemas.microsoft.com/office/drawing/2014/main" id="{1133BAE8-4D2C-A08E-9B73-85D5F0209625}"/>
              </a:ext>
            </a:extLst>
          </p:cNvPr>
          <p:cNvGrpSpPr/>
          <p:nvPr/>
        </p:nvGrpSpPr>
        <p:grpSpPr>
          <a:xfrm>
            <a:off x="453827" y="1376857"/>
            <a:ext cx="1023257" cy="1182686"/>
            <a:chOff x="1099035" y="4686385"/>
            <a:chExt cx="1023257" cy="1182686"/>
          </a:xfrm>
        </p:grpSpPr>
        <p:pic>
          <p:nvPicPr>
            <p:cNvPr id="61" name="Graphic 60" descr="Database with solid fill">
              <a:extLst>
                <a:ext uri="{FF2B5EF4-FFF2-40B4-BE49-F238E27FC236}">
                  <a16:creationId xmlns:a16="http://schemas.microsoft.com/office/drawing/2014/main" id="{5BDB5E16-E03C-EB74-F27A-224A472EDD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62" name="TextBox 61">
              <a:extLst>
                <a:ext uri="{FF2B5EF4-FFF2-40B4-BE49-F238E27FC236}">
                  <a16:creationId xmlns:a16="http://schemas.microsoft.com/office/drawing/2014/main" id="{CC2514DB-B6CC-D1A1-F4C7-8DE1ADBCC4BC}"/>
                </a:ext>
              </a:extLst>
            </p:cNvPr>
            <p:cNvSpPr txBox="1"/>
            <p:nvPr/>
          </p:nvSpPr>
          <p:spPr>
            <a:xfrm>
              <a:off x="1208148" y="5561294"/>
              <a:ext cx="805029" cy="307777"/>
            </a:xfrm>
            <a:prstGeom prst="rect">
              <a:avLst/>
            </a:prstGeom>
            <a:noFill/>
          </p:spPr>
          <p:txBody>
            <a:bodyPr wrap="none" rtlCol="0">
              <a:spAutoFit/>
            </a:bodyPr>
            <a:lstStyle/>
            <a:p>
              <a:r>
                <a:rPr lang="en-US" sz="1400" dirty="0"/>
                <a:t>PubMed</a:t>
              </a:r>
            </a:p>
          </p:txBody>
        </p:sp>
      </p:grpSp>
      <p:sp>
        <p:nvSpPr>
          <p:cNvPr id="73" name="Rounded Rectangle 72">
            <a:extLst>
              <a:ext uri="{FF2B5EF4-FFF2-40B4-BE49-F238E27FC236}">
                <a16:creationId xmlns:a16="http://schemas.microsoft.com/office/drawing/2014/main" id="{41A00658-85E8-9AA0-6624-8680E188E2AA}"/>
              </a:ext>
            </a:extLst>
          </p:cNvPr>
          <p:cNvSpPr/>
          <p:nvPr/>
        </p:nvSpPr>
        <p:spPr>
          <a:xfrm>
            <a:off x="2792503" y="1683755"/>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Genes-related Abstracts</a:t>
            </a:r>
          </a:p>
        </p:txBody>
      </p:sp>
      <p:sp>
        <p:nvSpPr>
          <p:cNvPr id="74" name="Rounded Rectangle 73">
            <a:extLst>
              <a:ext uri="{FF2B5EF4-FFF2-40B4-BE49-F238E27FC236}">
                <a16:creationId xmlns:a16="http://schemas.microsoft.com/office/drawing/2014/main" id="{570DBBA3-9B1F-CE64-F0FD-B6E8A0797B9C}"/>
              </a:ext>
            </a:extLst>
          </p:cNvPr>
          <p:cNvSpPr/>
          <p:nvPr/>
        </p:nvSpPr>
        <p:spPr>
          <a:xfrm>
            <a:off x="5590993" y="16785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Pathway-matched Abstracts</a:t>
            </a:r>
          </a:p>
        </p:txBody>
      </p:sp>
      <p:sp>
        <p:nvSpPr>
          <p:cNvPr id="75" name="Rounded Rectangle 74">
            <a:extLst>
              <a:ext uri="{FF2B5EF4-FFF2-40B4-BE49-F238E27FC236}">
                <a16:creationId xmlns:a16="http://schemas.microsoft.com/office/drawing/2014/main" id="{F00A5190-2BBD-5F20-63AB-72A12612D90C}"/>
              </a:ext>
            </a:extLst>
          </p:cNvPr>
          <p:cNvSpPr/>
          <p:nvPr/>
        </p:nvSpPr>
        <p:spPr>
          <a:xfrm>
            <a:off x="9191981" y="5779322"/>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Final Summary</a:t>
            </a:r>
          </a:p>
        </p:txBody>
      </p:sp>
      <p:sp>
        <p:nvSpPr>
          <p:cNvPr id="76" name="Rounded Rectangle 75">
            <a:extLst>
              <a:ext uri="{FF2B5EF4-FFF2-40B4-BE49-F238E27FC236}">
                <a16:creationId xmlns:a16="http://schemas.microsoft.com/office/drawing/2014/main" id="{05D10CB7-DF55-7CF9-341C-4F0ADF5BEEA1}"/>
              </a:ext>
            </a:extLst>
          </p:cNvPr>
          <p:cNvSpPr/>
          <p:nvPr/>
        </p:nvSpPr>
        <p:spPr>
          <a:xfrm>
            <a:off x="9191983" y="2247399"/>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Abstract &amp; Pathway Summary</a:t>
            </a:r>
          </a:p>
        </p:txBody>
      </p:sp>
      <p:sp>
        <p:nvSpPr>
          <p:cNvPr id="83" name="Rounded Rectangle 82">
            <a:extLst>
              <a:ext uri="{FF2B5EF4-FFF2-40B4-BE49-F238E27FC236}">
                <a16:creationId xmlns:a16="http://schemas.microsoft.com/office/drawing/2014/main" id="{AE8D5CD4-CC14-4E36-4787-06FDE62246B6}"/>
              </a:ext>
            </a:extLst>
          </p:cNvPr>
          <p:cNvSpPr/>
          <p:nvPr/>
        </p:nvSpPr>
        <p:spPr>
          <a:xfrm>
            <a:off x="5594286"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 Summaries</a:t>
            </a:r>
          </a:p>
        </p:txBody>
      </p:sp>
      <p:sp>
        <p:nvSpPr>
          <p:cNvPr id="84" name="Rounded Rectangle 83">
            <a:extLst>
              <a:ext uri="{FF2B5EF4-FFF2-40B4-BE49-F238E27FC236}">
                <a16:creationId xmlns:a16="http://schemas.microsoft.com/office/drawing/2014/main" id="{E8CDFFBA-24C7-99D4-1A16-F0DF83BC895E}"/>
              </a:ext>
            </a:extLst>
          </p:cNvPr>
          <p:cNvSpPr/>
          <p:nvPr/>
        </p:nvSpPr>
        <p:spPr>
          <a:xfrm>
            <a:off x="8417914" y="1015859"/>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5" name="Rounded Rectangle 84">
            <a:extLst>
              <a:ext uri="{FF2B5EF4-FFF2-40B4-BE49-F238E27FC236}">
                <a16:creationId xmlns:a16="http://schemas.microsoft.com/office/drawing/2014/main" id="{2135B346-91BA-212C-1B06-FBF411833167}"/>
              </a:ext>
            </a:extLst>
          </p:cNvPr>
          <p:cNvSpPr/>
          <p:nvPr/>
        </p:nvSpPr>
        <p:spPr>
          <a:xfrm>
            <a:off x="9503314" y="3543484"/>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6" name="Rounded Rectangle 85">
            <a:extLst>
              <a:ext uri="{FF2B5EF4-FFF2-40B4-BE49-F238E27FC236}">
                <a16:creationId xmlns:a16="http://schemas.microsoft.com/office/drawing/2014/main" id="{7ADBB8FD-8F22-56BC-E57C-65DE35A281A0}"/>
              </a:ext>
            </a:extLst>
          </p:cNvPr>
          <p:cNvSpPr/>
          <p:nvPr/>
        </p:nvSpPr>
        <p:spPr>
          <a:xfrm>
            <a:off x="9503313" y="4690496"/>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87" name="Rounded Rectangle 86">
            <a:extLst>
              <a:ext uri="{FF2B5EF4-FFF2-40B4-BE49-F238E27FC236}">
                <a16:creationId xmlns:a16="http://schemas.microsoft.com/office/drawing/2014/main" id="{9275FAFE-B545-4966-D79F-0DD69C9EE234}"/>
              </a:ext>
            </a:extLst>
          </p:cNvPr>
          <p:cNvSpPr/>
          <p:nvPr/>
        </p:nvSpPr>
        <p:spPr>
          <a:xfrm>
            <a:off x="10573657" y="1015859"/>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cxnSp>
        <p:nvCxnSpPr>
          <p:cNvPr id="91" name="Straight Arrow Connector 90">
            <a:extLst>
              <a:ext uri="{FF2B5EF4-FFF2-40B4-BE49-F238E27FC236}">
                <a16:creationId xmlns:a16="http://schemas.microsoft.com/office/drawing/2014/main" id="{354C6780-EBD4-95D2-51CA-6B2A92B4FB0B}"/>
              </a:ext>
            </a:extLst>
          </p:cNvPr>
          <p:cNvCxnSpPr>
            <a:stCxn id="5" idx="0"/>
            <a:endCxn id="62" idx="2"/>
          </p:cNvCxnSpPr>
          <p:nvPr/>
        </p:nvCxnSpPr>
        <p:spPr>
          <a:xfrm flipV="1">
            <a:off x="958198" y="2559543"/>
            <a:ext cx="7257" cy="6072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06FC5443-812B-644B-5B88-97CFD31D4CBA}"/>
              </a:ext>
            </a:extLst>
          </p:cNvPr>
          <p:cNvCxnSpPr>
            <a:cxnSpLocks/>
            <a:stCxn id="5" idx="2"/>
            <a:endCxn id="23" idx="0"/>
          </p:cNvCxnSpPr>
          <p:nvPr/>
        </p:nvCxnSpPr>
        <p:spPr>
          <a:xfrm flipH="1">
            <a:off x="953211" y="3689491"/>
            <a:ext cx="4987" cy="67845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B9EFD98-2D37-5559-F71B-2563BFF76EAE}"/>
              </a:ext>
            </a:extLst>
          </p:cNvPr>
          <p:cNvCxnSpPr>
            <a:cxnSpLocks/>
            <a:endCxn id="73" idx="1"/>
          </p:cNvCxnSpPr>
          <p:nvPr/>
        </p:nvCxnSpPr>
        <p:spPr>
          <a:xfrm>
            <a:off x="1367969" y="1945100"/>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2F9395D3-696B-A854-4CB3-B8FC852FF3FF}"/>
              </a:ext>
            </a:extLst>
          </p:cNvPr>
          <p:cNvCxnSpPr>
            <a:cxnSpLocks/>
            <a:endCxn id="33" idx="2"/>
          </p:cNvCxnSpPr>
          <p:nvPr/>
        </p:nvCxnSpPr>
        <p:spPr>
          <a:xfrm flipV="1">
            <a:off x="1367969" y="3714441"/>
            <a:ext cx="2247494" cy="799502"/>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2062A326-A3F3-9830-3018-4D1EB1080BC9}"/>
              </a:ext>
            </a:extLst>
          </p:cNvPr>
          <p:cNvCxnSpPr>
            <a:cxnSpLocks/>
            <a:endCxn id="34" idx="1"/>
          </p:cNvCxnSpPr>
          <p:nvPr/>
        </p:nvCxnSpPr>
        <p:spPr>
          <a:xfrm>
            <a:off x="1367969" y="5031883"/>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 name="Elbow Connector 106">
            <a:extLst>
              <a:ext uri="{FF2B5EF4-FFF2-40B4-BE49-F238E27FC236}">
                <a16:creationId xmlns:a16="http://schemas.microsoft.com/office/drawing/2014/main" id="{159A0F18-B025-0E9B-2A1F-E6BF8A6A8F69}"/>
              </a:ext>
            </a:extLst>
          </p:cNvPr>
          <p:cNvCxnSpPr>
            <a:stCxn id="33" idx="3"/>
          </p:cNvCxnSpPr>
          <p:nvPr/>
        </p:nvCxnSpPr>
        <p:spPr>
          <a:xfrm>
            <a:off x="4438423" y="3453096"/>
            <a:ext cx="1592263" cy="1578787"/>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26CC5238-A097-9BE0-C55F-3C6924A46433}"/>
              </a:ext>
            </a:extLst>
          </p:cNvPr>
          <p:cNvCxnSpPr>
            <a:cxnSpLocks/>
            <a:endCxn id="83" idx="2"/>
          </p:cNvCxnSpPr>
          <p:nvPr/>
        </p:nvCxnSpPr>
        <p:spPr>
          <a:xfrm flipV="1">
            <a:off x="6417246" y="3714441"/>
            <a:ext cx="0" cy="7257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E9F1B139-7BAD-5A65-88ED-CEE2FC6A71A4}"/>
              </a:ext>
            </a:extLst>
          </p:cNvPr>
          <p:cNvCxnSpPr>
            <a:stCxn id="73" idx="3"/>
            <a:endCxn id="74" idx="1"/>
          </p:cNvCxnSpPr>
          <p:nvPr/>
        </p:nvCxnSpPr>
        <p:spPr>
          <a:xfrm flipV="1">
            <a:off x="4438423" y="1939896"/>
            <a:ext cx="1152570" cy="52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9CABFC8A-8E6F-45CE-3E51-07E8A7B2C0FF}"/>
              </a:ext>
            </a:extLst>
          </p:cNvPr>
          <p:cNvCxnSpPr>
            <a:stCxn id="83" idx="0"/>
            <a:endCxn id="74" idx="2"/>
          </p:cNvCxnSpPr>
          <p:nvPr/>
        </p:nvCxnSpPr>
        <p:spPr>
          <a:xfrm flipH="1" flipV="1">
            <a:off x="6413953" y="2201241"/>
            <a:ext cx="3293" cy="9905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53E4763E-1550-797D-CF9E-B5454DA7F756}"/>
              </a:ext>
            </a:extLst>
          </p:cNvPr>
          <p:cNvCxnSpPr>
            <a:stCxn id="74" idx="3"/>
            <a:endCxn id="84" idx="1"/>
          </p:cNvCxnSpPr>
          <p:nvPr/>
        </p:nvCxnSpPr>
        <p:spPr>
          <a:xfrm flipV="1">
            <a:off x="7236913" y="1277204"/>
            <a:ext cx="1181001" cy="66269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3222B09-5747-096A-F4B7-B739C5144CD3}"/>
              </a:ext>
            </a:extLst>
          </p:cNvPr>
          <p:cNvCxnSpPr>
            <a:stCxn id="84" idx="3"/>
            <a:endCxn id="87" idx="1"/>
          </p:cNvCxnSpPr>
          <p:nvPr/>
        </p:nvCxnSpPr>
        <p:spPr>
          <a:xfrm>
            <a:off x="9441171" y="1277204"/>
            <a:ext cx="113248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Elbow Connector 127">
            <a:extLst>
              <a:ext uri="{FF2B5EF4-FFF2-40B4-BE49-F238E27FC236}">
                <a16:creationId xmlns:a16="http://schemas.microsoft.com/office/drawing/2014/main" id="{775C35D0-AA74-EB54-A6A3-518CE92909AC}"/>
              </a:ext>
            </a:extLst>
          </p:cNvPr>
          <p:cNvCxnSpPr>
            <a:stCxn id="87" idx="2"/>
            <a:endCxn id="76" idx="0"/>
          </p:cNvCxnSpPr>
          <p:nvPr/>
        </p:nvCxnSpPr>
        <p:spPr>
          <a:xfrm rot="5400000">
            <a:off x="10195690" y="1357803"/>
            <a:ext cx="708850" cy="107034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3EEB7179-878F-D1E7-6716-0F906A332ADF}"/>
              </a:ext>
            </a:extLst>
          </p:cNvPr>
          <p:cNvCxnSpPr>
            <a:stCxn id="76" idx="2"/>
            <a:endCxn id="85" idx="0"/>
          </p:cNvCxnSpPr>
          <p:nvPr/>
        </p:nvCxnSpPr>
        <p:spPr>
          <a:xfrm>
            <a:off x="10014943" y="2770089"/>
            <a:ext cx="0" cy="77339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EDBAF02E-A1B0-2DC8-C80D-2E5EDB84A8A3}"/>
              </a:ext>
            </a:extLst>
          </p:cNvPr>
          <p:cNvCxnSpPr>
            <a:stCxn id="85" idx="2"/>
            <a:endCxn id="86" idx="0"/>
          </p:cNvCxnSpPr>
          <p:nvPr/>
        </p:nvCxnSpPr>
        <p:spPr>
          <a:xfrm flipH="1">
            <a:off x="10014942" y="4066174"/>
            <a:ext cx="1" cy="6243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91842133-1A83-FAE8-0E03-CAEF2191DE1A}"/>
              </a:ext>
            </a:extLst>
          </p:cNvPr>
          <p:cNvCxnSpPr>
            <a:stCxn id="86" idx="2"/>
            <a:endCxn id="75" idx="0"/>
          </p:cNvCxnSpPr>
          <p:nvPr/>
        </p:nvCxnSpPr>
        <p:spPr>
          <a:xfrm flipH="1">
            <a:off x="10014941" y="5213186"/>
            <a:ext cx="1" cy="5661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99">
            <a:extLst>
              <a:ext uri="{FF2B5EF4-FFF2-40B4-BE49-F238E27FC236}">
                <a16:creationId xmlns:a16="http://schemas.microsoft.com/office/drawing/2014/main" id="{0D39B09F-B876-C94C-334C-55BE3FD4EC61}"/>
              </a:ext>
            </a:extLst>
          </p:cNvPr>
          <p:cNvCxnSpPr>
            <a:cxnSpLocks/>
            <a:stCxn id="34" idx="2"/>
            <a:endCxn id="84" idx="2"/>
          </p:cNvCxnSpPr>
          <p:nvPr/>
        </p:nvCxnSpPr>
        <p:spPr>
          <a:xfrm rot="5400000" flipH="1" flipV="1">
            <a:off x="4395163" y="758849"/>
            <a:ext cx="3754679" cy="5314080"/>
          </a:xfrm>
          <a:prstGeom prst="bentConnector3">
            <a:avLst>
              <a:gd name="adj1" fmla="val -10147"/>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8D3712DD-462D-044E-9EAB-444C7A7AAD4C}"/>
              </a:ext>
            </a:extLst>
          </p:cNvPr>
          <p:cNvSpPr txBox="1"/>
          <p:nvPr/>
        </p:nvSpPr>
        <p:spPr>
          <a:xfrm>
            <a:off x="7997371" y="1015859"/>
            <a:ext cx="300082" cy="369332"/>
          </a:xfrm>
          <a:prstGeom prst="rect">
            <a:avLst/>
          </a:prstGeom>
          <a:noFill/>
        </p:spPr>
        <p:txBody>
          <a:bodyPr wrap="none" rtlCol="0">
            <a:spAutoFit/>
          </a:bodyPr>
          <a:lstStyle/>
          <a:p>
            <a:r>
              <a:rPr lang="en-US" dirty="0"/>
              <a:t>*</a:t>
            </a:r>
          </a:p>
        </p:txBody>
      </p:sp>
      <p:sp>
        <p:nvSpPr>
          <p:cNvPr id="140" name="TextBox 139">
            <a:extLst>
              <a:ext uri="{FF2B5EF4-FFF2-40B4-BE49-F238E27FC236}">
                <a16:creationId xmlns:a16="http://schemas.microsoft.com/office/drawing/2014/main" id="{74FE384F-B6EC-57BC-6201-115BEEC307B3}"/>
              </a:ext>
            </a:extLst>
          </p:cNvPr>
          <p:cNvSpPr txBox="1"/>
          <p:nvPr/>
        </p:nvSpPr>
        <p:spPr>
          <a:xfrm>
            <a:off x="7785269" y="1262725"/>
            <a:ext cx="694421" cy="276999"/>
          </a:xfrm>
          <a:prstGeom prst="rect">
            <a:avLst/>
          </a:prstGeom>
          <a:noFill/>
        </p:spPr>
        <p:txBody>
          <a:bodyPr wrap="none" rtlCol="0">
            <a:spAutoFit/>
          </a:bodyPr>
          <a:lstStyle/>
          <a:p>
            <a:r>
              <a:rPr lang="en-US" sz="1200" dirty="0"/>
              <a:t>for each</a:t>
            </a:r>
          </a:p>
        </p:txBody>
      </p:sp>
      <p:cxnSp>
        <p:nvCxnSpPr>
          <p:cNvPr id="141" name="Straight Arrow Connector 99">
            <a:extLst>
              <a:ext uri="{FF2B5EF4-FFF2-40B4-BE49-F238E27FC236}">
                <a16:creationId xmlns:a16="http://schemas.microsoft.com/office/drawing/2014/main" id="{DF141BDA-62B7-AED3-FAE2-A5D984DFFEFE}"/>
              </a:ext>
            </a:extLst>
          </p:cNvPr>
          <p:cNvCxnSpPr>
            <a:cxnSpLocks/>
            <a:stCxn id="34" idx="2"/>
            <a:endCxn id="85" idx="1"/>
          </p:cNvCxnSpPr>
          <p:nvPr/>
        </p:nvCxnSpPr>
        <p:spPr>
          <a:xfrm rot="5400000" flipH="1" flipV="1">
            <a:off x="5815188" y="1605103"/>
            <a:ext cx="1488399" cy="5887851"/>
          </a:xfrm>
          <a:prstGeom prst="bentConnector4">
            <a:avLst>
              <a:gd name="adj1" fmla="val -25111"/>
              <a:gd name="adj2" fmla="val 90268"/>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3E4DF2D7-FBA8-19C8-49C5-153358A99203}"/>
              </a:ext>
            </a:extLst>
          </p:cNvPr>
          <p:cNvSpPr txBox="1"/>
          <p:nvPr/>
        </p:nvSpPr>
        <p:spPr>
          <a:xfrm>
            <a:off x="9985643" y="3025609"/>
            <a:ext cx="1138581" cy="276999"/>
          </a:xfrm>
          <a:prstGeom prst="rect">
            <a:avLst/>
          </a:prstGeom>
          <a:noFill/>
        </p:spPr>
        <p:txBody>
          <a:bodyPr wrap="none" rtlCol="0">
            <a:spAutoFit/>
          </a:bodyPr>
          <a:lstStyle/>
          <a:p>
            <a:r>
              <a:rPr lang="en-US" sz="1200" dirty="0"/>
              <a:t>merge into one</a:t>
            </a:r>
          </a:p>
        </p:txBody>
      </p:sp>
      <p:sp>
        <p:nvSpPr>
          <p:cNvPr id="147" name="TextBox 146">
            <a:extLst>
              <a:ext uri="{FF2B5EF4-FFF2-40B4-BE49-F238E27FC236}">
                <a16:creationId xmlns:a16="http://schemas.microsoft.com/office/drawing/2014/main" id="{22D7B1DC-B3B2-02FF-3DB4-426F69AB5627}"/>
              </a:ext>
            </a:extLst>
          </p:cNvPr>
          <p:cNvSpPr txBox="1"/>
          <p:nvPr/>
        </p:nvSpPr>
        <p:spPr>
          <a:xfrm>
            <a:off x="28185" y="6387996"/>
            <a:ext cx="1131079" cy="400110"/>
          </a:xfrm>
          <a:prstGeom prst="rect">
            <a:avLst/>
          </a:prstGeom>
          <a:noFill/>
        </p:spPr>
        <p:txBody>
          <a:bodyPr wrap="none" rtlCol="0">
            <a:spAutoFit/>
          </a:bodyPr>
          <a:lstStyle/>
          <a:p>
            <a:r>
              <a:rPr lang="en-US" sz="2000" b="1" u="sng" dirty="0"/>
              <a:t>Retrieval</a:t>
            </a:r>
          </a:p>
        </p:txBody>
      </p:sp>
      <p:sp>
        <p:nvSpPr>
          <p:cNvPr id="148" name="TextBox 147">
            <a:extLst>
              <a:ext uri="{FF2B5EF4-FFF2-40B4-BE49-F238E27FC236}">
                <a16:creationId xmlns:a16="http://schemas.microsoft.com/office/drawing/2014/main" id="{E0FC8B4C-FB4B-692E-C0FC-37D85D161228}"/>
              </a:ext>
            </a:extLst>
          </p:cNvPr>
          <p:cNvSpPr txBox="1"/>
          <p:nvPr/>
        </p:nvSpPr>
        <p:spPr>
          <a:xfrm>
            <a:off x="10673487" y="6387996"/>
            <a:ext cx="1382110" cy="400110"/>
          </a:xfrm>
          <a:prstGeom prst="rect">
            <a:avLst/>
          </a:prstGeom>
          <a:noFill/>
        </p:spPr>
        <p:txBody>
          <a:bodyPr wrap="none" rtlCol="0">
            <a:spAutoFit/>
          </a:bodyPr>
          <a:lstStyle/>
          <a:p>
            <a:r>
              <a:rPr lang="en-US" sz="2000" b="1" u="sng" dirty="0"/>
              <a:t>Generation</a:t>
            </a:r>
          </a:p>
        </p:txBody>
      </p:sp>
      <p:sp>
        <p:nvSpPr>
          <p:cNvPr id="3" name="TextBox 2">
            <a:extLst>
              <a:ext uri="{FF2B5EF4-FFF2-40B4-BE49-F238E27FC236}">
                <a16:creationId xmlns:a16="http://schemas.microsoft.com/office/drawing/2014/main" id="{2B2F4B03-5941-B9EE-C10E-C544BE28993B}"/>
              </a:ext>
            </a:extLst>
          </p:cNvPr>
          <p:cNvSpPr txBox="1"/>
          <p:nvPr/>
        </p:nvSpPr>
        <p:spPr>
          <a:xfrm>
            <a:off x="1881439" y="5031883"/>
            <a:ext cx="524503" cy="369332"/>
          </a:xfrm>
          <a:prstGeom prst="rect">
            <a:avLst/>
          </a:prstGeom>
          <a:solidFill>
            <a:srgbClr val="FFFF00"/>
          </a:solidFill>
        </p:spPr>
        <p:txBody>
          <a:bodyPr wrap="none" rtlCol="0">
            <a:spAutoFit/>
          </a:bodyPr>
          <a:lstStyle/>
          <a:p>
            <a:r>
              <a:rPr lang="en-US" dirty="0"/>
              <a:t>FIs </a:t>
            </a:r>
          </a:p>
        </p:txBody>
      </p:sp>
      <p:sp>
        <p:nvSpPr>
          <p:cNvPr id="4" name="TextBox 3">
            <a:extLst>
              <a:ext uri="{FF2B5EF4-FFF2-40B4-BE49-F238E27FC236}">
                <a16:creationId xmlns:a16="http://schemas.microsoft.com/office/drawing/2014/main" id="{8291C148-D3C7-EAB3-5AF6-EFEC3B062A04}"/>
              </a:ext>
            </a:extLst>
          </p:cNvPr>
          <p:cNvSpPr txBox="1"/>
          <p:nvPr/>
        </p:nvSpPr>
        <p:spPr>
          <a:xfrm>
            <a:off x="765748" y="5952620"/>
            <a:ext cx="2755883" cy="369332"/>
          </a:xfrm>
          <a:prstGeom prst="rect">
            <a:avLst/>
          </a:prstGeom>
          <a:solidFill>
            <a:srgbClr val="FFFF00"/>
          </a:solidFill>
        </p:spPr>
        <p:txBody>
          <a:bodyPr wrap="none" rtlCol="0">
            <a:spAutoFit/>
          </a:bodyPr>
          <a:lstStyle/>
          <a:p>
            <a:r>
              <a:rPr lang="en-US" dirty="0"/>
              <a:t>PPIs in </a:t>
            </a:r>
            <a:r>
              <a:rPr lang="en-US" dirty="0" err="1"/>
              <a:t>IntAct</a:t>
            </a:r>
            <a:r>
              <a:rPr lang="en-US" dirty="0"/>
              <a:t> and </a:t>
            </a:r>
            <a:r>
              <a:rPr lang="en-US" dirty="0" err="1"/>
              <a:t>BioGrid</a:t>
            </a:r>
            <a:r>
              <a:rPr lang="en-US" dirty="0"/>
              <a:t> </a:t>
            </a:r>
          </a:p>
        </p:txBody>
      </p:sp>
      <p:cxnSp>
        <p:nvCxnSpPr>
          <p:cNvPr id="7" name="Straight Arrow Connector 6">
            <a:extLst>
              <a:ext uri="{FF2B5EF4-FFF2-40B4-BE49-F238E27FC236}">
                <a16:creationId xmlns:a16="http://schemas.microsoft.com/office/drawing/2014/main" id="{9E95E754-6293-BD47-11EE-1F64CF10B638}"/>
              </a:ext>
            </a:extLst>
          </p:cNvPr>
          <p:cNvCxnSpPr>
            <a:stCxn id="3" idx="2"/>
            <a:endCxn id="4" idx="0"/>
          </p:cNvCxnSpPr>
          <p:nvPr/>
        </p:nvCxnSpPr>
        <p:spPr>
          <a:xfrm flipH="1">
            <a:off x="2143690" y="5401215"/>
            <a:ext cx="1" cy="55140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133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6AC9B-D840-C2A7-AE01-22D9E1BCC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E9D62-4C07-38D2-72CF-3715C6B3D2DD}"/>
              </a:ext>
            </a:extLst>
          </p:cNvPr>
          <p:cNvSpPr>
            <a:spLocks noGrp="1"/>
          </p:cNvSpPr>
          <p:nvPr>
            <p:ph type="title"/>
          </p:nvPr>
        </p:nvSpPr>
        <p:spPr>
          <a:xfrm>
            <a:off x="12418" y="47404"/>
            <a:ext cx="12163815" cy="751275"/>
          </a:xfrm>
        </p:spPr>
        <p:txBody>
          <a:bodyPr>
            <a:normAutofit/>
          </a:bodyPr>
          <a:lstStyle/>
          <a:p>
            <a:pPr algn="ctr"/>
            <a:r>
              <a:rPr lang="en-US" dirty="0"/>
              <a:t>RAG-based Workflow for LLM App in Curator Tool</a:t>
            </a:r>
          </a:p>
        </p:txBody>
      </p:sp>
      <p:sp>
        <p:nvSpPr>
          <p:cNvPr id="5" name="Rounded Rectangle 4">
            <a:extLst>
              <a:ext uri="{FF2B5EF4-FFF2-40B4-BE49-F238E27FC236}">
                <a16:creationId xmlns:a16="http://schemas.microsoft.com/office/drawing/2014/main" id="{2B9F9342-7209-926E-2F0C-31F4D3D7DBB6}"/>
              </a:ext>
            </a:extLst>
          </p:cNvPr>
          <p:cNvSpPr/>
          <p:nvPr/>
        </p:nvSpPr>
        <p:spPr>
          <a:xfrm>
            <a:off x="135238" y="316680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 not annotated</a:t>
            </a:r>
          </a:p>
        </p:txBody>
      </p:sp>
      <p:grpSp>
        <p:nvGrpSpPr>
          <p:cNvPr id="27" name="Group 26">
            <a:extLst>
              <a:ext uri="{FF2B5EF4-FFF2-40B4-BE49-F238E27FC236}">
                <a16:creationId xmlns:a16="http://schemas.microsoft.com/office/drawing/2014/main" id="{D718E3F7-0A24-5529-6BF9-3A32BB8AC9F4}"/>
              </a:ext>
            </a:extLst>
          </p:cNvPr>
          <p:cNvGrpSpPr/>
          <p:nvPr/>
        </p:nvGrpSpPr>
        <p:grpSpPr>
          <a:xfrm>
            <a:off x="218063" y="4367946"/>
            <a:ext cx="1433277" cy="1254572"/>
            <a:chOff x="1034766" y="4668922"/>
            <a:chExt cx="1433277" cy="1254572"/>
          </a:xfrm>
        </p:grpSpPr>
        <p:pic>
          <p:nvPicPr>
            <p:cNvPr id="23" name="Graphic 22" descr="Database with solid fill">
              <a:extLst>
                <a:ext uri="{FF2B5EF4-FFF2-40B4-BE49-F238E27FC236}">
                  <a16:creationId xmlns:a16="http://schemas.microsoft.com/office/drawing/2014/main" id="{14BD38D6-053E-3D85-08A9-A8510A2ED6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8285" y="4668922"/>
              <a:ext cx="1023257" cy="1023257"/>
            </a:xfrm>
            <a:prstGeom prst="rect">
              <a:avLst/>
            </a:prstGeom>
          </p:spPr>
        </p:pic>
        <p:sp>
          <p:nvSpPr>
            <p:cNvPr id="26" name="TextBox 25">
              <a:extLst>
                <a:ext uri="{FF2B5EF4-FFF2-40B4-BE49-F238E27FC236}">
                  <a16:creationId xmlns:a16="http://schemas.microsoft.com/office/drawing/2014/main" id="{36DEBA91-9E07-B4D0-BC9E-EEC3326A696E}"/>
                </a:ext>
              </a:extLst>
            </p:cNvPr>
            <p:cNvSpPr txBox="1"/>
            <p:nvPr/>
          </p:nvSpPr>
          <p:spPr>
            <a:xfrm>
              <a:off x="1034766" y="5615717"/>
              <a:ext cx="1433277" cy="307777"/>
            </a:xfrm>
            <a:prstGeom prst="rect">
              <a:avLst/>
            </a:prstGeom>
            <a:noFill/>
          </p:spPr>
          <p:txBody>
            <a:bodyPr wrap="none" rtlCol="0">
              <a:spAutoFit/>
            </a:bodyPr>
            <a:lstStyle/>
            <a:p>
              <a:r>
                <a:rPr lang="en-US" sz="1400" dirty="0" err="1"/>
                <a:t>idg.reactome.org</a:t>
              </a:r>
              <a:endParaRPr lang="en-US" sz="1400" dirty="0"/>
            </a:p>
          </p:txBody>
        </p:sp>
      </p:grpSp>
      <p:sp>
        <p:nvSpPr>
          <p:cNvPr id="33" name="Rounded Rectangle 32">
            <a:extLst>
              <a:ext uri="{FF2B5EF4-FFF2-40B4-BE49-F238E27FC236}">
                <a16:creationId xmlns:a16="http://schemas.microsoft.com/office/drawing/2014/main" id="{A3847B79-3202-3398-E0C9-16A7AD297007}"/>
              </a:ext>
            </a:extLst>
          </p:cNvPr>
          <p:cNvSpPr/>
          <p:nvPr/>
        </p:nvSpPr>
        <p:spPr>
          <a:xfrm>
            <a:off x="2792503"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pathways</a:t>
            </a:r>
          </a:p>
        </p:txBody>
      </p:sp>
      <p:sp>
        <p:nvSpPr>
          <p:cNvPr id="34" name="Rounded Rectangle 33">
            <a:extLst>
              <a:ext uri="{FF2B5EF4-FFF2-40B4-BE49-F238E27FC236}">
                <a16:creationId xmlns:a16="http://schemas.microsoft.com/office/drawing/2014/main" id="{60EBEEC6-1AF6-9337-C9A8-A5DF3EA6FADF}"/>
              </a:ext>
            </a:extLst>
          </p:cNvPr>
          <p:cNvSpPr/>
          <p:nvPr/>
        </p:nvSpPr>
        <p:spPr>
          <a:xfrm>
            <a:off x="2792503" y="4770538"/>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genes</a:t>
            </a:r>
          </a:p>
        </p:txBody>
      </p:sp>
      <p:grpSp>
        <p:nvGrpSpPr>
          <p:cNvPr id="36" name="Group 35">
            <a:extLst>
              <a:ext uri="{FF2B5EF4-FFF2-40B4-BE49-F238E27FC236}">
                <a16:creationId xmlns:a16="http://schemas.microsoft.com/office/drawing/2014/main" id="{FF039ADF-30AB-B05C-F1AE-994D32A67DB6}"/>
              </a:ext>
            </a:extLst>
          </p:cNvPr>
          <p:cNvGrpSpPr/>
          <p:nvPr/>
        </p:nvGrpSpPr>
        <p:grpSpPr>
          <a:xfrm>
            <a:off x="5721414" y="4440213"/>
            <a:ext cx="1391663" cy="1205235"/>
            <a:chOff x="914833" y="4686385"/>
            <a:chExt cx="1391663" cy="1205235"/>
          </a:xfrm>
        </p:grpSpPr>
        <p:pic>
          <p:nvPicPr>
            <p:cNvPr id="38" name="Graphic 37" descr="Database with solid fill">
              <a:extLst>
                <a:ext uri="{FF2B5EF4-FFF2-40B4-BE49-F238E27FC236}">
                  <a16:creationId xmlns:a16="http://schemas.microsoft.com/office/drawing/2014/main" id="{F41C43FD-86FD-6B9E-2838-79D12EC338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40" name="TextBox 39">
              <a:extLst>
                <a:ext uri="{FF2B5EF4-FFF2-40B4-BE49-F238E27FC236}">
                  <a16:creationId xmlns:a16="http://schemas.microsoft.com/office/drawing/2014/main" id="{983448A2-FEF2-7815-304C-788FB7532EE1}"/>
                </a:ext>
              </a:extLst>
            </p:cNvPr>
            <p:cNvSpPr txBox="1"/>
            <p:nvPr/>
          </p:nvSpPr>
          <p:spPr>
            <a:xfrm>
              <a:off x="914833" y="5583843"/>
              <a:ext cx="1391663" cy="307777"/>
            </a:xfrm>
            <a:prstGeom prst="rect">
              <a:avLst/>
            </a:prstGeom>
            <a:noFill/>
          </p:spPr>
          <p:txBody>
            <a:bodyPr wrap="none" rtlCol="0">
              <a:spAutoFit/>
            </a:bodyPr>
            <a:lstStyle/>
            <a:p>
              <a:r>
                <a:rPr lang="en-US" sz="1400" dirty="0" err="1"/>
                <a:t>Reactome</a:t>
              </a:r>
              <a:r>
                <a:rPr lang="en-US" sz="1400" dirty="0"/>
                <a:t> Neo4j</a:t>
              </a:r>
            </a:p>
          </p:txBody>
        </p:sp>
      </p:grpSp>
      <p:grpSp>
        <p:nvGrpSpPr>
          <p:cNvPr id="60" name="Group 59">
            <a:extLst>
              <a:ext uri="{FF2B5EF4-FFF2-40B4-BE49-F238E27FC236}">
                <a16:creationId xmlns:a16="http://schemas.microsoft.com/office/drawing/2014/main" id="{5FC7C59F-45B0-AAEF-810A-BBCC1344C617}"/>
              </a:ext>
            </a:extLst>
          </p:cNvPr>
          <p:cNvGrpSpPr/>
          <p:nvPr/>
        </p:nvGrpSpPr>
        <p:grpSpPr>
          <a:xfrm>
            <a:off x="453827" y="1376857"/>
            <a:ext cx="1023257" cy="1182686"/>
            <a:chOff x="1099035" y="4686385"/>
            <a:chExt cx="1023257" cy="1182686"/>
          </a:xfrm>
        </p:grpSpPr>
        <p:pic>
          <p:nvPicPr>
            <p:cNvPr id="61" name="Graphic 60" descr="Database with solid fill">
              <a:extLst>
                <a:ext uri="{FF2B5EF4-FFF2-40B4-BE49-F238E27FC236}">
                  <a16:creationId xmlns:a16="http://schemas.microsoft.com/office/drawing/2014/main" id="{2A3C3953-061C-A9BA-3D71-7A45496E43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62" name="TextBox 61">
              <a:extLst>
                <a:ext uri="{FF2B5EF4-FFF2-40B4-BE49-F238E27FC236}">
                  <a16:creationId xmlns:a16="http://schemas.microsoft.com/office/drawing/2014/main" id="{44E09F59-790F-5FD5-FF24-DD86A200CEC9}"/>
                </a:ext>
              </a:extLst>
            </p:cNvPr>
            <p:cNvSpPr txBox="1"/>
            <p:nvPr/>
          </p:nvSpPr>
          <p:spPr>
            <a:xfrm>
              <a:off x="1208148" y="5561294"/>
              <a:ext cx="805029" cy="307777"/>
            </a:xfrm>
            <a:prstGeom prst="rect">
              <a:avLst/>
            </a:prstGeom>
            <a:noFill/>
          </p:spPr>
          <p:txBody>
            <a:bodyPr wrap="none" rtlCol="0">
              <a:spAutoFit/>
            </a:bodyPr>
            <a:lstStyle/>
            <a:p>
              <a:r>
                <a:rPr lang="en-US" sz="1400" dirty="0"/>
                <a:t>PubMed</a:t>
              </a:r>
            </a:p>
          </p:txBody>
        </p:sp>
      </p:grpSp>
      <p:sp>
        <p:nvSpPr>
          <p:cNvPr id="73" name="Rounded Rectangle 72">
            <a:extLst>
              <a:ext uri="{FF2B5EF4-FFF2-40B4-BE49-F238E27FC236}">
                <a16:creationId xmlns:a16="http://schemas.microsoft.com/office/drawing/2014/main" id="{707A09D4-704C-C6AA-4AFB-A8437A7DA53F}"/>
              </a:ext>
            </a:extLst>
          </p:cNvPr>
          <p:cNvSpPr/>
          <p:nvPr/>
        </p:nvSpPr>
        <p:spPr>
          <a:xfrm>
            <a:off x="2792503" y="1683755"/>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Genes-related Abstracts</a:t>
            </a:r>
          </a:p>
        </p:txBody>
      </p:sp>
      <p:sp>
        <p:nvSpPr>
          <p:cNvPr id="74" name="Rounded Rectangle 73">
            <a:extLst>
              <a:ext uri="{FF2B5EF4-FFF2-40B4-BE49-F238E27FC236}">
                <a16:creationId xmlns:a16="http://schemas.microsoft.com/office/drawing/2014/main" id="{AE55A960-F64F-B1D9-A54A-5016FAA16E37}"/>
              </a:ext>
            </a:extLst>
          </p:cNvPr>
          <p:cNvSpPr/>
          <p:nvPr/>
        </p:nvSpPr>
        <p:spPr>
          <a:xfrm>
            <a:off x="5590993" y="16785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Pathway-matched Abstracts</a:t>
            </a:r>
          </a:p>
        </p:txBody>
      </p:sp>
      <p:sp>
        <p:nvSpPr>
          <p:cNvPr id="75" name="Rounded Rectangle 74">
            <a:extLst>
              <a:ext uri="{FF2B5EF4-FFF2-40B4-BE49-F238E27FC236}">
                <a16:creationId xmlns:a16="http://schemas.microsoft.com/office/drawing/2014/main" id="{8059ECC5-DC21-0CCA-648D-A771E755B328}"/>
              </a:ext>
            </a:extLst>
          </p:cNvPr>
          <p:cNvSpPr/>
          <p:nvPr/>
        </p:nvSpPr>
        <p:spPr>
          <a:xfrm>
            <a:off x="9191981" y="5779322"/>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Final Summary</a:t>
            </a:r>
          </a:p>
        </p:txBody>
      </p:sp>
      <p:sp>
        <p:nvSpPr>
          <p:cNvPr id="76" name="Rounded Rectangle 75">
            <a:extLst>
              <a:ext uri="{FF2B5EF4-FFF2-40B4-BE49-F238E27FC236}">
                <a16:creationId xmlns:a16="http://schemas.microsoft.com/office/drawing/2014/main" id="{744D364C-0B89-CBC6-81DF-38A5AAB15711}"/>
              </a:ext>
            </a:extLst>
          </p:cNvPr>
          <p:cNvSpPr/>
          <p:nvPr/>
        </p:nvSpPr>
        <p:spPr>
          <a:xfrm>
            <a:off x="9191983" y="2247399"/>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Abstract &amp; Pathway Summary</a:t>
            </a:r>
          </a:p>
        </p:txBody>
      </p:sp>
      <p:sp>
        <p:nvSpPr>
          <p:cNvPr id="83" name="Rounded Rectangle 82">
            <a:extLst>
              <a:ext uri="{FF2B5EF4-FFF2-40B4-BE49-F238E27FC236}">
                <a16:creationId xmlns:a16="http://schemas.microsoft.com/office/drawing/2014/main" id="{A1A04DD7-5EDA-86DA-65B5-158A64573BB6}"/>
              </a:ext>
            </a:extLst>
          </p:cNvPr>
          <p:cNvSpPr/>
          <p:nvPr/>
        </p:nvSpPr>
        <p:spPr>
          <a:xfrm>
            <a:off x="5594286"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 Summaries</a:t>
            </a:r>
          </a:p>
        </p:txBody>
      </p:sp>
      <p:sp>
        <p:nvSpPr>
          <p:cNvPr id="84" name="Rounded Rectangle 83">
            <a:extLst>
              <a:ext uri="{FF2B5EF4-FFF2-40B4-BE49-F238E27FC236}">
                <a16:creationId xmlns:a16="http://schemas.microsoft.com/office/drawing/2014/main" id="{36C17670-3B77-8C7A-E06A-A3DB515FA63B}"/>
              </a:ext>
            </a:extLst>
          </p:cNvPr>
          <p:cNvSpPr/>
          <p:nvPr/>
        </p:nvSpPr>
        <p:spPr>
          <a:xfrm>
            <a:off x="8417914" y="1015859"/>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5" name="Rounded Rectangle 84">
            <a:extLst>
              <a:ext uri="{FF2B5EF4-FFF2-40B4-BE49-F238E27FC236}">
                <a16:creationId xmlns:a16="http://schemas.microsoft.com/office/drawing/2014/main" id="{86248C37-13F7-F7C1-0B86-9C34DB09026C}"/>
              </a:ext>
            </a:extLst>
          </p:cNvPr>
          <p:cNvSpPr/>
          <p:nvPr/>
        </p:nvSpPr>
        <p:spPr>
          <a:xfrm>
            <a:off x="9503314" y="3543484"/>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6" name="Rounded Rectangle 85">
            <a:extLst>
              <a:ext uri="{FF2B5EF4-FFF2-40B4-BE49-F238E27FC236}">
                <a16:creationId xmlns:a16="http://schemas.microsoft.com/office/drawing/2014/main" id="{5858CA75-B91D-6498-6150-00AB8D4D5849}"/>
              </a:ext>
            </a:extLst>
          </p:cNvPr>
          <p:cNvSpPr/>
          <p:nvPr/>
        </p:nvSpPr>
        <p:spPr>
          <a:xfrm>
            <a:off x="9503313" y="4690496"/>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87" name="Rounded Rectangle 86">
            <a:extLst>
              <a:ext uri="{FF2B5EF4-FFF2-40B4-BE49-F238E27FC236}">
                <a16:creationId xmlns:a16="http://schemas.microsoft.com/office/drawing/2014/main" id="{56DEE796-8F2C-CF59-8BA0-423643655CF8}"/>
              </a:ext>
            </a:extLst>
          </p:cNvPr>
          <p:cNvSpPr/>
          <p:nvPr/>
        </p:nvSpPr>
        <p:spPr>
          <a:xfrm>
            <a:off x="10573657" y="1015859"/>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cxnSp>
        <p:nvCxnSpPr>
          <p:cNvPr id="91" name="Straight Arrow Connector 90">
            <a:extLst>
              <a:ext uri="{FF2B5EF4-FFF2-40B4-BE49-F238E27FC236}">
                <a16:creationId xmlns:a16="http://schemas.microsoft.com/office/drawing/2014/main" id="{E8017563-4E01-C9C7-7CB3-865B7D5F04AD}"/>
              </a:ext>
            </a:extLst>
          </p:cNvPr>
          <p:cNvCxnSpPr>
            <a:stCxn id="5" idx="0"/>
            <a:endCxn id="62" idx="2"/>
          </p:cNvCxnSpPr>
          <p:nvPr/>
        </p:nvCxnSpPr>
        <p:spPr>
          <a:xfrm flipV="1">
            <a:off x="958198" y="2559543"/>
            <a:ext cx="7257" cy="6072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B7DD8E99-A15F-8F71-017B-A541CB92D285}"/>
              </a:ext>
            </a:extLst>
          </p:cNvPr>
          <p:cNvCxnSpPr>
            <a:cxnSpLocks/>
            <a:stCxn id="5" idx="2"/>
            <a:endCxn id="23" idx="0"/>
          </p:cNvCxnSpPr>
          <p:nvPr/>
        </p:nvCxnSpPr>
        <p:spPr>
          <a:xfrm flipH="1">
            <a:off x="953211" y="3689491"/>
            <a:ext cx="4987" cy="67845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A49FEA59-5EF5-85E4-367F-CFEAE3A766D9}"/>
              </a:ext>
            </a:extLst>
          </p:cNvPr>
          <p:cNvCxnSpPr>
            <a:cxnSpLocks/>
            <a:endCxn id="73" idx="1"/>
          </p:cNvCxnSpPr>
          <p:nvPr/>
        </p:nvCxnSpPr>
        <p:spPr>
          <a:xfrm>
            <a:off x="1367969" y="1945100"/>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42E2365-F35A-3C3F-52AE-457E0924C97F}"/>
              </a:ext>
            </a:extLst>
          </p:cNvPr>
          <p:cNvCxnSpPr>
            <a:cxnSpLocks/>
            <a:endCxn id="33" idx="2"/>
          </p:cNvCxnSpPr>
          <p:nvPr/>
        </p:nvCxnSpPr>
        <p:spPr>
          <a:xfrm flipV="1">
            <a:off x="1367969" y="3714441"/>
            <a:ext cx="2247494" cy="799502"/>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6336D694-05B3-81A1-257B-27118FA43706}"/>
              </a:ext>
            </a:extLst>
          </p:cNvPr>
          <p:cNvCxnSpPr>
            <a:cxnSpLocks/>
            <a:endCxn id="34" idx="1"/>
          </p:cNvCxnSpPr>
          <p:nvPr/>
        </p:nvCxnSpPr>
        <p:spPr>
          <a:xfrm>
            <a:off x="1367969" y="5031883"/>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 name="Elbow Connector 106">
            <a:extLst>
              <a:ext uri="{FF2B5EF4-FFF2-40B4-BE49-F238E27FC236}">
                <a16:creationId xmlns:a16="http://schemas.microsoft.com/office/drawing/2014/main" id="{5911D2EE-93ED-867B-BBF3-5517A8E2E38B}"/>
              </a:ext>
            </a:extLst>
          </p:cNvPr>
          <p:cNvCxnSpPr>
            <a:stCxn id="33" idx="3"/>
          </p:cNvCxnSpPr>
          <p:nvPr/>
        </p:nvCxnSpPr>
        <p:spPr>
          <a:xfrm>
            <a:off x="4438423" y="3453096"/>
            <a:ext cx="1592263" cy="1578787"/>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3C8EB94-ECA5-C251-5708-33960B0BCFA2}"/>
              </a:ext>
            </a:extLst>
          </p:cNvPr>
          <p:cNvCxnSpPr>
            <a:cxnSpLocks/>
            <a:endCxn id="83" idx="2"/>
          </p:cNvCxnSpPr>
          <p:nvPr/>
        </p:nvCxnSpPr>
        <p:spPr>
          <a:xfrm flipV="1">
            <a:off x="6417246" y="3714441"/>
            <a:ext cx="0" cy="7257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B898F4B2-5BA5-8CBE-0B77-5FA80FF4C9AB}"/>
              </a:ext>
            </a:extLst>
          </p:cNvPr>
          <p:cNvCxnSpPr>
            <a:stCxn id="73" idx="3"/>
            <a:endCxn id="74" idx="1"/>
          </p:cNvCxnSpPr>
          <p:nvPr/>
        </p:nvCxnSpPr>
        <p:spPr>
          <a:xfrm flipV="1">
            <a:off x="4438423" y="1939896"/>
            <a:ext cx="1152570" cy="52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109B5EE3-E05F-A33F-3D06-323DC396F088}"/>
              </a:ext>
            </a:extLst>
          </p:cNvPr>
          <p:cNvCxnSpPr>
            <a:stCxn id="83" idx="0"/>
            <a:endCxn id="74" idx="2"/>
          </p:cNvCxnSpPr>
          <p:nvPr/>
        </p:nvCxnSpPr>
        <p:spPr>
          <a:xfrm flipH="1" flipV="1">
            <a:off x="6413953" y="2201241"/>
            <a:ext cx="3293" cy="9905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5159D58C-1AC2-E591-0894-180ABD07ED03}"/>
              </a:ext>
            </a:extLst>
          </p:cNvPr>
          <p:cNvCxnSpPr>
            <a:stCxn id="74" idx="3"/>
            <a:endCxn id="84" idx="1"/>
          </p:cNvCxnSpPr>
          <p:nvPr/>
        </p:nvCxnSpPr>
        <p:spPr>
          <a:xfrm flipV="1">
            <a:off x="7236913" y="1277204"/>
            <a:ext cx="1181001" cy="66269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5571DBC5-E3B3-273E-8228-7674E855F4B0}"/>
              </a:ext>
            </a:extLst>
          </p:cNvPr>
          <p:cNvCxnSpPr>
            <a:stCxn id="84" idx="3"/>
            <a:endCxn id="87" idx="1"/>
          </p:cNvCxnSpPr>
          <p:nvPr/>
        </p:nvCxnSpPr>
        <p:spPr>
          <a:xfrm>
            <a:off x="9441171" y="1277204"/>
            <a:ext cx="113248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Elbow Connector 127">
            <a:extLst>
              <a:ext uri="{FF2B5EF4-FFF2-40B4-BE49-F238E27FC236}">
                <a16:creationId xmlns:a16="http://schemas.microsoft.com/office/drawing/2014/main" id="{BE3165B0-04CC-45D6-5AC8-E60A54B1D818}"/>
              </a:ext>
            </a:extLst>
          </p:cNvPr>
          <p:cNvCxnSpPr>
            <a:stCxn id="87" idx="2"/>
            <a:endCxn id="76" idx="0"/>
          </p:cNvCxnSpPr>
          <p:nvPr/>
        </p:nvCxnSpPr>
        <p:spPr>
          <a:xfrm rot="5400000">
            <a:off x="10195690" y="1357803"/>
            <a:ext cx="708850" cy="107034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7CAA9057-292D-1200-B3E6-D0461FC031E7}"/>
              </a:ext>
            </a:extLst>
          </p:cNvPr>
          <p:cNvCxnSpPr>
            <a:stCxn id="76" idx="2"/>
            <a:endCxn id="85" idx="0"/>
          </p:cNvCxnSpPr>
          <p:nvPr/>
        </p:nvCxnSpPr>
        <p:spPr>
          <a:xfrm>
            <a:off x="10014943" y="2770089"/>
            <a:ext cx="0" cy="77339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A14087D8-64C6-DE9D-B19E-BCE608636976}"/>
              </a:ext>
            </a:extLst>
          </p:cNvPr>
          <p:cNvCxnSpPr>
            <a:stCxn id="85" idx="2"/>
            <a:endCxn id="86" idx="0"/>
          </p:cNvCxnSpPr>
          <p:nvPr/>
        </p:nvCxnSpPr>
        <p:spPr>
          <a:xfrm flipH="1">
            <a:off x="10014942" y="4066174"/>
            <a:ext cx="1" cy="6243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EA253E11-3144-7496-D04B-3EC74E46972D}"/>
              </a:ext>
            </a:extLst>
          </p:cNvPr>
          <p:cNvCxnSpPr>
            <a:stCxn id="86" idx="2"/>
            <a:endCxn id="75" idx="0"/>
          </p:cNvCxnSpPr>
          <p:nvPr/>
        </p:nvCxnSpPr>
        <p:spPr>
          <a:xfrm flipH="1">
            <a:off x="10014941" y="5213186"/>
            <a:ext cx="1" cy="5661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99">
            <a:extLst>
              <a:ext uri="{FF2B5EF4-FFF2-40B4-BE49-F238E27FC236}">
                <a16:creationId xmlns:a16="http://schemas.microsoft.com/office/drawing/2014/main" id="{0A2D37B1-2465-39DB-6A9F-589C379978D5}"/>
              </a:ext>
            </a:extLst>
          </p:cNvPr>
          <p:cNvCxnSpPr>
            <a:cxnSpLocks/>
            <a:stCxn id="34" idx="2"/>
            <a:endCxn id="84" idx="2"/>
          </p:cNvCxnSpPr>
          <p:nvPr/>
        </p:nvCxnSpPr>
        <p:spPr>
          <a:xfrm rot="5400000" flipH="1" flipV="1">
            <a:off x="4395163" y="758849"/>
            <a:ext cx="3754679" cy="5314080"/>
          </a:xfrm>
          <a:prstGeom prst="bentConnector3">
            <a:avLst>
              <a:gd name="adj1" fmla="val -10147"/>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7D53DF80-8CB3-64C3-9E70-BFA456356B17}"/>
              </a:ext>
            </a:extLst>
          </p:cNvPr>
          <p:cNvSpPr txBox="1"/>
          <p:nvPr/>
        </p:nvSpPr>
        <p:spPr>
          <a:xfrm>
            <a:off x="7997371" y="1015859"/>
            <a:ext cx="300082" cy="369332"/>
          </a:xfrm>
          <a:prstGeom prst="rect">
            <a:avLst/>
          </a:prstGeom>
          <a:noFill/>
        </p:spPr>
        <p:txBody>
          <a:bodyPr wrap="none" rtlCol="0">
            <a:spAutoFit/>
          </a:bodyPr>
          <a:lstStyle/>
          <a:p>
            <a:r>
              <a:rPr lang="en-US" dirty="0"/>
              <a:t>*</a:t>
            </a:r>
          </a:p>
        </p:txBody>
      </p:sp>
      <p:sp>
        <p:nvSpPr>
          <p:cNvPr id="140" name="TextBox 139">
            <a:extLst>
              <a:ext uri="{FF2B5EF4-FFF2-40B4-BE49-F238E27FC236}">
                <a16:creationId xmlns:a16="http://schemas.microsoft.com/office/drawing/2014/main" id="{E38EBCC5-3F6B-404D-1C79-652771E09A18}"/>
              </a:ext>
            </a:extLst>
          </p:cNvPr>
          <p:cNvSpPr txBox="1"/>
          <p:nvPr/>
        </p:nvSpPr>
        <p:spPr>
          <a:xfrm>
            <a:off x="7785269" y="1262725"/>
            <a:ext cx="694421" cy="276999"/>
          </a:xfrm>
          <a:prstGeom prst="rect">
            <a:avLst/>
          </a:prstGeom>
          <a:noFill/>
        </p:spPr>
        <p:txBody>
          <a:bodyPr wrap="none" rtlCol="0">
            <a:spAutoFit/>
          </a:bodyPr>
          <a:lstStyle/>
          <a:p>
            <a:r>
              <a:rPr lang="en-US" sz="1200" dirty="0"/>
              <a:t>for each</a:t>
            </a:r>
          </a:p>
        </p:txBody>
      </p:sp>
      <p:cxnSp>
        <p:nvCxnSpPr>
          <p:cNvPr id="141" name="Straight Arrow Connector 99">
            <a:extLst>
              <a:ext uri="{FF2B5EF4-FFF2-40B4-BE49-F238E27FC236}">
                <a16:creationId xmlns:a16="http://schemas.microsoft.com/office/drawing/2014/main" id="{A67A6F3A-A1AF-6B6B-F016-BE0122B7DF6B}"/>
              </a:ext>
            </a:extLst>
          </p:cNvPr>
          <p:cNvCxnSpPr>
            <a:cxnSpLocks/>
            <a:stCxn id="34" idx="2"/>
            <a:endCxn id="85" idx="1"/>
          </p:cNvCxnSpPr>
          <p:nvPr/>
        </p:nvCxnSpPr>
        <p:spPr>
          <a:xfrm rot="5400000" flipH="1" flipV="1">
            <a:off x="5815188" y="1605103"/>
            <a:ext cx="1488399" cy="5887851"/>
          </a:xfrm>
          <a:prstGeom prst="bentConnector4">
            <a:avLst>
              <a:gd name="adj1" fmla="val -25111"/>
              <a:gd name="adj2" fmla="val 90268"/>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12F585A5-7333-F9EB-061D-EA7C3CA3B1D5}"/>
              </a:ext>
            </a:extLst>
          </p:cNvPr>
          <p:cNvSpPr txBox="1"/>
          <p:nvPr/>
        </p:nvSpPr>
        <p:spPr>
          <a:xfrm>
            <a:off x="9985643" y="3025609"/>
            <a:ext cx="1138581" cy="276999"/>
          </a:xfrm>
          <a:prstGeom prst="rect">
            <a:avLst/>
          </a:prstGeom>
          <a:noFill/>
        </p:spPr>
        <p:txBody>
          <a:bodyPr wrap="none" rtlCol="0">
            <a:spAutoFit/>
          </a:bodyPr>
          <a:lstStyle/>
          <a:p>
            <a:r>
              <a:rPr lang="en-US" sz="1200" dirty="0"/>
              <a:t>merge into one</a:t>
            </a:r>
          </a:p>
        </p:txBody>
      </p:sp>
      <p:sp>
        <p:nvSpPr>
          <p:cNvPr id="147" name="TextBox 146">
            <a:extLst>
              <a:ext uri="{FF2B5EF4-FFF2-40B4-BE49-F238E27FC236}">
                <a16:creationId xmlns:a16="http://schemas.microsoft.com/office/drawing/2014/main" id="{E435D655-8B46-C1F2-B83E-7EADCB89D75B}"/>
              </a:ext>
            </a:extLst>
          </p:cNvPr>
          <p:cNvSpPr txBox="1"/>
          <p:nvPr/>
        </p:nvSpPr>
        <p:spPr>
          <a:xfrm>
            <a:off x="28185" y="6387996"/>
            <a:ext cx="1131079" cy="400110"/>
          </a:xfrm>
          <a:prstGeom prst="rect">
            <a:avLst/>
          </a:prstGeom>
          <a:noFill/>
        </p:spPr>
        <p:txBody>
          <a:bodyPr wrap="none" rtlCol="0">
            <a:spAutoFit/>
          </a:bodyPr>
          <a:lstStyle/>
          <a:p>
            <a:r>
              <a:rPr lang="en-US" sz="2000" b="1" u="sng" dirty="0"/>
              <a:t>Retrieval</a:t>
            </a:r>
          </a:p>
        </p:txBody>
      </p:sp>
      <p:sp>
        <p:nvSpPr>
          <p:cNvPr id="148" name="TextBox 147">
            <a:extLst>
              <a:ext uri="{FF2B5EF4-FFF2-40B4-BE49-F238E27FC236}">
                <a16:creationId xmlns:a16="http://schemas.microsoft.com/office/drawing/2014/main" id="{13ED52D8-C79F-5FC8-0815-0C57944E4FDA}"/>
              </a:ext>
            </a:extLst>
          </p:cNvPr>
          <p:cNvSpPr txBox="1"/>
          <p:nvPr/>
        </p:nvSpPr>
        <p:spPr>
          <a:xfrm>
            <a:off x="10673487" y="6387996"/>
            <a:ext cx="1382110" cy="400110"/>
          </a:xfrm>
          <a:prstGeom prst="rect">
            <a:avLst/>
          </a:prstGeom>
          <a:noFill/>
        </p:spPr>
        <p:txBody>
          <a:bodyPr wrap="none" rtlCol="0">
            <a:spAutoFit/>
          </a:bodyPr>
          <a:lstStyle/>
          <a:p>
            <a:r>
              <a:rPr lang="en-US" sz="2000" b="1" u="sng" dirty="0"/>
              <a:t>Generation</a:t>
            </a:r>
          </a:p>
        </p:txBody>
      </p:sp>
      <p:sp>
        <p:nvSpPr>
          <p:cNvPr id="3" name="TextBox 2">
            <a:extLst>
              <a:ext uri="{FF2B5EF4-FFF2-40B4-BE49-F238E27FC236}">
                <a16:creationId xmlns:a16="http://schemas.microsoft.com/office/drawing/2014/main" id="{431778FE-22E1-D9B4-B7C3-D89859054675}"/>
              </a:ext>
            </a:extLst>
          </p:cNvPr>
          <p:cNvSpPr txBox="1"/>
          <p:nvPr/>
        </p:nvSpPr>
        <p:spPr>
          <a:xfrm>
            <a:off x="1881439" y="5031883"/>
            <a:ext cx="524503" cy="369332"/>
          </a:xfrm>
          <a:prstGeom prst="rect">
            <a:avLst/>
          </a:prstGeom>
          <a:solidFill>
            <a:srgbClr val="FFFF00"/>
          </a:solidFill>
        </p:spPr>
        <p:txBody>
          <a:bodyPr wrap="none" rtlCol="0">
            <a:spAutoFit/>
          </a:bodyPr>
          <a:lstStyle/>
          <a:p>
            <a:r>
              <a:rPr lang="en-US" dirty="0"/>
              <a:t>FIs </a:t>
            </a:r>
          </a:p>
        </p:txBody>
      </p:sp>
      <p:sp>
        <p:nvSpPr>
          <p:cNvPr id="4" name="TextBox 3">
            <a:extLst>
              <a:ext uri="{FF2B5EF4-FFF2-40B4-BE49-F238E27FC236}">
                <a16:creationId xmlns:a16="http://schemas.microsoft.com/office/drawing/2014/main" id="{100DF947-4CF6-52AF-662D-2E4F814B65B6}"/>
              </a:ext>
            </a:extLst>
          </p:cNvPr>
          <p:cNvSpPr txBox="1"/>
          <p:nvPr/>
        </p:nvSpPr>
        <p:spPr>
          <a:xfrm>
            <a:off x="765748" y="5952620"/>
            <a:ext cx="2755883" cy="369332"/>
          </a:xfrm>
          <a:prstGeom prst="rect">
            <a:avLst/>
          </a:prstGeom>
          <a:solidFill>
            <a:srgbClr val="FFFF00"/>
          </a:solidFill>
        </p:spPr>
        <p:txBody>
          <a:bodyPr wrap="none" rtlCol="0">
            <a:spAutoFit/>
          </a:bodyPr>
          <a:lstStyle/>
          <a:p>
            <a:r>
              <a:rPr lang="en-US" dirty="0"/>
              <a:t>PPIs in </a:t>
            </a:r>
            <a:r>
              <a:rPr lang="en-US" dirty="0" err="1"/>
              <a:t>IntAct</a:t>
            </a:r>
            <a:r>
              <a:rPr lang="en-US" dirty="0"/>
              <a:t> and </a:t>
            </a:r>
            <a:r>
              <a:rPr lang="en-US" dirty="0" err="1"/>
              <a:t>BioGrid</a:t>
            </a:r>
            <a:r>
              <a:rPr lang="en-US" dirty="0"/>
              <a:t> </a:t>
            </a:r>
          </a:p>
        </p:txBody>
      </p:sp>
      <p:cxnSp>
        <p:nvCxnSpPr>
          <p:cNvPr id="7" name="Straight Arrow Connector 6">
            <a:extLst>
              <a:ext uri="{FF2B5EF4-FFF2-40B4-BE49-F238E27FC236}">
                <a16:creationId xmlns:a16="http://schemas.microsoft.com/office/drawing/2014/main" id="{732D0815-4185-056E-F8B4-993EF6CC73C4}"/>
              </a:ext>
            </a:extLst>
          </p:cNvPr>
          <p:cNvCxnSpPr>
            <a:stCxn id="3" idx="2"/>
            <a:endCxn id="4" idx="0"/>
          </p:cNvCxnSpPr>
          <p:nvPr/>
        </p:nvCxnSpPr>
        <p:spPr>
          <a:xfrm flipH="1">
            <a:off x="2143690" y="5401215"/>
            <a:ext cx="1" cy="55140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797C7BC-A8CF-3AD1-3C77-1DAB32E10126}"/>
              </a:ext>
            </a:extLst>
          </p:cNvPr>
          <p:cNvSpPr txBox="1"/>
          <p:nvPr/>
        </p:nvSpPr>
        <p:spPr>
          <a:xfrm>
            <a:off x="1297127" y="1247827"/>
            <a:ext cx="2624886" cy="369332"/>
          </a:xfrm>
          <a:prstGeom prst="rect">
            <a:avLst/>
          </a:prstGeom>
          <a:solidFill>
            <a:srgbClr val="FFFF00"/>
          </a:solidFill>
        </p:spPr>
        <p:txBody>
          <a:bodyPr wrap="none" rtlCol="0">
            <a:spAutoFit/>
          </a:bodyPr>
          <a:lstStyle/>
          <a:p>
            <a:r>
              <a:rPr lang="en-US" dirty="0"/>
              <a:t>Download from PubMed </a:t>
            </a:r>
          </a:p>
        </p:txBody>
      </p:sp>
      <p:sp>
        <p:nvSpPr>
          <p:cNvPr id="8" name="TextBox 7">
            <a:extLst>
              <a:ext uri="{FF2B5EF4-FFF2-40B4-BE49-F238E27FC236}">
                <a16:creationId xmlns:a16="http://schemas.microsoft.com/office/drawing/2014/main" id="{0DF4D04B-5EE1-8FB2-51C3-76691D6E9E01}"/>
              </a:ext>
            </a:extLst>
          </p:cNvPr>
          <p:cNvSpPr txBox="1"/>
          <p:nvPr/>
        </p:nvSpPr>
        <p:spPr>
          <a:xfrm>
            <a:off x="4204678" y="697295"/>
            <a:ext cx="1745158" cy="369332"/>
          </a:xfrm>
          <a:prstGeom prst="rect">
            <a:avLst/>
          </a:prstGeom>
          <a:solidFill>
            <a:srgbClr val="FFFF00"/>
          </a:solidFill>
        </p:spPr>
        <p:txBody>
          <a:bodyPr wrap="none" rtlCol="0">
            <a:spAutoFit/>
          </a:bodyPr>
          <a:lstStyle/>
          <a:p>
            <a:r>
              <a:rPr lang="en-US" dirty="0"/>
              <a:t>Local </a:t>
            </a:r>
            <a:r>
              <a:rPr lang="en-US" dirty="0" err="1"/>
              <a:t>MangoDB</a:t>
            </a:r>
            <a:endParaRPr lang="en-US" dirty="0"/>
          </a:p>
        </p:txBody>
      </p:sp>
      <p:cxnSp>
        <p:nvCxnSpPr>
          <p:cNvPr id="9" name="Straight Arrow Connector 8">
            <a:extLst>
              <a:ext uri="{FF2B5EF4-FFF2-40B4-BE49-F238E27FC236}">
                <a16:creationId xmlns:a16="http://schemas.microsoft.com/office/drawing/2014/main" id="{0D517A48-7EB4-6320-5A49-01E1E353AC31}"/>
              </a:ext>
            </a:extLst>
          </p:cNvPr>
          <p:cNvCxnSpPr>
            <a:cxnSpLocks/>
            <a:stCxn id="6" idx="0"/>
            <a:endCxn id="8" idx="1"/>
          </p:cNvCxnSpPr>
          <p:nvPr/>
        </p:nvCxnSpPr>
        <p:spPr>
          <a:xfrm rot="5400000" flipH="1" flipV="1">
            <a:off x="3224191" y="267340"/>
            <a:ext cx="365866" cy="1595108"/>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3725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3D312-824F-D90B-E49B-644292A5B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D5AE4-CA37-82E1-77C7-29FF462D528D}"/>
              </a:ext>
            </a:extLst>
          </p:cNvPr>
          <p:cNvSpPr>
            <a:spLocks noGrp="1"/>
          </p:cNvSpPr>
          <p:nvPr>
            <p:ph type="title"/>
          </p:nvPr>
        </p:nvSpPr>
        <p:spPr>
          <a:xfrm>
            <a:off x="12418" y="47404"/>
            <a:ext cx="12163815" cy="751275"/>
          </a:xfrm>
        </p:spPr>
        <p:txBody>
          <a:bodyPr>
            <a:normAutofit/>
          </a:bodyPr>
          <a:lstStyle/>
          <a:p>
            <a:pPr algn="ctr"/>
            <a:r>
              <a:rPr lang="en-US" dirty="0"/>
              <a:t>RAG-based Workflow for LLM App in Curator Tool</a:t>
            </a:r>
          </a:p>
        </p:txBody>
      </p:sp>
      <p:sp>
        <p:nvSpPr>
          <p:cNvPr id="5" name="Rounded Rectangle 4">
            <a:extLst>
              <a:ext uri="{FF2B5EF4-FFF2-40B4-BE49-F238E27FC236}">
                <a16:creationId xmlns:a16="http://schemas.microsoft.com/office/drawing/2014/main" id="{50FC9EBD-2B11-111E-4D6B-CF75397CCBF9}"/>
              </a:ext>
            </a:extLst>
          </p:cNvPr>
          <p:cNvSpPr/>
          <p:nvPr/>
        </p:nvSpPr>
        <p:spPr>
          <a:xfrm>
            <a:off x="135238" y="316680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 not annotated</a:t>
            </a:r>
          </a:p>
        </p:txBody>
      </p:sp>
      <p:grpSp>
        <p:nvGrpSpPr>
          <p:cNvPr id="27" name="Group 26">
            <a:extLst>
              <a:ext uri="{FF2B5EF4-FFF2-40B4-BE49-F238E27FC236}">
                <a16:creationId xmlns:a16="http://schemas.microsoft.com/office/drawing/2014/main" id="{E1770933-8D9D-CB3C-FC45-DF4F1744A62B}"/>
              </a:ext>
            </a:extLst>
          </p:cNvPr>
          <p:cNvGrpSpPr/>
          <p:nvPr/>
        </p:nvGrpSpPr>
        <p:grpSpPr>
          <a:xfrm>
            <a:off x="218063" y="4367946"/>
            <a:ext cx="1433277" cy="1254572"/>
            <a:chOff x="1034766" y="4668922"/>
            <a:chExt cx="1433277" cy="1254572"/>
          </a:xfrm>
        </p:grpSpPr>
        <p:pic>
          <p:nvPicPr>
            <p:cNvPr id="23" name="Graphic 22" descr="Database with solid fill">
              <a:extLst>
                <a:ext uri="{FF2B5EF4-FFF2-40B4-BE49-F238E27FC236}">
                  <a16:creationId xmlns:a16="http://schemas.microsoft.com/office/drawing/2014/main" id="{5B8BD1D9-CA7D-45B6-80AF-D8F3E0EA58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8285" y="4668922"/>
              <a:ext cx="1023257" cy="1023257"/>
            </a:xfrm>
            <a:prstGeom prst="rect">
              <a:avLst/>
            </a:prstGeom>
          </p:spPr>
        </p:pic>
        <p:sp>
          <p:nvSpPr>
            <p:cNvPr id="26" name="TextBox 25">
              <a:extLst>
                <a:ext uri="{FF2B5EF4-FFF2-40B4-BE49-F238E27FC236}">
                  <a16:creationId xmlns:a16="http://schemas.microsoft.com/office/drawing/2014/main" id="{D2234D49-DBA4-A091-5676-53D6D622450E}"/>
                </a:ext>
              </a:extLst>
            </p:cNvPr>
            <p:cNvSpPr txBox="1"/>
            <p:nvPr/>
          </p:nvSpPr>
          <p:spPr>
            <a:xfrm>
              <a:off x="1034766" y="5615717"/>
              <a:ext cx="1433277" cy="307777"/>
            </a:xfrm>
            <a:prstGeom prst="rect">
              <a:avLst/>
            </a:prstGeom>
            <a:noFill/>
          </p:spPr>
          <p:txBody>
            <a:bodyPr wrap="none" rtlCol="0">
              <a:spAutoFit/>
            </a:bodyPr>
            <a:lstStyle/>
            <a:p>
              <a:r>
                <a:rPr lang="en-US" sz="1400" dirty="0" err="1"/>
                <a:t>idg.reactome.org</a:t>
              </a:r>
              <a:endParaRPr lang="en-US" sz="1400" dirty="0"/>
            </a:p>
          </p:txBody>
        </p:sp>
      </p:grpSp>
      <p:sp>
        <p:nvSpPr>
          <p:cNvPr id="33" name="Rounded Rectangle 32">
            <a:extLst>
              <a:ext uri="{FF2B5EF4-FFF2-40B4-BE49-F238E27FC236}">
                <a16:creationId xmlns:a16="http://schemas.microsoft.com/office/drawing/2014/main" id="{281EEF9D-FE00-A95C-419D-3948BFD7E726}"/>
              </a:ext>
            </a:extLst>
          </p:cNvPr>
          <p:cNvSpPr/>
          <p:nvPr/>
        </p:nvSpPr>
        <p:spPr>
          <a:xfrm>
            <a:off x="2792503"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pathways</a:t>
            </a:r>
          </a:p>
        </p:txBody>
      </p:sp>
      <p:sp>
        <p:nvSpPr>
          <p:cNvPr id="34" name="Rounded Rectangle 33">
            <a:extLst>
              <a:ext uri="{FF2B5EF4-FFF2-40B4-BE49-F238E27FC236}">
                <a16:creationId xmlns:a16="http://schemas.microsoft.com/office/drawing/2014/main" id="{90DE4D32-3CD1-9886-4B3C-87E02C794C25}"/>
              </a:ext>
            </a:extLst>
          </p:cNvPr>
          <p:cNvSpPr/>
          <p:nvPr/>
        </p:nvSpPr>
        <p:spPr>
          <a:xfrm>
            <a:off x="2792503" y="4770538"/>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genes</a:t>
            </a:r>
          </a:p>
        </p:txBody>
      </p:sp>
      <p:grpSp>
        <p:nvGrpSpPr>
          <p:cNvPr id="36" name="Group 35">
            <a:extLst>
              <a:ext uri="{FF2B5EF4-FFF2-40B4-BE49-F238E27FC236}">
                <a16:creationId xmlns:a16="http://schemas.microsoft.com/office/drawing/2014/main" id="{8734E524-74D5-E072-E484-F57CDFE5E026}"/>
              </a:ext>
            </a:extLst>
          </p:cNvPr>
          <p:cNvGrpSpPr/>
          <p:nvPr/>
        </p:nvGrpSpPr>
        <p:grpSpPr>
          <a:xfrm>
            <a:off x="5721414" y="4440213"/>
            <a:ext cx="1391663" cy="1205235"/>
            <a:chOff x="914833" y="4686385"/>
            <a:chExt cx="1391663" cy="1205235"/>
          </a:xfrm>
        </p:grpSpPr>
        <p:pic>
          <p:nvPicPr>
            <p:cNvPr id="38" name="Graphic 37" descr="Database with solid fill">
              <a:extLst>
                <a:ext uri="{FF2B5EF4-FFF2-40B4-BE49-F238E27FC236}">
                  <a16:creationId xmlns:a16="http://schemas.microsoft.com/office/drawing/2014/main" id="{8053B1FA-5F5C-4A1D-A4E6-DA8BF77F40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40" name="TextBox 39">
              <a:extLst>
                <a:ext uri="{FF2B5EF4-FFF2-40B4-BE49-F238E27FC236}">
                  <a16:creationId xmlns:a16="http://schemas.microsoft.com/office/drawing/2014/main" id="{564B8A00-3BCF-8C82-2C9E-9DCDF893A1D0}"/>
                </a:ext>
              </a:extLst>
            </p:cNvPr>
            <p:cNvSpPr txBox="1"/>
            <p:nvPr/>
          </p:nvSpPr>
          <p:spPr>
            <a:xfrm>
              <a:off x="914833" y="5583843"/>
              <a:ext cx="1391663" cy="307777"/>
            </a:xfrm>
            <a:prstGeom prst="rect">
              <a:avLst/>
            </a:prstGeom>
            <a:noFill/>
          </p:spPr>
          <p:txBody>
            <a:bodyPr wrap="none" rtlCol="0">
              <a:spAutoFit/>
            </a:bodyPr>
            <a:lstStyle/>
            <a:p>
              <a:r>
                <a:rPr lang="en-US" sz="1400" dirty="0" err="1"/>
                <a:t>Reactome</a:t>
              </a:r>
              <a:r>
                <a:rPr lang="en-US" sz="1400" dirty="0"/>
                <a:t> Neo4j</a:t>
              </a:r>
            </a:p>
          </p:txBody>
        </p:sp>
      </p:grpSp>
      <p:grpSp>
        <p:nvGrpSpPr>
          <p:cNvPr id="60" name="Group 59">
            <a:extLst>
              <a:ext uri="{FF2B5EF4-FFF2-40B4-BE49-F238E27FC236}">
                <a16:creationId xmlns:a16="http://schemas.microsoft.com/office/drawing/2014/main" id="{64EDCC29-A3C8-6329-AE6C-4E93634CADE4}"/>
              </a:ext>
            </a:extLst>
          </p:cNvPr>
          <p:cNvGrpSpPr/>
          <p:nvPr/>
        </p:nvGrpSpPr>
        <p:grpSpPr>
          <a:xfrm>
            <a:off x="453827" y="1376857"/>
            <a:ext cx="1023257" cy="1182686"/>
            <a:chOff x="1099035" y="4686385"/>
            <a:chExt cx="1023257" cy="1182686"/>
          </a:xfrm>
        </p:grpSpPr>
        <p:pic>
          <p:nvPicPr>
            <p:cNvPr id="61" name="Graphic 60" descr="Database with solid fill">
              <a:extLst>
                <a:ext uri="{FF2B5EF4-FFF2-40B4-BE49-F238E27FC236}">
                  <a16:creationId xmlns:a16="http://schemas.microsoft.com/office/drawing/2014/main" id="{61F2EAFA-8208-94D2-35A5-3239A4BABC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62" name="TextBox 61">
              <a:extLst>
                <a:ext uri="{FF2B5EF4-FFF2-40B4-BE49-F238E27FC236}">
                  <a16:creationId xmlns:a16="http://schemas.microsoft.com/office/drawing/2014/main" id="{61D918BB-8096-CD08-57AC-EAC60AE6D5E9}"/>
                </a:ext>
              </a:extLst>
            </p:cNvPr>
            <p:cNvSpPr txBox="1"/>
            <p:nvPr/>
          </p:nvSpPr>
          <p:spPr>
            <a:xfrm>
              <a:off x="1208148" y="5561294"/>
              <a:ext cx="805029" cy="307777"/>
            </a:xfrm>
            <a:prstGeom prst="rect">
              <a:avLst/>
            </a:prstGeom>
            <a:noFill/>
          </p:spPr>
          <p:txBody>
            <a:bodyPr wrap="none" rtlCol="0">
              <a:spAutoFit/>
            </a:bodyPr>
            <a:lstStyle/>
            <a:p>
              <a:r>
                <a:rPr lang="en-US" sz="1400" dirty="0"/>
                <a:t>PubMed</a:t>
              </a:r>
            </a:p>
          </p:txBody>
        </p:sp>
      </p:grpSp>
      <p:sp>
        <p:nvSpPr>
          <p:cNvPr id="73" name="Rounded Rectangle 72">
            <a:extLst>
              <a:ext uri="{FF2B5EF4-FFF2-40B4-BE49-F238E27FC236}">
                <a16:creationId xmlns:a16="http://schemas.microsoft.com/office/drawing/2014/main" id="{E3561C19-5A20-2405-5E62-ACED6618F9D9}"/>
              </a:ext>
            </a:extLst>
          </p:cNvPr>
          <p:cNvSpPr/>
          <p:nvPr/>
        </p:nvSpPr>
        <p:spPr>
          <a:xfrm>
            <a:off x="2792503" y="1683755"/>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Genes-related Abstracts</a:t>
            </a:r>
          </a:p>
        </p:txBody>
      </p:sp>
      <p:sp>
        <p:nvSpPr>
          <p:cNvPr id="74" name="Rounded Rectangle 73">
            <a:extLst>
              <a:ext uri="{FF2B5EF4-FFF2-40B4-BE49-F238E27FC236}">
                <a16:creationId xmlns:a16="http://schemas.microsoft.com/office/drawing/2014/main" id="{6F544A78-AF17-9D24-6978-7FD2BC5AE777}"/>
              </a:ext>
            </a:extLst>
          </p:cNvPr>
          <p:cNvSpPr/>
          <p:nvPr/>
        </p:nvSpPr>
        <p:spPr>
          <a:xfrm>
            <a:off x="5590993" y="16785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Pathway-matched Abstracts</a:t>
            </a:r>
          </a:p>
        </p:txBody>
      </p:sp>
      <p:sp>
        <p:nvSpPr>
          <p:cNvPr id="75" name="Rounded Rectangle 74">
            <a:extLst>
              <a:ext uri="{FF2B5EF4-FFF2-40B4-BE49-F238E27FC236}">
                <a16:creationId xmlns:a16="http://schemas.microsoft.com/office/drawing/2014/main" id="{94E1FAA0-BC06-2430-2411-C7FE5CD7CE23}"/>
              </a:ext>
            </a:extLst>
          </p:cNvPr>
          <p:cNvSpPr/>
          <p:nvPr/>
        </p:nvSpPr>
        <p:spPr>
          <a:xfrm>
            <a:off x="9191981" y="5779322"/>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Final Summary</a:t>
            </a:r>
          </a:p>
        </p:txBody>
      </p:sp>
      <p:sp>
        <p:nvSpPr>
          <p:cNvPr id="76" name="Rounded Rectangle 75">
            <a:extLst>
              <a:ext uri="{FF2B5EF4-FFF2-40B4-BE49-F238E27FC236}">
                <a16:creationId xmlns:a16="http://schemas.microsoft.com/office/drawing/2014/main" id="{70D531BC-3971-5BDC-A030-D06335B2DC2F}"/>
              </a:ext>
            </a:extLst>
          </p:cNvPr>
          <p:cNvSpPr/>
          <p:nvPr/>
        </p:nvSpPr>
        <p:spPr>
          <a:xfrm>
            <a:off x="9191983" y="2247399"/>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Abstract &amp; Pathway Summary</a:t>
            </a:r>
          </a:p>
        </p:txBody>
      </p:sp>
      <p:sp>
        <p:nvSpPr>
          <p:cNvPr id="83" name="Rounded Rectangle 82">
            <a:extLst>
              <a:ext uri="{FF2B5EF4-FFF2-40B4-BE49-F238E27FC236}">
                <a16:creationId xmlns:a16="http://schemas.microsoft.com/office/drawing/2014/main" id="{F7287EF2-FDC3-FC5B-EE04-B4EAA40A0A33}"/>
              </a:ext>
            </a:extLst>
          </p:cNvPr>
          <p:cNvSpPr/>
          <p:nvPr/>
        </p:nvSpPr>
        <p:spPr>
          <a:xfrm>
            <a:off x="5594286"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 Summaries</a:t>
            </a:r>
          </a:p>
        </p:txBody>
      </p:sp>
      <p:sp>
        <p:nvSpPr>
          <p:cNvPr id="84" name="Rounded Rectangle 83">
            <a:extLst>
              <a:ext uri="{FF2B5EF4-FFF2-40B4-BE49-F238E27FC236}">
                <a16:creationId xmlns:a16="http://schemas.microsoft.com/office/drawing/2014/main" id="{715F16DC-1E64-2447-F0F5-9DD48373BD29}"/>
              </a:ext>
            </a:extLst>
          </p:cNvPr>
          <p:cNvSpPr/>
          <p:nvPr/>
        </p:nvSpPr>
        <p:spPr>
          <a:xfrm>
            <a:off x="8417914" y="1015859"/>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5" name="Rounded Rectangle 84">
            <a:extLst>
              <a:ext uri="{FF2B5EF4-FFF2-40B4-BE49-F238E27FC236}">
                <a16:creationId xmlns:a16="http://schemas.microsoft.com/office/drawing/2014/main" id="{F69FF4FA-034F-22D3-586E-1846BBE454B2}"/>
              </a:ext>
            </a:extLst>
          </p:cNvPr>
          <p:cNvSpPr/>
          <p:nvPr/>
        </p:nvSpPr>
        <p:spPr>
          <a:xfrm>
            <a:off x="9503314" y="3543484"/>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6" name="Rounded Rectangle 85">
            <a:extLst>
              <a:ext uri="{FF2B5EF4-FFF2-40B4-BE49-F238E27FC236}">
                <a16:creationId xmlns:a16="http://schemas.microsoft.com/office/drawing/2014/main" id="{E72B9DF0-AE2C-5C84-3915-AA3A6512716C}"/>
              </a:ext>
            </a:extLst>
          </p:cNvPr>
          <p:cNvSpPr/>
          <p:nvPr/>
        </p:nvSpPr>
        <p:spPr>
          <a:xfrm>
            <a:off x="9503313" y="4690496"/>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87" name="Rounded Rectangle 86">
            <a:extLst>
              <a:ext uri="{FF2B5EF4-FFF2-40B4-BE49-F238E27FC236}">
                <a16:creationId xmlns:a16="http://schemas.microsoft.com/office/drawing/2014/main" id="{B9F84AB4-0E36-A6A3-0935-C620D14D60ED}"/>
              </a:ext>
            </a:extLst>
          </p:cNvPr>
          <p:cNvSpPr/>
          <p:nvPr/>
        </p:nvSpPr>
        <p:spPr>
          <a:xfrm>
            <a:off x="10573657" y="1015859"/>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cxnSp>
        <p:nvCxnSpPr>
          <p:cNvPr id="91" name="Straight Arrow Connector 90">
            <a:extLst>
              <a:ext uri="{FF2B5EF4-FFF2-40B4-BE49-F238E27FC236}">
                <a16:creationId xmlns:a16="http://schemas.microsoft.com/office/drawing/2014/main" id="{47631B65-8655-AAF9-706C-653856B737C8}"/>
              </a:ext>
            </a:extLst>
          </p:cNvPr>
          <p:cNvCxnSpPr>
            <a:stCxn id="5" idx="0"/>
            <a:endCxn id="62" idx="2"/>
          </p:cNvCxnSpPr>
          <p:nvPr/>
        </p:nvCxnSpPr>
        <p:spPr>
          <a:xfrm flipV="1">
            <a:off x="958198" y="2559543"/>
            <a:ext cx="7257" cy="6072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D468A1A5-AD45-DE46-9508-9EA3F4A1A48A}"/>
              </a:ext>
            </a:extLst>
          </p:cNvPr>
          <p:cNvCxnSpPr>
            <a:cxnSpLocks/>
            <a:stCxn id="5" idx="2"/>
            <a:endCxn id="23" idx="0"/>
          </p:cNvCxnSpPr>
          <p:nvPr/>
        </p:nvCxnSpPr>
        <p:spPr>
          <a:xfrm flipH="1">
            <a:off x="953211" y="3689491"/>
            <a:ext cx="4987" cy="67845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09141363-6AD6-8EB7-44EE-25898071C355}"/>
              </a:ext>
            </a:extLst>
          </p:cNvPr>
          <p:cNvCxnSpPr>
            <a:cxnSpLocks/>
            <a:endCxn id="73" idx="1"/>
          </p:cNvCxnSpPr>
          <p:nvPr/>
        </p:nvCxnSpPr>
        <p:spPr>
          <a:xfrm>
            <a:off x="1367969" y="1945100"/>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027C77AE-6975-E27D-23BE-D035BD847175}"/>
              </a:ext>
            </a:extLst>
          </p:cNvPr>
          <p:cNvCxnSpPr>
            <a:cxnSpLocks/>
            <a:endCxn id="33" idx="2"/>
          </p:cNvCxnSpPr>
          <p:nvPr/>
        </p:nvCxnSpPr>
        <p:spPr>
          <a:xfrm flipV="1">
            <a:off x="1367969" y="3714441"/>
            <a:ext cx="2247494" cy="799502"/>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740A1673-D592-1A92-6309-CB73AFC6B828}"/>
              </a:ext>
            </a:extLst>
          </p:cNvPr>
          <p:cNvCxnSpPr>
            <a:cxnSpLocks/>
            <a:endCxn id="34" idx="1"/>
          </p:cNvCxnSpPr>
          <p:nvPr/>
        </p:nvCxnSpPr>
        <p:spPr>
          <a:xfrm>
            <a:off x="1367969" y="5031883"/>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 name="Elbow Connector 106">
            <a:extLst>
              <a:ext uri="{FF2B5EF4-FFF2-40B4-BE49-F238E27FC236}">
                <a16:creationId xmlns:a16="http://schemas.microsoft.com/office/drawing/2014/main" id="{6091F253-1250-2023-0C9A-69E200EAF9B5}"/>
              </a:ext>
            </a:extLst>
          </p:cNvPr>
          <p:cNvCxnSpPr>
            <a:stCxn id="33" idx="3"/>
          </p:cNvCxnSpPr>
          <p:nvPr/>
        </p:nvCxnSpPr>
        <p:spPr>
          <a:xfrm>
            <a:off x="4438423" y="3453096"/>
            <a:ext cx="1592263" cy="1578787"/>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9D4CF1B7-725C-4DED-68E6-B43F715CB6CE}"/>
              </a:ext>
            </a:extLst>
          </p:cNvPr>
          <p:cNvCxnSpPr>
            <a:cxnSpLocks/>
            <a:endCxn id="83" idx="2"/>
          </p:cNvCxnSpPr>
          <p:nvPr/>
        </p:nvCxnSpPr>
        <p:spPr>
          <a:xfrm flipV="1">
            <a:off x="6417246" y="3714441"/>
            <a:ext cx="0" cy="7257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416F4C2A-4206-6C22-B11F-AD0354292966}"/>
              </a:ext>
            </a:extLst>
          </p:cNvPr>
          <p:cNvCxnSpPr>
            <a:stCxn id="73" idx="3"/>
            <a:endCxn id="74" idx="1"/>
          </p:cNvCxnSpPr>
          <p:nvPr/>
        </p:nvCxnSpPr>
        <p:spPr>
          <a:xfrm flipV="1">
            <a:off x="4438423" y="1939896"/>
            <a:ext cx="1152570" cy="52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11399F64-6EB9-29E6-4D3D-72F961511734}"/>
              </a:ext>
            </a:extLst>
          </p:cNvPr>
          <p:cNvCxnSpPr>
            <a:stCxn id="83" idx="0"/>
            <a:endCxn id="74" idx="2"/>
          </p:cNvCxnSpPr>
          <p:nvPr/>
        </p:nvCxnSpPr>
        <p:spPr>
          <a:xfrm flipH="1" flipV="1">
            <a:off x="6413953" y="2201241"/>
            <a:ext cx="3293" cy="9905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0DDF5FCB-608A-C86C-5C49-B36E42984CAE}"/>
              </a:ext>
            </a:extLst>
          </p:cNvPr>
          <p:cNvCxnSpPr>
            <a:stCxn id="74" idx="3"/>
            <a:endCxn id="84" idx="1"/>
          </p:cNvCxnSpPr>
          <p:nvPr/>
        </p:nvCxnSpPr>
        <p:spPr>
          <a:xfrm flipV="1">
            <a:off x="7236913" y="1277204"/>
            <a:ext cx="1181001" cy="66269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B86B2C8D-C224-BD33-F042-F61D96F28390}"/>
              </a:ext>
            </a:extLst>
          </p:cNvPr>
          <p:cNvCxnSpPr>
            <a:stCxn id="84" idx="3"/>
            <a:endCxn id="87" idx="1"/>
          </p:cNvCxnSpPr>
          <p:nvPr/>
        </p:nvCxnSpPr>
        <p:spPr>
          <a:xfrm>
            <a:off x="9441171" y="1277204"/>
            <a:ext cx="113248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Elbow Connector 127">
            <a:extLst>
              <a:ext uri="{FF2B5EF4-FFF2-40B4-BE49-F238E27FC236}">
                <a16:creationId xmlns:a16="http://schemas.microsoft.com/office/drawing/2014/main" id="{D87972B6-178A-F539-3DA0-AF54256441CA}"/>
              </a:ext>
            </a:extLst>
          </p:cNvPr>
          <p:cNvCxnSpPr>
            <a:stCxn id="87" idx="2"/>
            <a:endCxn id="76" idx="0"/>
          </p:cNvCxnSpPr>
          <p:nvPr/>
        </p:nvCxnSpPr>
        <p:spPr>
          <a:xfrm rot="5400000">
            <a:off x="10195690" y="1357803"/>
            <a:ext cx="708850" cy="107034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3D0DA446-A832-83F0-EF6D-E5F14946C233}"/>
              </a:ext>
            </a:extLst>
          </p:cNvPr>
          <p:cNvCxnSpPr>
            <a:stCxn id="76" idx="2"/>
            <a:endCxn id="85" idx="0"/>
          </p:cNvCxnSpPr>
          <p:nvPr/>
        </p:nvCxnSpPr>
        <p:spPr>
          <a:xfrm>
            <a:off x="10014943" y="2770089"/>
            <a:ext cx="0" cy="77339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AF99E204-232F-78E1-DA0E-87AA2FC7D1F4}"/>
              </a:ext>
            </a:extLst>
          </p:cNvPr>
          <p:cNvCxnSpPr>
            <a:stCxn id="85" idx="2"/>
            <a:endCxn id="86" idx="0"/>
          </p:cNvCxnSpPr>
          <p:nvPr/>
        </p:nvCxnSpPr>
        <p:spPr>
          <a:xfrm flipH="1">
            <a:off x="10014942" y="4066174"/>
            <a:ext cx="1" cy="6243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C396FC78-17BB-B627-4CF5-C01C1399342C}"/>
              </a:ext>
            </a:extLst>
          </p:cNvPr>
          <p:cNvCxnSpPr>
            <a:stCxn id="86" idx="2"/>
            <a:endCxn id="75" idx="0"/>
          </p:cNvCxnSpPr>
          <p:nvPr/>
        </p:nvCxnSpPr>
        <p:spPr>
          <a:xfrm flipH="1">
            <a:off x="10014941" y="5213186"/>
            <a:ext cx="1" cy="5661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99">
            <a:extLst>
              <a:ext uri="{FF2B5EF4-FFF2-40B4-BE49-F238E27FC236}">
                <a16:creationId xmlns:a16="http://schemas.microsoft.com/office/drawing/2014/main" id="{B24DEE2F-9EED-CC47-D028-57FCB84C581C}"/>
              </a:ext>
            </a:extLst>
          </p:cNvPr>
          <p:cNvCxnSpPr>
            <a:cxnSpLocks/>
            <a:stCxn id="34" idx="2"/>
            <a:endCxn id="84" idx="2"/>
          </p:cNvCxnSpPr>
          <p:nvPr/>
        </p:nvCxnSpPr>
        <p:spPr>
          <a:xfrm rot="5400000" flipH="1" flipV="1">
            <a:off x="4395163" y="758849"/>
            <a:ext cx="3754679" cy="5314080"/>
          </a:xfrm>
          <a:prstGeom prst="bentConnector3">
            <a:avLst>
              <a:gd name="adj1" fmla="val -10147"/>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2CC01234-8668-E137-90A2-E6012C6FF806}"/>
              </a:ext>
            </a:extLst>
          </p:cNvPr>
          <p:cNvSpPr txBox="1"/>
          <p:nvPr/>
        </p:nvSpPr>
        <p:spPr>
          <a:xfrm>
            <a:off x="7997371" y="1015859"/>
            <a:ext cx="300082" cy="369332"/>
          </a:xfrm>
          <a:prstGeom prst="rect">
            <a:avLst/>
          </a:prstGeom>
          <a:noFill/>
        </p:spPr>
        <p:txBody>
          <a:bodyPr wrap="none" rtlCol="0">
            <a:spAutoFit/>
          </a:bodyPr>
          <a:lstStyle/>
          <a:p>
            <a:r>
              <a:rPr lang="en-US" dirty="0"/>
              <a:t>*</a:t>
            </a:r>
          </a:p>
        </p:txBody>
      </p:sp>
      <p:sp>
        <p:nvSpPr>
          <p:cNvPr id="140" name="TextBox 139">
            <a:extLst>
              <a:ext uri="{FF2B5EF4-FFF2-40B4-BE49-F238E27FC236}">
                <a16:creationId xmlns:a16="http://schemas.microsoft.com/office/drawing/2014/main" id="{B20C11DD-72CA-B056-8B8A-3BD63050323D}"/>
              </a:ext>
            </a:extLst>
          </p:cNvPr>
          <p:cNvSpPr txBox="1"/>
          <p:nvPr/>
        </p:nvSpPr>
        <p:spPr>
          <a:xfrm>
            <a:off x="7785269" y="1262725"/>
            <a:ext cx="694421" cy="276999"/>
          </a:xfrm>
          <a:prstGeom prst="rect">
            <a:avLst/>
          </a:prstGeom>
          <a:noFill/>
        </p:spPr>
        <p:txBody>
          <a:bodyPr wrap="none" rtlCol="0">
            <a:spAutoFit/>
          </a:bodyPr>
          <a:lstStyle/>
          <a:p>
            <a:r>
              <a:rPr lang="en-US" sz="1200" dirty="0"/>
              <a:t>for each</a:t>
            </a:r>
          </a:p>
        </p:txBody>
      </p:sp>
      <p:cxnSp>
        <p:nvCxnSpPr>
          <p:cNvPr id="141" name="Straight Arrow Connector 99">
            <a:extLst>
              <a:ext uri="{FF2B5EF4-FFF2-40B4-BE49-F238E27FC236}">
                <a16:creationId xmlns:a16="http://schemas.microsoft.com/office/drawing/2014/main" id="{1A04EE47-BE82-2623-48B5-BC06CF65DB0C}"/>
              </a:ext>
            </a:extLst>
          </p:cNvPr>
          <p:cNvCxnSpPr>
            <a:cxnSpLocks/>
            <a:stCxn id="34" idx="2"/>
            <a:endCxn id="85" idx="1"/>
          </p:cNvCxnSpPr>
          <p:nvPr/>
        </p:nvCxnSpPr>
        <p:spPr>
          <a:xfrm rot="5400000" flipH="1" flipV="1">
            <a:off x="5815188" y="1605103"/>
            <a:ext cx="1488399" cy="5887851"/>
          </a:xfrm>
          <a:prstGeom prst="bentConnector4">
            <a:avLst>
              <a:gd name="adj1" fmla="val -25111"/>
              <a:gd name="adj2" fmla="val 90268"/>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E872E870-0BB4-DF51-EA92-953448FFE3B2}"/>
              </a:ext>
            </a:extLst>
          </p:cNvPr>
          <p:cNvSpPr txBox="1"/>
          <p:nvPr/>
        </p:nvSpPr>
        <p:spPr>
          <a:xfrm>
            <a:off x="9985643" y="3025609"/>
            <a:ext cx="1138581" cy="276999"/>
          </a:xfrm>
          <a:prstGeom prst="rect">
            <a:avLst/>
          </a:prstGeom>
          <a:noFill/>
        </p:spPr>
        <p:txBody>
          <a:bodyPr wrap="none" rtlCol="0">
            <a:spAutoFit/>
          </a:bodyPr>
          <a:lstStyle/>
          <a:p>
            <a:r>
              <a:rPr lang="en-US" sz="1200" dirty="0"/>
              <a:t>merge into one</a:t>
            </a:r>
          </a:p>
        </p:txBody>
      </p:sp>
      <p:sp>
        <p:nvSpPr>
          <p:cNvPr id="147" name="TextBox 146">
            <a:extLst>
              <a:ext uri="{FF2B5EF4-FFF2-40B4-BE49-F238E27FC236}">
                <a16:creationId xmlns:a16="http://schemas.microsoft.com/office/drawing/2014/main" id="{0E7925B6-6406-356A-9046-910BB6F783C8}"/>
              </a:ext>
            </a:extLst>
          </p:cNvPr>
          <p:cNvSpPr txBox="1"/>
          <p:nvPr/>
        </p:nvSpPr>
        <p:spPr>
          <a:xfrm>
            <a:off x="28185" y="6387996"/>
            <a:ext cx="1131079" cy="400110"/>
          </a:xfrm>
          <a:prstGeom prst="rect">
            <a:avLst/>
          </a:prstGeom>
          <a:noFill/>
        </p:spPr>
        <p:txBody>
          <a:bodyPr wrap="none" rtlCol="0">
            <a:spAutoFit/>
          </a:bodyPr>
          <a:lstStyle/>
          <a:p>
            <a:r>
              <a:rPr lang="en-US" sz="2000" b="1" u="sng" dirty="0"/>
              <a:t>Retrieval</a:t>
            </a:r>
          </a:p>
        </p:txBody>
      </p:sp>
      <p:sp>
        <p:nvSpPr>
          <p:cNvPr id="148" name="TextBox 147">
            <a:extLst>
              <a:ext uri="{FF2B5EF4-FFF2-40B4-BE49-F238E27FC236}">
                <a16:creationId xmlns:a16="http://schemas.microsoft.com/office/drawing/2014/main" id="{3897F527-265A-030B-B9A1-DCAA9096204C}"/>
              </a:ext>
            </a:extLst>
          </p:cNvPr>
          <p:cNvSpPr txBox="1"/>
          <p:nvPr/>
        </p:nvSpPr>
        <p:spPr>
          <a:xfrm>
            <a:off x="10673487" y="6387996"/>
            <a:ext cx="1382110" cy="400110"/>
          </a:xfrm>
          <a:prstGeom prst="rect">
            <a:avLst/>
          </a:prstGeom>
          <a:noFill/>
        </p:spPr>
        <p:txBody>
          <a:bodyPr wrap="none" rtlCol="0">
            <a:spAutoFit/>
          </a:bodyPr>
          <a:lstStyle/>
          <a:p>
            <a:r>
              <a:rPr lang="en-US" sz="2000" b="1" u="sng" dirty="0"/>
              <a:t>Generation</a:t>
            </a:r>
          </a:p>
        </p:txBody>
      </p:sp>
      <p:sp>
        <p:nvSpPr>
          <p:cNvPr id="3" name="TextBox 2">
            <a:extLst>
              <a:ext uri="{FF2B5EF4-FFF2-40B4-BE49-F238E27FC236}">
                <a16:creationId xmlns:a16="http://schemas.microsoft.com/office/drawing/2014/main" id="{533EBAC2-F447-994C-8956-9854BD24AF11}"/>
              </a:ext>
            </a:extLst>
          </p:cNvPr>
          <p:cNvSpPr txBox="1"/>
          <p:nvPr/>
        </p:nvSpPr>
        <p:spPr>
          <a:xfrm>
            <a:off x="1881439" y="5031883"/>
            <a:ext cx="524503" cy="369332"/>
          </a:xfrm>
          <a:prstGeom prst="rect">
            <a:avLst/>
          </a:prstGeom>
          <a:solidFill>
            <a:srgbClr val="FFFF00"/>
          </a:solidFill>
        </p:spPr>
        <p:txBody>
          <a:bodyPr wrap="none" rtlCol="0">
            <a:spAutoFit/>
          </a:bodyPr>
          <a:lstStyle/>
          <a:p>
            <a:r>
              <a:rPr lang="en-US" dirty="0"/>
              <a:t>FIs </a:t>
            </a:r>
          </a:p>
        </p:txBody>
      </p:sp>
      <p:sp>
        <p:nvSpPr>
          <p:cNvPr id="4" name="TextBox 3">
            <a:extLst>
              <a:ext uri="{FF2B5EF4-FFF2-40B4-BE49-F238E27FC236}">
                <a16:creationId xmlns:a16="http://schemas.microsoft.com/office/drawing/2014/main" id="{8BD107D7-D2B3-95B3-88BD-96779DFAC699}"/>
              </a:ext>
            </a:extLst>
          </p:cNvPr>
          <p:cNvSpPr txBox="1"/>
          <p:nvPr/>
        </p:nvSpPr>
        <p:spPr>
          <a:xfrm>
            <a:off x="765748" y="5952620"/>
            <a:ext cx="2755883" cy="369332"/>
          </a:xfrm>
          <a:prstGeom prst="rect">
            <a:avLst/>
          </a:prstGeom>
          <a:solidFill>
            <a:srgbClr val="FFFF00"/>
          </a:solidFill>
        </p:spPr>
        <p:txBody>
          <a:bodyPr wrap="none" rtlCol="0">
            <a:spAutoFit/>
          </a:bodyPr>
          <a:lstStyle/>
          <a:p>
            <a:r>
              <a:rPr lang="en-US" dirty="0"/>
              <a:t>PPIs in </a:t>
            </a:r>
            <a:r>
              <a:rPr lang="en-US" dirty="0" err="1"/>
              <a:t>IntAct</a:t>
            </a:r>
            <a:r>
              <a:rPr lang="en-US" dirty="0"/>
              <a:t> and </a:t>
            </a:r>
            <a:r>
              <a:rPr lang="en-US" dirty="0" err="1"/>
              <a:t>BioGrid</a:t>
            </a:r>
            <a:r>
              <a:rPr lang="en-US" dirty="0"/>
              <a:t> </a:t>
            </a:r>
          </a:p>
        </p:txBody>
      </p:sp>
      <p:cxnSp>
        <p:nvCxnSpPr>
          <p:cNvPr id="7" name="Straight Arrow Connector 6">
            <a:extLst>
              <a:ext uri="{FF2B5EF4-FFF2-40B4-BE49-F238E27FC236}">
                <a16:creationId xmlns:a16="http://schemas.microsoft.com/office/drawing/2014/main" id="{B572EB93-44C7-A079-6FEA-8E823AB7FD31}"/>
              </a:ext>
            </a:extLst>
          </p:cNvPr>
          <p:cNvCxnSpPr>
            <a:stCxn id="3" idx="2"/>
            <a:endCxn id="4" idx="0"/>
          </p:cNvCxnSpPr>
          <p:nvPr/>
        </p:nvCxnSpPr>
        <p:spPr>
          <a:xfrm flipH="1">
            <a:off x="2143690" y="5401215"/>
            <a:ext cx="1" cy="55140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D1EDF3D-8CF4-1D08-7944-2D7CA895CA2D}"/>
              </a:ext>
            </a:extLst>
          </p:cNvPr>
          <p:cNvSpPr txBox="1"/>
          <p:nvPr/>
        </p:nvSpPr>
        <p:spPr>
          <a:xfrm>
            <a:off x="1297127" y="1247827"/>
            <a:ext cx="2624886" cy="369332"/>
          </a:xfrm>
          <a:prstGeom prst="rect">
            <a:avLst/>
          </a:prstGeom>
          <a:solidFill>
            <a:srgbClr val="FFFF00"/>
          </a:solidFill>
        </p:spPr>
        <p:txBody>
          <a:bodyPr wrap="none" rtlCol="0">
            <a:spAutoFit/>
          </a:bodyPr>
          <a:lstStyle/>
          <a:p>
            <a:r>
              <a:rPr lang="en-US" dirty="0"/>
              <a:t>Download from PubMed </a:t>
            </a:r>
          </a:p>
        </p:txBody>
      </p:sp>
      <p:sp>
        <p:nvSpPr>
          <p:cNvPr id="8" name="TextBox 7">
            <a:extLst>
              <a:ext uri="{FF2B5EF4-FFF2-40B4-BE49-F238E27FC236}">
                <a16:creationId xmlns:a16="http://schemas.microsoft.com/office/drawing/2014/main" id="{BB3E0BAD-E778-E18E-59E7-4CC725760AD5}"/>
              </a:ext>
            </a:extLst>
          </p:cNvPr>
          <p:cNvSpPr txBox="1"/>
          <p:nvPr/>
        </p:nvSpPr>
        <p:spPr>
          <a:xfrm>
            <a:off x="4204678" y="697295"/>
            <a:ext cx="1745158" cy="369332"/>
          </a:xfrm>
          <a:prstGeom prst="rect">
            <a:avLst/>
          </a:prstGeom>
          <a:solidFill>
            <a:srgbClr val="FFFF00"/>
          </a:solidFill>
        </p:spPr>
        <p:txBody>
          <a:bodyPr wrap="none" rtlCol="0">
            <a:spAutoFit/>
          </a:bodyPr>
          <a:lstStyle/>
          <a:p>
            <a:r>
              <a:rPr lang="en-US" dirty="0"/>
              <a:t>Local </a:t>
            </a:r>
            <a:r>
              <a:rPr lang="en-US" dirty="0" err="1"/>
              <a:t>MangoDB</a:t>
            </a:r>
            <a:endParaRPr lang="en-US" dirty="0"/>
          </a:p>
        </p:txBody>
      </p:sp>
      <p:cxnSp>
        <p:nvCxnSpPr>
          <p:cNvPr id="9" name="Straight Arrow Connector 8">
            <a:extLst>
              <a:ext uri="{FF2B5EF4-FFF2-40B4-BE49-F238E27FC236}">
                <a16:creationId xmlns:a16="http://schemas.microsoft.com/office/drawing/2014/main" id="{86533A41-A190-C9FD-9F1F-A8A65ED55686}"/>
              </a:ext>
            </a:extLst>
          </p:cNvPr>
          <p:cNvCxnSpPr>
            <a:cxnSpLocks/>
            <a:stCxn id="6" idx="0"/>
            <a:endCxn id="8" idx="1"/>
          </p:cNvCxnSpPr>
          <p:nvPr/>
        </p:nvCxnSpPr>
        <p:spPr>
          <a:xfrm rot="5400000" flipH="1" flipV="1">
            <a:off x="3224191" y="267340"/>
            <a:ext cx="365866" cy="1595108"/>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B5FC84A-02F5-C792-D508-47DC2EEB5CFB}"/>
              </a:ext>
            </a:extLst>
          </p:cNvPr>
          <p:cNvSpPr txBox="1"/>
          <p:nvPr/>
        </p:nvSpPr>
        <p:spPr>
          <a:xfrm>
            <a:off x="4760421" y="2485946"/>
            <a:ext cx="1357231" cy="369332"/>
          </a:xfrm>
          <a:prstGeom prst="rect">
            <a:avLst/>
          </a:prstGeom>
          <a:solidFill>
            <a:srgbClr val="FFFF00"/>
          </a:solidFill>
        </p:spPr>
        <p:txBody>
          <a:bodyPr wrap="none" rtlCol="0">
            <a:spAutoFit/>
          </a:bodyPr>
          <a:lstStyle/>
          <a:p>
            <a:r>
              <a:rPr lang="en-US" dirty="0" err="1"/>
              <a:t>VectorStore</a:t>
            </a:r>
            <a:endParaRPr lang="en-US" dirty="0"/>
          </a:p>
        </p:txBody>
      </p:sp>
      <p:sp>
        <p:nvSpPr>
          <p:cNvPr id="11" name="TextBox 10">
            <a:extLst>
              <a:ext uri="{FF2B5EF4-FFF2-40B4-BE49-F238E27FC236}">
                <a16:creationId xmlns:a16="http://schemas.microsoft.com/office/drawing/2014/main" id="{B38BA5E0-76EE-F706-57C8-1898D923BB90}"/>
              </a:ext>
            </a:extLst>
          </p:cNvPr>
          <p:cNvSpPr txBox="1"/>
          <p:nvPr/>
        </p:nvSpPr>
        <p:spPr>
          <a:xfrm>
            <a:off x="6810917" y="2485946"/>
            <a:ext cx="2032992" cy="369332"/>
          </a:xfrm>
          <a:prstGeom prst="rect">
            <a:avLst/>
          </a:prstGeom>
          <a:solidFill>
            <a:srgbClr val="FFFF00"/>
          </a:solidFill>
        </p:spPr>
        <p:txBody>
          <a:bodyPr wrap="none" rtlCol="0">
            <a:spAutoFit/>
          </a:bodyPr>
          <a:lstStyle/>
          <a:p>
            <a:r>
              <a:rPr lang="en-US" dirty="0"/>
              <a:t>Direct comparison</a:t>
            </a:r>
          </a:p>
        </p:txBody>
      </p:sp>
      <p:cxnSp>
        <p:nvCxnSpPr>
          <p:cNvPr id="12" name="Straight Arrow Connector 11">
            <a:extLst>
              <a:ext uri="{FF2B5EF4-FFF2-40B4-BE49-F238E27FC236}">
                <a16:creationId xmlns:a16="http://schemas.microsoft.com/office/drawing/2014/main" id="{3D728E89-DE2C-6141-9C67-14C8AA44C2B2}"/>
              </a:ext>
            </a:extLst>
          </p:cNvPr>
          <p:cNvCxnSpPr>
            <a:cxnSpLocks/>
            <a:stCxn id="10" idx="3"/>
            <a:endCxn id="11" idx="1"/>
          </p:cNvCxnSpPr>
          <p:nvPr/>
        </p:nvCxnSpPr>
        <p:spPr>
          <a:xfrm>
            <a:off x="6117652" y="2670612"/>
            <a:ext cx="693265"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5761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2CCF6-27EA-CFFD-AC1E-33375DEBD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86E11-6989-1DFF-2EA6-DB358F5EB579}"/>
              </a:ext>
            </a:extLst>
          </p:cNvPr>
          <p:cNvSpPr>
            <a:spLocks noGrp="1"/>
          </p:cNvSpPr>
          <p:nvPr>
            <p:ph type="title"/>
          </p:nvPr>
        </p:nvSpPr>
        <p:spPr>
          <a:xfrm>
            <a:off x="12418" y="47404"/>
            <a:ext cx="12163815" cy="751275"/>
          </a:xfrm>
        </p:spPr>
        <p:txBody>
          <a:bodyPr>
            <a:normAutofit/>
          </a:bodyPr>
          <a:lstStyle/>
          <a:p>
            <a:pPr algn="ctr"/>
            <a:r>
              <a:rPr lang="en-US" dirty="0"/>
              <a:t>RAG-based Workflow for LLM App in Curator Tool</a:t>
            </a:r>
          </a:p>
        </p:txBody>
      </p:sp>
      <p:sp>
        <p:nvSpPr>
          <p:cNvPr id="5" name="Rounded Rectangle 4">
            <a:extLst>
              <a:ext uri="{FF2B5EF4-FFF2-40B4-BE49-F238E27FC236}">
                <a16:creationId xmlns:a16="http://schemas.microsoft.com/office/drawing/2014/main" id="{B1EEBDB6-4C22-3549-C3A8-65DB3082B8CB}"/>
              </a:ext>
            </a:extLst>
          </p:cNvPr>
          <p:cNvSpPr/>
          <p:nvPr/>
        </p:nvSpPr>
        <p:spPr>
          <a:xfrm>
            <a:off x="135238" y="316680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 not annotated</a:t>
            </a:r>
          </a:p>
        </p:txBody>
      </p:sp>
      <p:grpSp>
        <p:nvGrpSpPr>
          <p:cNvPr id="27" name="Group 26">
            <a:extLst>
              <a:ext uri="{FF2B5EF4-FFF2-40B4-BE49-F238E27FC236}">
                <a16:creationId xmlns:a16="http://schemas.microsoft.com/office/drawing/2014/main" id="{A51816F9-24C3-6C7C-2649-A081D9E83C80}"/>
              </a:ext>
            </a:extLst>
          </p:cNvPr>
          <p:cNvGrpSpPr/>
          <p:nvPr/>
        </p:nvGrpSpPr>
        <p:grpSpPr>
          <a:xfrm>
            <a:off x="218063" y="4367946"/>
            <a:ext cx="1433277" cy="1254572"/>
            <a:chOff x="1034766" y="4668922"/>
            <a:chExt cx="1433277" cy="1254572"/>
          </a:xfrm>
        </p:grpSpPr>
        <p:pic>
          <p:nvPicPr>
            <p:cNvPr id="23" name="Graphic 22" descr="Database with solid fill">
              <a:extLst>
                <a:ext uri="{FF2B5EF4-FFF2-40B4-BE49-F238E27FC236}">
                  <a16:creationId xmlns:a16="http://schemas.microsoft.com/office/drawing/2014/main" id="{8BE0EC53-4174-B9AA-A5A9-CE0F4E6BAF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8285" y="4668922"/>
              <a:ext cx="1023257" cy="1023257"/>
            </a:xfrm>
            <a:prstGeom prst="rect">
              <a:avLst/>
            </a:prstGeom>
          </p:spPr>
        </p:pic>
        <p:sp>
          <p:nvSpPr>
            <p:cNvPr id="26" name="TextBox 25">
              <a:extLst>
                <a:ext uri="{FF2B5EF4-FFF2-40B4-BE49-F238E27FC236}">
                  <a16:creationId xmlns:a16="http://schemas.microsoft.com/office/drawing/2014/main" id="{FA37D0D3-51F2-07C3-97A2-8020F08E0C22}"/>
                </a:ext>
              </a:extLst>
            </p:cNvPr>
            <p:cNvSpPr txBox="1"/>
            <p:nvPr/>
          </p:nvSpPr>
          <p:spPr>
            <a:xfrm>
              <a:off x="1034766" y="5615717"/>
              <a:ext cx="1433277" cy="307777"/>
            </a:xfrm>
            <a:prstGeom prst="rect">
              <a:avLst/>
            </a:prstGeom>
            <a:noFill/>
          </p:spPr>
          <p:txBody>
            <a:bodyPr wrap="none" rtlCol="0">
              <a:spAutoFit/>
            </a:bodyPr>
            <a:lstStyle/>
            <a:p>
              <a:r>
                <a:rPr lang="en-US" sz="1400" dirty="0" err="1"/>
                <a:t>idg.reactome.org</a:t>
              </a:r>
              <a:endParaRPr lang="en-US" sz="1400" dirty="0"/>
            </a:p>
          </p:txBody>
        </p:sp>
      </p:grpSp>
      <p:sp>
        <p:nvSpPr>
          <p:cNvPr id="33" name="Rounded Rectangle 32">
            <a:extLst>
              <a:ext uri="{FF2B5EF4-FFF2-40B4-BE49-F238E27FC236}">
                <a16:creationId xmlns:a16="http://schemas.microsoft.com/office/drawing/2014/main" id="{25A86362-6CEC-9464-3629-BEA7427DBEA1}"/>
              </a:ext>
            </a:extLst>
          </p:cNvPr>
          <p:cNvSpPr/>
          <p:nvPr/>
        </p:nvSpPr>
        <p:spPr>
          <a:xfrm>
            <a:off x="2792503"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pathways</a:t>
            </a:r>
          </a:p>
        </p:txBody>
      </p:sp>
      <p:sp>
        <p:nvSpPr>
          <p:cNvPr id="34" name="Rounded Rectangle 33">
            <a:extLst>
              <a:ext uri="{FF2B5EF4-FFF2-40B4-BE49-F238E27FC236}">
                <a16:creationId xmlns:a16="http://schemas.microsoft.com/office/drawing/2014/main" id="{D894170E-7E8D-9CC9-5421-5AA7998E48A4}"/>
              </a:ext>
            </a:extLst>
          </p:cNvPr>
          <p:cNvSpPr/>
          <p:nvPr/>
        </p:nvSpPr>
        <p:spPr>
          <a:xfrm>
            <a:off x="2792503" y="4770538"/>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genes</a:t>
            </a:r>
          </a:p>
        </p:txBody>
      </p:sp>
      <p:grpSp>
        <p:nvGrpSpPr>
          <p:cNvPr id="36" name="Group 35">
            <a:extLst>
              <a:ext uri="{FF2B5EF4-FFF2-40B4-BE49-F238E27FC236}">
                <a16:creationId xmlns:a16="http://schemas.microsoft.com/office/drawing/2014/main" id="{4D78581C-66A6-A030-A90F-DD18DE3A67F9}"/>
              </a:ext>
            </a:extLst>
          </p:cNvPr>
          <p:cNvGrpSpPr/>
          <p:nvPr/>
        </p:nvGrpSpPr>
        <p:grpSpPr>
          <a:xfrm>
            <a:off x="5721414" y="4440213"/>
            <a:ext cx="1391663" cy="1205235"/>
            <a:chOff x="914833" y="4686385"/>
            <a:chExt cx="1391663" cy="1205235"/>
          </a:xfrm>
        </p:grpSpPr>
        <p:pic>
          <p:nvPicPr>
            <p:cNvPr id="38" name="Graphic 37" descr="Database with solid fill">
              <a:extLst>
                <a:ext uri="{FF2B5EF4-FFF2-40B4-BE49-F238E27FC236}">
                  <a16:creationId xmlns:a16="http://schemas.microsoft.com/office/drawing/2014/main" id="{1CB440F5-7BFD-3F35-2CAC-BD07FA2153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40" name="TextBox 39">
              <a:extLst>
                <a:ext uri="{FF2B5EF4-FFF2-40B4-BE49-F238E27FC236}">
                  <a16:creationId xmlns:a16="http://schemas.microsoft.com/office/drawing/2014/main" id="{1F83D0D8-B9C3-84E8-6784-4B7A85B074C9}"/>
                </a:ext>
              </a:extLst>
            </p:cNvPr>
            <p:cNvSpPr txBox="1"/>
            <p:nvPr/>
          </p:nvSpPr>
          <p:spPr>
            <a:xfrm>
              <a:off x="914833" y="5583843"/>
              <a:ext cx="1391663" cy="307777"/>
            </a:xfrm>
            <a:prstGeom prst="rect">
              <a:avLst/>
            </a:prstGeom>
            <a:noFill/>
          </p:spPr>
          <p:txBody>
            <a:bodyPr wrap="none" rtlCol="0">
              <a:spAutoFit/>
            </a:bodyPr>
            <a:lstStyle/>
            <a:p>
              <a:r>
                <a:rPr lang="en-US" sz="1400" dirty="0" err="1"/>
                <a:t>Reactome</a:t>
              </a:r>
              <a:r>
                <a:rPr lang="en-US" sz="1400" dirty="0"/>
                <a:t> Neo4j</a:t>
              </a:r>
            </a:p>
          </p:txBody>
        </p:sp>
      </p:grpSp>
      <p:grpSp>
        <p:nvGrpSpPr>
          <p:cNvPr id="60" name="Group 59">
            <a:extLst>
              <a:ext uri="{FF2B5EF4-FFF2-40B4-BE49-F238E27FC236}">
                <a16:creationId xmlns:a16="http://schemas.microsoft.com/office/drawing/2014/main" id="{FA68DB5C-3112-AACE-B30C-67B7D518E8C8}"/>
              </a:ext>
            </a:extLst>
          </p:cNvPr>
          <p:cNvGrpSpPr/>
          <p:nvPr/>
        </p:nvGrpSpPr>
        <p:grpSpPr>
          <a:xfrm>
            <a:off x="453827" y="1376857"/>
            <a:ext cx="1023257" cy="1182686"/>
            <a:chOff x="1099035" y="4686385"/>
            <a:chExt cx="1023257" cy="1182686"/>
          </a:xfrm>
        </p:grpSpPr>
        <p:pic>
          <p:nvPicPr>
            <p:cNvPr id="61" name="Graphic 60" descr="Database with solid fill">
              <a:extLst>
                <a:ext uri="{FF2B5EF4-FFF2-40B4-BE49-F238E27FC236}">
                  <a16:creationId xmlns:a16="http://schemas.microsoft.com/office/drawing/2014/main" id="{DBA7112E-163F-37B9-9C7D-F5CEB9EC1D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62" name="TextBox 61">
              <a:extLst>
                <a:ext uri="{FF2B5EF4-FFF2-40B4-BE49-F238E27FC236}">
                  <a16:creationId xmlns:a16="http://schemas.microsoft.com/office/drawing/2014/main" id="{2D252BD0-54A5-9EEF-DC1E-ECEF5F4E1F6B}"/>
                </a:ext>
              </a:extLst>
            </p:cNvPr>
            <p:cNvSpPr txBox="1"/>
            <p:nvPr/>
          </p:nvSpPr>
          <p:spPr>
            <a:xfrm>
              <a:off x="1208148" y="5561294"/>
              <a:ext cx="805029" cy="307777"/>
            </a:xfrm>
            <a:prstGeom prst="rect">
              <a:avLst/>
            </a:prstGeom>
            <a:noFill/>
          </p:spPr>
          <p:txBody>
            <a:bodyPr wrap="none" rtlCol="0">
              <a:spAutoFit/>
            </a:bodyPr>
            <a:lstStyle/>
            <a:p>
              <a:r>
                <a:rPr lang="en-US" sz="1400" dirty="0"/>
                <a:t>PubMed</a:t>
              </a:r>
            </a:p>
          </p:txBody>
        </p:sp>
      </p:grpSp>
      <p:sp>
        <p:nvSpPr>
          <p:cNvPr id="73" name="Rounded Rectangle 72">
            <a:extLst>
              <a:ext uri="{FF2B5EF4-FFF2-40B4-BE49-F238E27FC236}">
                <a16:creationId xmlns:a16="http://schemas.microsoft.com/office/drawing/2014/main" id="{E4F1EEE2-D344-F92B-5C13-AFD55B7E670A}"/>
              </a:ext>
            </a:extLst>
          </p:cNvPr>
          <p:cNvSpPr/>
          <p:nvPr/>
        </p:nvSpPr>
        <p:spPr>
          <a:xfrm>
            <a:off x="2792503" y="1683755"/>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Genes-related Abstracts</a:t>
            </a:r>
          </a:p>
        </p:txBody>
      </p:sp>
      <p:sp>
        <p:nvSpPr>
          <p:cNvPr id="74" name="Rounded Rectangle 73">
            <a:extLst>
              <a:ext uri="{FF2B5EF4-FFF2-40B4-BE49-F238E27FC236}">
                <a16:creationId xmlns:a16="http://schemas.microsoft.com/office/drawing/2014/main" id="{41EBAFDD-E592-1139-0F96-3BB2C947873B}"/>
              </a:ext>
            </a:extLst>
          </p:cNvPr>
          <p:cNvSpPr/>
          <p:nvPr/>
        </p:nvSpPr>
        <p:spPr>
          <a:xfrm>
            <a:off x="5590993" y="16785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Pathway-matched Abstracts</a:t>
            </a:r>
          </a:p>
        </p:txBody>
      </p:sp>
      <p:sp>
        <p:nvSpPr>
          <p:cNvPr id="75" name="Rounded Rectangle 74">
            <a:extLst>
              <a:ext uri="{FF2B5EF4-FFF2-40B4-BE49-F238E27FC236}">
                <a16:creationId xmlns:a16="http://schemas.microsoft.com/office/drawing/2014/main" id="{EE43D9CE-F039-EBBC-EF37-A0631483F1AB}"/>
              </a:ext>
            </a:extLst>
          </p:cNvPr>
          <p:cNvSpPr/>
          <p:nvPr/>
        </p:nvSpPr>
        <p:spPr>
          <a:xfrm>
            <a:off x="9191981" y="5779322"/>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Final Summary</a:t>
            </a:r>
          </a:p>
        </p:txBody>
      </p:sp>
      <p:sp>
        <p:nvSpPr>
          <p:cNvPr id="76" name="Rounded Rectangle 75">
            <a:extLst>
              <a:ext uri="{FF2B5EF4-FFF2-40B4-BE49-F238E27FC236}">
                <a16:creationId xmlns:a16="http://schemas.microsoft.com/office/drawing/2014/main" id="{47740A2A-87C0-BBB8-B39D-1464A68147AB}"/>
              </a:ext>
            </a:extLst>
          </p:cNvPr>
          <p:cNvSpPr/>
          <p:nvPr/>
        </p:nvSpPr>
        <p:spPr>
          <a:xfrm>
            <a:off x="9191983" y="2247399"/>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Abstract &amp; Pathway Summary</a:t>
            </a:r>
          </a:p>
        </p:txBody>
      </p:sp>
      <p:sp>
        <p:nvSpPr>
          <p:cNvPr id="83" name="Rounded Rectangle 82">
            <a:extLst>
              <a:ext uri="{FF2B5EF4-FFF2-40B4-BE49-F238E27FC236}">
                <a16:creationId xmlns:a16="http://schemas.microsoft.com/office/drawing/2014/main" id="{0A3112B2-870B-20FB-448A-608FB0CDF12C}"/>
              </a:ext>
            </a:extLst>
          </p:cNvPr>
          <p:cNvSpPr/>
          <p:nvPr/>
        </p:nvSpPr>
        <p:spPr>
          <a:xfrm>
            <a:off x="5594286"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 Summaries</a:t>
            </a:r>
          </a:p>
        </p:txBody>
      </p:sp>
      <p:sp>
        <p:nvSpPr>
          <p:cNvPr id="84" name="Rounded Rectangle 83">
            <a:extLst>
              <a:ext uri="{FF2B5EF4-FFF2-40B4-BE49-F238E27FC236}">
                <a16:creationId xmlns:a16="http://schemas.microsoft.com/office/drawing/2014/main" id="{9ECF4E76-23AD-CE69-F5A1-BD463DA64560}"/>
              </a:ext>
            </a:extLst>
          </p:cNvPr>
          <p:cNvSpPr/>
          <p:nvPr/>
        </p:nvSpPr>
        <p:spPr>
          <a:xfrm>
            <a:off x="8417914" y="1015859"/>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5" name="Rounded Rectangle 84">
            <a:extLst>
              <a:ext uri="{FF2B5EF4-FFF2-40B4-BE49-F238E27FC236}">
                <a16:creationId xmlns:a16="http://schemas.microsoft.com/office/drawing/2014/main" id="{D88D60AA-67A7-647E-1737-F977A3620450}"/>
              </a:ext>
            </a:extLst>
          </p:cNvPr>
          <p:cNvSpPr/>
          <p:nvPr/>
        </p:nvSpPr>
        <p:spPr>
          <a:xfrm>
            <a:off x="9503314" y="3543484"/>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6" name="Rounded Rectangle 85">
            <a:extLst>
              <a:ext uri="{FF2B5EF4-FFF2-40B4-BE49-F238E27FC236}">
                <a16:creationId xmlns:a16="http://schemas.microsoft.com/office/drawing/2014/main" id="{9FDB43C5-33CF-14D1-3E0C-18AC214B255D}"/>
              </a:ext>
            </a:extLst>
          </p:cNvPr>
          <p:cNvSpPr/>
          <p:nvPr/>
        </p:nvSpPr>
        <p:spPr>
          <a:xfrm>
            <a:off x="9503313" y="4690496"/>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87" name="Rounded Rectangle 86">
            <a:extLst>
              <a:ext uri="{FF2B5EF4-FFF2-40B4-BE49-F238E27FC236}">
                <a16:creationId xmlns:a16="http://schemas.microsoft.com/office/drawing/2014/main" id="{CD9027BB-B8EC-BD1A-5376-BE2852822BF5}"/>
              </a:ext>
            </a:extLst>
          </p:cNvPr>
          <p:cNvSpPr/>
          <p:nvPr/>
        </p:nvSpPr>
        <p:spPr>
          <a:xfrm>
            <a:off x="10573657" y="1015859"/>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cxnSp>
        <p:nvCxnSpPr>
          <p:cNvPr id="91" name="Straight Arrow Connector 90">
            <a:extLst>
              <a:ext uri="{FF2B5EF4-FFF2-40B4-BE49-F238E27FC236}">
                <a16:creationId xmlns:a16="http://schemas.microsoft.com/office/drawing/2014/main" id="{FB817837-B16E-74CA-0407-CC8FE2A2AB87}"/>
              </a:ext>
            </a:extLst>
          </p:cNvPr>
          <p:cNvCxnSpPr>
            <a:stCxn id="5" idx="0"/>
            <a:endCxn id="62" idx="2"/>
          </p:cNvCxnSpPr>
          <p:nvPr/>
        </p:nvCxnSpPr>
        <p:spPr>
          <a:xfrm flipV="1">
            <a:off x="958198" y="2559543"/>
            <a:ext cx="7257" cy="6072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9C51F527-4BCD-60E8-D7E8-7D15FB7C3B0B}"/>
              </a:ext>
            </a:extLst>
          </p:cNvPr>
          <p:cNvCxnSpPr>
            <a:cxnSpLocks/>
            <a:stCxn id="5" idx="2"/>
            <a:endCxn id="23" idx="0"/>
          </p:cNvCxnSpPr>
          <p:nvPr/>
        </p:nvCxnSpPr>
        <p:spPr>
          <a:xfrm flipH="1">
            <a:off x="953211" y="3689491"/>
            <a:ext cx="4987" cy="67845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CD877C7B-80D9-E1D8-C5E5-4949319C5759}"/>
              </a:ext>
            </a:extLst>
          </p:cNvPr>
          <p:cNvCxnSpPr>
            <a:cxnSpLocks/>
            <a:endCxn id="73" idx="1"/>
          </p:cNvCxnSpPr>
          <p:nvPr/>
        </p:nvCxnSpPr>
        <p:spPr>
          <a:xfrm>
            <a:off x="1367969" y="1945100"/>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ACF602D-7E73-3400-1661-8D50363F0EA2}"/>
              </a:ext>
            </a:extLst>
          </p:cNvPr>
          <p:cNvCxnSpPr>
            <a:cxnSpLocks/>
            <a:endCxn id="33" idx="2"/>
          </p:cNvCxnSpPr>
          <p:nvPr/>
        </p:nvCxnSpPr>
        <p:spPr>
          <a:xfrm flipV="1">
            <a:off x="1367969" y="3714441"/>
            <a:ext cx="2247494" cy="799502"/>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03ECC26F-B7D3-2F60-492E-7C7A5F5D4662}"/>
              </a:ext>
            </a:extLst>
          </p:cNvPr>
          <p:cNvCxnSpPr>
            <a:cxnSpLocks/>
            <a:endCxn id="34" idx="1"/>
          </p:cNvCxnSpPr>
          <p:nvPr/>
        </p:nvCxnSpPr>
        <p:spPr>
          <a:xfrm>
            <a:off x="1367969" y="5031883"/>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 name="Elbow Connector 106">
            <a:extLst>
              <a:ext uri="{FF2B5EF4-FFF2-40B4-BE49-F238E27FC236}">
                <a16:creationId xmlns:a16="http://schemas.microsoft.com/office/drawing/2014/main" id="{47243652-E881-D197-47F5-6CDD26DA10FE}"/>
              </a:ext>
            </a:extLst>
          </p:cNvPr>
          <p:cNvCxnSpPr>
            <a:stCxn id="33" idx="3"/>
          </p:cNvCxnSpPr>
          <p:nvPr/>
        </p:nvCxnSpPr>
        <p:spPr>
          <a:xfrm>
            <a:off x="4438423" y="3453096"/>
            <a:ext cx="1592263" cy="1578787"/>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04A81FC6-4362-F97F-FC73-278BEC2D0D9C}"/>
              </a:ext>
            </a:extLst>
          </p:cNvPr>
          <p:cNvCxnSpPr>
            <a:cxnSpLocks/>
            <a:endCxn id="83" idx="2"/>
          </p:cNvCxnSpPr>
          <p:nvPr/>
        </p:nvCxnSpPr>
        <p:spPr>
          <a:xfrm flipV="1">
            <a:off x="6417246" y="3714441"/>
            <a:ext cx="0" cy="7257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CA7C4C40-9F29-6911-0123-47F7D121222B}"/>
              </a:ext>
            </a:extLst>
          </p:cNvPr>
          <p:cNvCxnSpPr>
            <a:stCxn id="73" idx="3"/>
            <a:endCxn id="74" idx="1"/>
          </p:cNvCxnSpPr>
          <p:nvPr/>
        </p:nvCxnSpPr>
        <p:spPr>
          <a:xfrm flipV="1">
            <a:off x="4438423" y="1939896"/>
            <a:ext cx="1152570" cy="52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10921F62-2379-F625-6530-40AE3DCD4C32}"/>
              </a:ext>
            </a:extLst>
          </p:cNvPr>
          <p:cNvCxnSpPr>
            <a:stCxn id="83" idx="0"/>
            <a:endCxn id="74" idx="2"/>
          </p:cNvCxnSpPr>
          <p:nvPr/>
        </p:nvCxnSpPr>
        <p:spPr>
          <a:xfrm flipH="1" flipV="1">
            <a:off x="6413953" y="2201241"/>
            <a:ext cx="3293" cy="9905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9228E3A1-15BF-83C3-4033-27DDEA04E32F}"/>
              </a:ext>
            </a:extLst>
          </p:cNvPr>
          <p:cNvCxnSpPr>
            <a:stCxn id="74" idx="3"/>
            <a:endCxn id="84" idx="1"/>
          </p:cNvCxnSpPr>
          <p:nvPr/>
        </p:nvCxnSpPr>
        <p:spPr>
          <a:xfrm flipV="1">
            <a:off x="7236913" y="1277204"/>
            <a:ext cx="1181001" cy="66269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319397ED-B3D1-377E-1034-15DF675CFD57}"/>
              </a:ext>
            </a:extLst>
          </p:cNvPr>
          <p:cNvCxnSpPr>
            <a:stCxn id="84" idx="3"/>
            <a:endCxn id="87" idx="1"/>
          </p:cNvCxnSpPr>
          <p:nvPr/>
        </p:nvCxnSpPr>
        <p:spPr>
          <a:xfrm>
            <a:off x="9441171" y="1277204"/>
            <a:ext cx="113248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Elbow Connector 127">
            <a:extLst>
              <a:ext uri="{FF2B5EF4-FFF2-40B4-BE49-F238E27FC236}">
                <a16:creationId xmlns:a16="http://schemas.microsoft.com/office/drawing/2014/main" id="{368F595A-762A-0022-22C4-0CA915941989}"/>
              </a:ext>
            </a:extLst>
          </p:cNvPr>
          <p:cNvCxnSpPr>
            <a:stCxn id="87" idx="2"/>
            <a:endCxn id="76" idx="0"/>
          </p:cNvCxnSpPr>
          <p:nvPr/>
        </p:nvCxnSpPr>
        <p:spPr>
          <a:xfrm rot="5400000">
            <a:off x="10195690" y="1357803"/>
            <a:ext cx="708850" cy="107034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F9B068A0-F59A-C716-8E22-5ADFE2054103}"/>
              </a:ext>
            </a:extLst>
          </p:cNvPr>
          <p:cNvCxnSpPr>
            <a:stCxn id="76" idx="2"/>
            <a:endCxn id="85" idx="0"/>
          </p:cNvCxnSpPr>
          <p:nvPr/>
        </p:nvCxnSpPr>
        <p:spPr>
          <a:xfrm>
            <a:off x="10014943" y="2770089"/>
            <a:ext cx="0" cy="77339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F8264DEB-AB27-ECB1-6258-DB8C762E5C9C}"/>
              </a:ext>
            </a:extLst>
          </p:cNvPr>
          <p:cNvCxnSpPr>
            <a:stCxn id="85" idx="2"/>
            <a:endCxn id="86" idx="0"/>
          </p:cNvCxnSpPr>
          <p:nvPr/>
        </p:nvCxnSpPr>
        <p:spPr>
          <a:xfrm flipH="1">
            <a:off x="10014942" y="4066174"/>
            <a:ext cx="1" cy="6243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86227E9C-FBEF-E9DC-3599-F74B5B6197E6}"/>
              </a:ext>
            </a:extLst>
          </p:cNvPr>
          <p:cNvCxnSpPr>
            <a:stCxn id="86" idx="2"/>
            <a:endCxn id="75" idx="0"/>
          </p:cNvCxnSpPr>
          <p:nvPr/>
        </p:nvCxnSpPr>
        <p:spPr>
          <a:xfrm flipH="1">
            <a:off x="10014941" y="5213186"/>
            <a:ext cx="1" cy="5661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99">
            <a:extLst>
              <a:ext uri="{FF2B5EF4-FFF2-40B4-BE49-F238E27FC236}">
                <a16:creationId xmlns:a16="http://schemas.microsoft.com/office/drawing/2014/main" id="{68C4AFB1-0F8E-5C51-D7AA-68C8CEFDFE6C}"/>
              </a:ext>
            </a:extLst>
          </p:cNvPr>
          <p:cNvCxnSpPr>
            <a:cxnSpLocks/>
            <a:stCxn id="34" idx="2"/>
            <a:endCxn id="84" idx="2"/>
          </p:cNvCxnSpPr>
          <p:nvPr/>
        </p:nvCxnSpPr>
        <p:spPr>
          <a:xfrm rot="5400000" flipH="1" flipV="1">
            <a:off x="4395163" y="758849"/>
            <a:ext cx="3754679" cy="5314080"/>
          </a:xfrm>
          <a:prstGeom prst="bentConnector3">
            <a:avLst>
              <a:gd name="adj1" fmla="val -10147"/>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07CD0783-97AB-7FA9-0DC5-4501F901CCD1}"/>
              </a:ext>
            </a:extLst>
          </p:cNvPr>
          <p:cNvSpPr txBox="1"/>
          <p:nvPr/>
        </p:nvSpPr>
        <p:spPr>
          <a:xfrm>
            <a:off x="7997371" y="1015859"/>
            <a:ext cx="300082" cy="369332"/>
          </a:xfrm>
          <a:prstGeom prst="rect">
            <a:avLst/>
          </a:prstGeom>
          <a:noFill/>
        </p:spPr>
        <p:txBody>
          <a:bodyPr wrap="none" rtlCol="0">
            <a:spAutoFit/>
          </a:bodyPr>
          <a:lstStyle/>
          <a:p>
            <a:r>
              <a:rPr lang="en-US" dirty="0"/>
              <a:t>*</a:t>
            </a:r>
          </a:p>
        </p:txBody>
      </p:sp>
      <p:sp>
        <p:nvSpPr>
          <p:cNvPr id="140" name="TextBox 139">
            <a:extLst>
              <a:ext uri="{FF2B5EF4-FFF2-40B4-BE49-F238E27FC236}">
                <a16:creationId xmlns:a16="http://schemas.microsoft.com/office/drawing/2014/main" id="{073B253F-E9FF-F62B-B292-2DD94D491F2F}"/>
              </a:ext>
            </a:extLst>
          </p:cNvPr>
          <p:cNvSpPr txBox="1"/>
          <p:nvPr/>
        </p:nvSpPr>
        <p:spPr>
          <a:xfrm>
            <a:off x="7785269" y="1262725"/>
            <a:ext cx="694421" cy="276999"/>
          </a:xfrm>
          <a:prstGeom prst="rect">
            <a:avLst/>
          </a:prstGeom>
          <a:noFill/>
        </p:spPr>
        <p:txBody>
          <a:bodyPr wrap="none" rtlCol="0">
            <a:spAutoFit/>
          </a:bodyPr>
          <a:lstStyle/>
          <a:p>
            <a:r>
              <a:rPr lang="en-US" sz="1200" dirty="0"/>
              <a:t>for each</a:t>
            </a:r>
          </a:p>
        </p:txBody>
      </p:sp>
      <p:cxnSp>
        <p:nvCxnSpPr>
          <p:cNvPr id="141" name="Straight Arrow Connector 99">
            <a:extLst>
              <a:ext uri="{FF2B5EF4-FFF2-40B4-BE49-F238E27FC236}">
                <a16:creationId xmlns:a16="http://schemas.microsoft.com/office/drawing/2014/main" id="{27DF9315-59DF-FA4C-B327-CE28ECD52F17}"/>
              </a:ext>
            </a:extLst>
          </p:cNvPr>
          <p:cNvCxnSpPr>
            <a:cxnSpLocks/>
            <a:stCxn id="34" idx="2"/>
            <a:endCxn id="85" idx="1"/>
          </p:cNvCxnSpPr>
          <p:nvPr/>
        </p:nvCxnSpPr>
        <p:spPr>
          <a:xfrm rot="5400000" flipH="1" flipV="1">
            <a:off x="5815188" y="1605103"/>
            <a:ext cx="1488399" cy="5887851"/>
          </a:xfrm>
          <a:prstGeom prst="bentConnector4">
            <a:avLst>
              <a:gd name="adj1" fmla="val -25111"/>
              <a:gd name="adj2" fmla="val 90268"/>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B57EDB73-3F8B-4156-7A20-4C0D3B12FFBF}"/>
              </a:ext>
            </a:extLst>
          </p:cNvPr>
          <p:cNvSpPr txBox="1"/>
          <p:nvPr/>
        </p:nvSpPr>
        <p:spPr>
          <a:xfrm>
            <a:off x="9985643" y="3025609"/>
            <a:ext cx="1138581" cy="276999"/>
          </a:xfrm>
          <a:prstGeom prst="rect">
            <a:avLst/>
          </a:prstGeom>
          <a:noFill/>
        </p:spPr>
        <p:txBody>
          <a:bodyPr wrap="none" rtlCol="0">
            <a:spAutoFit/>
          </a:bodyPr>
          <a:lstStyle/>
          <a:p>
            <a:r>
              <a:rPr lang="en-US" sz="1200" dirty="0"/>
              <a:t>merge into one</a:t>
            </a:r>
          </a:p>
        </p:txBody>
      </p:sp>
      <p:sp>
        <p:nvSpPr>
          <p:cNvPr id="147" name="TextBox 146">
            <a:extLst>
              <a:ext uri="{FF2B5EF4-FFF2-40B4-BE49-F238E27FC236}">
                <a16:creationId xmlns:a16="http://schemas.microsoft.com/office/drawing/2014/main" id="{2C3FF1A6-13A2-245A-690B-09383E141788}"/>
              </a:ext>
            </a:extLst>
          </p:cNvPr>
          <p:cNvSpPr txBox="1"/>
          <p:nvPr/>
        </p:nvSpPr>
        <p:spPr>
          <a:xfrm>
            <a:off x="28185" y="6387996"/>
            <a:ext cx="1131079" cy="400110"/>
          </a:xfrm>
          <a:prstGeom prst="rect">
            <a:avLst/>
          </a:prstGeom>
          <a:noFill/>
        </p:spPr>
        <p:txBody>
          <a:bodyPr wrap="none" rtlCol="0">
            <a:spAutoFit/>
          </a:bodyPr>
          <a:lstStyle/>
          <a:p>
            <a:r>
              <a:rPr lang="en-US" sz="2000" b="1" u="sng" dirty="0"/>
              <a:t>Retrieval</a:t>
            </a:r>
          </a:p>
        </p:txBody>
      </p:sp>
      <p:sp>
        <p:nvSpPr>
          <p:cNvPr id="148" name="TextBox 147">
            <a:extLst>
              <a:ext uri="{FF2B5EF4-FFF2-40B4-BE49-F238E27FC236}">
                <a16:creationId xmlns:a16="http://schemas.microsoft.com/office/drawing/2014/main" id="{D7984397-3C48-755F-3BC7-EAA1EC5F5B72}"/>
              </a:ext>
            </a:extLst>
          </p:cNvPr>
          <p:cNvSpPr txBox="1"/>
          <p:nvPr/>
        </p:nvSpPr>
        <p:spPr>
          <a:xfrm>
            <a:off x="10673487" y="6387996"/>
            <a:ext cx="1382110" cy="400110"/>
          </a:xfrm>
          <a:prstGeom prst="rect">
            <a:avLst/>
          </a:prstGeom>
          <a:noFill/>
        </p:spPr>
        <p:txBody>
          <a:bodyPr wrap="none" rtlCol="0">
            <a:spAutoFit/>
          </a:bodyPr>
          <a:lstStyle/>
          <a:p>
            <a:r>
              <a:rPr lang="en-US" sz="2000" b="1" u="sng" dirty="0"/>
              <a:t>Generation</a:t>
            </a:r>
          </a:p>
        </p:txBody>
      </p:sp>
      <p:sp>
        <p:nvSpPr>
          <p:cNvPr id="3" name="TextBox 2">
            <a:extLst>
              <a:ext uri="{FF2B5EF4-FFF2-40B4-BE49-F238E27FC236}">
                <a16:creationId xmlns:a16="http://schemas.microsoft.com/office/drawing/2014/main" id="{25B3A558-76F2-C119-8B20-B86BD9EC3E7E}"/>
              </a:ext>
            </a:extLst>
          </p:cNvPr>
          <p:cNvSpPr txBox="1"/>
          <p:nvPr/>
        </p:nvSpPr>
        <p:spPr>
          <a:xfrm>
            <a:off x="1881439" y="5031883"/>
            <a:ext cx="524503" cy="369332"/>
          </a:xfrm>
          <a:prstGeom prst="rect">
            <a:avLst/>
          </a:prstGeom>
          <a:solidFill>
            <a:srgbClr val="FFFF00"/>
          </a:solidFill>
        </p:spPr>
        <p:txBody>
          <a:bodyPr wrap="none" rtlCol="0">
            <a:spAutoFit/>
          </a:bodyPr>
          <a:lstStyle/>
          <a:p>
            <a:r>
              <a:rPr lang="en-US" dirty="0"/>
              <a:t>FIs </a:t>
            </a:r>
          </a:p>
        </p:txBody>
      </p:sp>
      <p:sp>
        <p:nvSpPr>
          <p:cNvPr id="4" name="TextBox 3">
            <a:extLst>
              <a:ext uri="{FF2B5EF4-FFF2-40B4-BE49-F238E27FC236}">
                <a16:creationId xmlns:a16="http://schemas.microsoft.com/office/drawing/2014/main" id="{14C292E7-EA58-A2E9-E8E6-00DF771FBA48}"/>
              </a:ext>
            </a:extLst>
          </p:cNvPr>
          <p:cNvSpPr txBox="1"/>
          <p:nvPr/>
        </p:nvSpPr>
        <p:spPr>
          <a:xfrm>
            <a:off x="765748" y="5952620"/>
            <a:ext cx="2755883" cy="369332"/>
          </a:xfrm>
          <a:prstGeom prst="rect">
            <a:avLst/>
          </a:prstGeom>
          <a:solidFill>
            <a:srgbClr val="FFFF00"/>
          </a:solidFill>
        </p:spPr>
        <p:txBody>
          <a:bodyPr wrap="none" rtlCol="0">
            <a:spAutoFit/>
          </a:bodyPr>
          <a:lstStyle/>
          <a:p>
            <a:r>
              <a:rPr lang="en-US" dirty="0"/>
              <a:t>PPIs in </a:t>
            </a:r>
            <a:r>
              <a:rPr lang="en-US" dirty="0" err="1"/>
              <a:t>IntAct</a:t>
            </a:r>
            <a:r>
              <a:rPr lang="en-US" dirty="0"/>
              <a:t> and </a:t>
            </a:r>
            <a:r>
              <a:rPr lang="en-US" dirty="0" err="1"/>
              <a:t>BioGrid</a:t>
            </a:r>
            <a:r>
              <a:rPr lang="en-US" dirty="0"/>
              <a:t> </a:t>
            </a:r>
          </a:p>
        </p:txBody>
      </p:sp>
      <p:cxnSp>
        <p:nvCxnSpPr>
          <p:cNvPr id="7" name="Straight Arrow Connector 6">
            <a:extLst>
              <a:ext uri="{FF2B5EF4-FFF2-40B4-BE49-F238E27FC236}">
                <a16:creationId xmlns:a16="http://schemas.microsoft.com/office/drawing/2014/main" id="{C6A64922-5AA9-F5A3-DFD1-5422C1E61BAF}"/>
              </a:ext>
            </a:extLst>
          </p:cNvPr>
          <p:cNvCxnSpPr>
            <a:stCxn id="3" idx="2"/>
            <a:endCxn id="4" idx="0"/>
          </p:cNvCxnSpPr>
          <p:nvPr/>
        </p:nvCxnSpPr>
        <p:spPr>
          <a:xfrm flipH="1">
            <a:off x="2143690" y="5401215"/>
            <a:ext cx="1" cy="55140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AB807F8-44F1-0DDB-B25A-175AE8A07F93}"/>
              </a:ext>
            </a:extLst>
          </p:cNvPr>
          <p:cNvSpPr txBox="1"/>
          <p:nvPr/>
        </p:nvSpPr>
        <p:spPr>
          <a:xfrm>
            <a:off x="1297127" y="1247827"/>
            <a:ext cx="2624886" cy="369332"/>
          </a:xfrm>
          <a:prstGeom prst="rect">
            <a:avLst/>
          </a:prstGeom>
          <a:solidFill>
            <a:srgbClr val="FFFF00"/>
          </a:solidFill>
        </p:spPr>
        <p:txBody>
          <a:bodyPr wrap="none" rtlCol="0">
            <a:spAutoFit/>
          </a:bodyPr>
          <a:lstStyle/>
          <a:p>
            <a:r>
              <a:rPr lang="en-US" dirty="0"/>
              <a:t>Download from PubMed </a:t>
            </a:r>
          </a:p>
        </p:txBody>
      </p:sp>
      <p:sp>
        <p:nvSpPr>
          <p:cNvPr id="8" name="TextBox 7">
            <a:extLst>
              <a:ext uri="{FF2B5EF4-FFF2-40B4-BE49-F238E27FC236}">
                <a16:creationId xmlns:a16="http://schemas.microsoft.com/office/drawing/2014/main" id="{BDE6C46A-FD1A-45B4-678D-19AC23E1AC12}"/>
              </a:ext>
            </a:extLst>
          </p:cNvPr>
          <p:cNvSpPr txBox="1"/>
          <p:nvPr/>
        </p:nvSpPr>
        <p:spPr>
          <a:xfrm>
            <a:off x="4204678" y="697295"/>
            <a:ext cx="1745158" cy="369332"/>
          </a:xfrm>
          <a:prstGeom prst="rect">
            <a:avLst/>
          </a:prstGeom>
          <a:solidFill>
            <a:srgbClr val="FFFF00"/>
          </a:solidFill>
        </p:spPr>
        <p:txBody>
          <a:bodyPr wrap="none" rtlCol="0">
            <a:spAutoFit/>
          </a:bodyPr>
          <a:lstStyle/>
          <a:p>
            <a:r>
              <a:rPr lang="en-US" dirty="0"/>
              <a:t>Local </a:t>
            </a:r>
            <a:r>
              <a:rPr lang="en-US" dirty="0" err="1"/>
              <a:t>MangoDB</a:t>
            </a:r>
            <a:endParaRPr lang="en-US" dirty="0"/>
          </a:p>
        </p:txBody>
      </p:sp>
      <p:cxnSp>
        <p:nvCxnSpPr>
          <p:cNvPr id="9" name="Straight Arrow Connector 8">
            <a:extLst>
              <a:ext uri="{FF2B5EF4-FFF2-40B4-BE49-F238E27FC236}">
                <a16:creationId xmlns:a16="http://schemas.microsoft.com/office/drawing/2014/main" id="{2BF1424B-3593-F877-03C1-E1C380D4C06E}"/>
              </a:ext>
            </a:extLst>
          </p:cNvPr>
          <p:cNvCxnSpPr>
            <a:cxnSpLocks/>
            <a:stCxn id="6" idx="0"/>
            <a:endCxn id="8" idx="1"/>
          </p:cNvCxnSpPr>
          <p:nvPr/>
        </p:nvCxnSpPr>
        <p:spPr>
          <a:xfrm rot="5400000" flipH="1" flipV="1">
            <a:off x="3224191" y="267340"/>
            <a:ext cx="365866" cy="1595108"/>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3B22F1F-7477-BACB-858B-82F7CB045E91}"/>
              </a:ext>
            </a:extLst>
          </p:cNvPr>
          <p:cNvSpPr txBox="1"/>
          <p:nvPr/>
        </p:nvSpPr>
        <p:spPr>
          <a:xfrm>
            <a:off x="4760421" y="2485946"/>
            <a:ext cx="1357231" cy="369332"/>
          </a:xfrm>
          <a:prstGeom prst="rect">
            <a:avLst/>
          </a:prstGeom>
          <a:solidFill>
            <a:srgbClr val="FFFF00"/>
          </a:solidFill>
        </p:spPr>
        <p:txBody>
          <a:bodyPr wrap="none" rtlCol="0">
            <a:spAutoFit/>
          </a:bodyPr>
          <a:lstStyle/>
          <a:p>
            <a:r>
              <a:rPr lang="en-US" dirty="0" err="1"/>
              <a:t>VectorStore</a:t>
            </a:r>
            <a:endParaRPr lang="en-US" dirty="0"/>
          </a:p>
        </p:txBody>
      </p:sp>
      <p:sp>
        <p:nvSpPr>
          <p:cNvPr id="11" name="TextBox 10">
            <a:extLst>
              <a:ext uri="{FF2B5EF4-FFF2-40B4-BE49-F238E27FC236}">
                <a16:creationId xmlns:a16="http://schemas.microsoft.com/office/drawing/2014/main" id="{7DE82A1C-D277-4732-D893-7A11050C930F}"/>
              </a:ext>
            </a:extLst>
          </p:cNvPr>
          <p:cNvSpPr txBox="1"/>
          <p:nvPr/>
        </p:nvSpPr>
        <p:spPr>
          <a:xfrm>
            <a:off x="6810917" y="2485946"/>
            <a:ext cx="2032992" cy="369332"/>
          </a:xfrm>
          <a:prstGeom prst="rect">
            <a:avLst/>
          </a:prstGeom>
          <a:solidFill>
            <a:srgbClr val="FFFF00"/>
          </a:solidFill>
        </p:spPr>
        <p:txBody>
          <a:bodyPr wrap="none" rtlCol="0">
            <a:spAutoFit/>
          </a:bodyPr>
          <a:lstStyle/>
          <a:p>
            <a:r>
              <a:rPr lang="en-US" dirty="0"/>
              <a:t>Direct comparison</a:t>
            </a:r>
          </a:p>
        </p:txBody>
      </p:sp>
      <p:cxnSp>
        <p:nvCxnSpPr>
          <p:cNvPr id="12" name="Straight Arrow Connector 11">
            <a:extLst>
              <a:ext uri="{FF2B5EF4-FFF2-40B4-BE49-F238E27FC236}">
                <a16:creationId xmlns:a16="http://schemas.microsoft.com/office/drawing/2014/main" id="{1D4DF87D-9C16-875F-E1E5-40FF91F75B9C}"/>
              </a:ext>
            </a:extLst>
          </p:cNvPr>
          <p:cNvCxnSpPr>
            <a:cxnSpLocks/>
            <a:stCxn id="10" idx="3"/>
            <a:endCxn id="11" idx="1"/>
          </p:cNvCxnSpPr>
          <p:nvPr/>
        </p:nvCxnSpPr>
        <p:spPr>
          <a:xfrm>
            <a:off x="6117652" y="2670612"/>
            <a:ext cx="693265"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243296C-5FC0-06F7-703B-3F3462A141E0}"/>
              </a:ext>
            </a:extLst>
          </p:cNvPr>
          <p:cNvSpPr txBox="1"/>
          <p:nvPr/>
        </p:nvSpPr>
        <p:spPr>
          <a:xfrm>
            <a:off x="7475277" y="3318319"/>
            <a:ext cx="1858650" cy="369332"/>
          </a:xfrm>
          <a:prstGeom prst="rect">
            <a:avLst/>
          </a:prstGeom>
          <a:solidFill>
            <a:srgbClr val="FFFF00"/>
          </a:solidFill>
        </p:spPr>
        <p:txBody>
          <a:bodyPr wrap="none" rtlCol="0">
            <a:spAutoFit/>
          </a:bodyPr>
          <a:lstStyle/>
          <a:p>
            <a:r>
              <a:rPr lang="en-US" dirty="0"/>
              <a:t>Ask LLM to score</a:t>
            </a:r>
          </a:p>
        </p:txBody>
      </p:sp>
      <p:cxnSp>
        <p:nvCxnSpPr>
          <p:cNvPr id="19" name="Straight Arrow Connector 8">
            <a:extLst>
              <a:ext uri="{FF2B5EF4-FFF2-40B4-BE49-F238E27FC236}">
                <a16:creationId xmlns:a16="http://schemas.microsoft.com/office/drawing/2014/main" id="{2278EEFA-0CE9-522E-C6CA-AAF597A371A9}"/>
              </a:ext>
            </a:extLst>
          </p:cNvPr>
          <p:cNvCxnSpPr>
            <a:cxnSpLocks/>
            <a:stCxn id="18" idx="1"/>
          </p:cNvCxnSpPr>
          <p:nvPr/>
        </p:nvCxnSpPr>
        <p:spPr>
          <a:xfrm rot="10800000">
            <a:off x="6413953" y="2906655"/>
            <a:ext cx="1061324" cy="596331"/>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5620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5D839-A267-5336-F05B-22BC74C83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2CE32-9402-2133-9819-570A0069835F}"/>
              </a:ext>
            </a:extLst>
          </p:cNvPr>
          <p:cNvSpPr>
            <a:spLocks noGrp="1"/>
          </p:cNvSpPr>
          <p:nvPr>
            <p:ph type="title"/>
          </p:nvPr>
        </p:nvSpPr>
        <p:spPr>
          <a:xfrm>
            <a:off x="12418" y="47404"/>
            <a:ext cx="12163815" cy="751275"/>
          </a:xfrm>
        </p:spPr>
        <p:txBody>
          <a:bodyPr>
            <a:normAutofit/>
          </a:bodyPr>
          <a:lstStyle/>
          <a:p>
            <a:pPr algn="ctr"/>
            <a:r>
              <a:rPr lang="en-US" dirty="0"/>
              <a:t>RAG-based Workflow for LLM App in Curator Tool</a:t>
            </a:r>
          </a:p>
        </p:txBody>
      </p:sp>
      <p:sp>
        <p:nvSpPr>
          <p:cNvPr id="5" name="Rounded Rectangle 4">
            <a:extLst>
              <a:ext uri="{FF2B5EF4-FFF2-40B4-BE49-F238E27FC236}">
                <a16:creationId xmlns:a16="http://schemas.microsoft.com/office/drawing/2014/main" id="{B03C6E5A-D766-2307-2D0E-3F2927EBEF6D}"/>
              </a:ext>
            </a:extLst>
          </p:cNvPr>
          <p:cNvSpPr/>
          <p:nvPr/>
        </p:nvSpPr>
        <p:spPr>
          <a:xfrm>
            <a:off x="135238" y="316680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 not annotated</a:t>
            </a:r>
          </a:p>
        </p:txBody>
      </p:sp>
      <p:grpSp>
        <p:nvGrpSpPr>
          <p:cNvPr id="27" name="Group 26">
            <a:extLst>
              <a:ext uri="{FF2B5EF4-FFF2-40B4-BE49-F238E27FC236}">
                <a16:creationId xmlns:a16="http://schemas.microsoft.com/office/drawing/2014/main" id="{5932F420-2EDF-4766-4C1C-9B9615EF6F40}"/>
              </a:ext>
            </a:extLst>
          </p:cNvPr>
          <p:cNvGrpSpPr/>
          <p:nvPr/>
        </p:nvGrpSpPr>
        <p:grpSpPr>
          <a:xfrm>
            <a:off x="218063" y="4367946"/>
            <a:ext cx="1433277" cy="1254572"/>
            <a:chOff x="1034766" y="4668922"/>
            <a:chExt cx="1433277" cy="1254572"/>
          </a:xfrm>
        </p:grpSpPr>
        <p:pic>
          <p:nvPicPr>
            <p:cNvPr id="23" name="Graphic 22" descr="Database with solid fill">
              <a:extLst>
                <a:ext uri="{FF2B5EF4-FFF2-40B4-BE49-F238E27FC236}">
                  <a16:creationId xmlns:a16="http://schemas.microsoft.com/office/drawing/2014/main" id="{7E64371D-9A66-6030-6E53-88FEB36DB8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8285" y="4668922"/>
              <a:ext cx="1023257" cy="1023257"/>
            </a:xfrm>
            <a:prstGeom prst="rect">
              <a:avLst/>
            </a:prstGeom>
          </p:spPr>
        </p:pic>
        <p:sp>
          <p:nvSpPr>
            <p:cNvPr id="26" name="TextBox 25">
              <a:extLst>
                <a:ext uri="{FF2B5EF4-FFF2-40B4-BE49-F238E27FC236}">
                  <a16:creationId xmlns:a16="http://schemas.microsoft.com/office/drawing/2014/main" id="{048B8A80-928E-D966-8A08-285ED6219E63}"/>
                </a:ext>
              </a:extLst>
            </p:cNvPr>
            <p:cNvSpPr txBox="1"/>
            <p:nvPr/>
          </p:nvSpPr>
          <p:spPr>
            <a:xfrm>
              <a:off x="1034766" y="5615717"/>
              <a:ext cx="1433277" cy="307777"/>
            </a:xfrm>
            <a:prstGeom prst="rect">
              <a:avLst/>
            </a:prstGeom>
            <a:noFill/>
          </p:spPr>
          <p:txBody>
            <a:bodyPr wrap="none" rtlCol="0">
              <a:spAutoFit/>
            </a:bodyPr>
            <a:lstStyle/>
            <a:p>
              <a:r>
                <a:rPr lang="en-US" sz="1400" dirty="0" err="1"/>
                <a:t>idg.reactome.org</a:t>
              </a:r>
              <a:endParaRPr lang="en-US" sz="1400" dirty="0"/>
            </a:p>
          </p:txBody>
        </p:sp>
      </p:grpSp>
      <p:sp>
        <p:nvSpPr>
          <p:cNvPr id="33" name="Rounded Rectangle 32">
            <a:extLst>
              <a:ext uri="{FF2B5EF4-FFF2-40B4-BE49-F238E27FC236}">
                <a16:creationId xmlns:a16="http://schemas.microsoft.com/office/drawing/2014/main" id="{B2699342-FBD3-3829-66ED-4652883A594E}"/>
              </a:ext>
            </a:extLst>
          </p:cNvPr>
          <p:cNvSpPr/>
          <p:nvPr/>
        </p:nvSpPr>
        <p:spPr>
          <a:xfrm>
            <a:off x="2792503"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pathways</a:t>
            </a:r>
          </a:p>
        </p:txBody>
      </p:sp>
      <p:sp>
        <p:nvSpPr>
          <p:cNvPr id="34" name="Rounded Rectangle 33">
            <a:extLst>
              <a:ext uri="{FF2B5EF4-FFF2-40B4-BE49-F238E27FC236}">
                <a16:creationId xmlns:a16="http://schemas.microsoft.com/office/drawing/2014/main" id="{CE858F74-E18F-EA19-2A6E-6864A68CEF5F}"/>
              </a:ext>
            </a:extLst>
          </p:cNvPr>
          <p:cNvSpPr/>
          <p:nvPr/>
        </p:nvSpPr>
        <p:spPr>
          <a:xfrm>
            <a:off x="2792503" y="4770538"/>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genes</a:t>
            </a:r>
          </a:p>
        </p:txBody>
      </p:sp>
      <p:grpSp>
        <p:nvGrpSpPr>
          <p:cNvPr id="36" name="Group 35">
            <a:extLst>
              <a:ext uri="{FF2B5EF4-FFF2-40B4-BE49-F238E27FC236}">
                <a16:creationId xmlns:a16="http://schemas.microsoft.com/office/drawing/2014/main" id="{46F5ABE9-B85B-0AFA-DA1E-80F374531131}"/>
              </a:ext>
            </a:extLst>
          </p:cNvPr>
          <p:cNvGrpSpPr/>
          <p:nvPr/>
        </p:nvGrpSpPr>
        <p:grpSpPr>
          <a:xfrm>
            <a:off x="5721414" y="4440213"/>
            <a:ext cx="1391663" cy="1205235"/>
            <a:chOff x="914833" y="4686385"/>
            <a:chExt cx="1391663" cy="1205235"/>
          </a:xfrm>
        </p:grpSpPr>
        <p:pic>
          <p:nvPicPr>
            <p:cNvPr id="38" name="Graphic 37" descr="Database with solid fill">
              <a:extLst>
                <a:ext uri="{FF2B5EF4-FFF2-40B4-BE49-F238E27FC236}">
                  <a16:creationId xmlns:a16="http://schemas.microsoft.com/office/drawing/2014/main" id="{8EDA0A7D-F1AD-22F4-777A-959F73A95F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40" name="TextBox 39">
              <a:extLst>
                <a:ext uri="{FF2B5EF4-FFF2-40B4-BE49-F238E27FC236}">
                  <a16:creationId xmlns:a16="http://schemas.microsoft.com/office/drawing/2014/main" id="{3059B0B8-20C0-A420-FE24-FF74E62F7D8B}"/>
                </a:ext>
              </a:extLst>
            </p:cNvPr>
            <p:cNvSpPr txBox="1"/>
            <p:nvPr/>
          </p:nvSpPr>
          <p:spPr>
            <a:xfrm>
              <a:off x="914833" y="5583843"/>
              <a:ext cx="1391663" cy="307777"/>
            </a:xfrm>
            <a:prstGeom prst="rect">
              <a:avLst/>
            </a:prstGeom>
            <a:noFill/>
          </p:spPr>
          <p:txBody>
            <a:bodyPr wrap="none" rtlCol="0">
              <a:spAutoFit/>
            </a:bodyPr>
            <a:lstStyle/>
            <a:p>
              <a:r>
                <a:rPr lang="en-US" sz="1400" dirty="0" err="1"/>
                <a:t>Reactome</a:t>
              </a:r>
              <a:r>
                <a:rPr lang="en-US" sz="1400" dirty="0"/>
                <a:t> Neo4j</a:t>
              </a:r>
            </a:p>
          </p:txBody>
        </p:sp>
      </p:grpSp>
      <p:grpSp>
        <p:nvGrpSpPr>
          <p:cNvPr id="60" name="Group 59">
            <a:extLst>
              <a:ext uri="{FF2B5EF4-FFF2-40B4-BE49-F238E27FC236}">
                <a16:creationId xmlns:a16="http://schemas.microsoft.com/office/drawing/2014/main" id="{FBD55CCE-3C99-DD71-4F0A-7464D7FA44DA}"/>
              </a:ext>
            </a:extLst>
          </p:cNvPr>
          <p:cNvGrpSpPr/>
          <p:nvPr/>
        </p:nvGrpSpPr>
        <p:grpSpPr>
          <a:xfrm>
            <a:off x="453827" y="1376857"/>
            <a:ext cx="1023257" cy="1182686"/>
            <a:chOff x="1099035" y="4686385"/>
            <a:chExt cx="1023257" cy="1182686"/>
          </a:xfrm>
        </p:grpSpPr>
        <p:pic>
          <p:nvPicPr>
            <p:cNvPr id="61" name="Graphic 60" descr="Database with solid fill">
              <a:extLst>
                <a:ext uri="{FF2B5EF4-FFF2-40B4-BE49-F238E27FC236}">
                  <a16:creationId xmlns:a16="http://schemas.microsoft.com/office/drawing/2014/main" id="{DC8EA47F-41C4-B4DC-C85A-3497FD4839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62" name="TextBox 61">
              <a:extLst>
                <a:ext uri="{FF2B5EF4-FFF2-40B4-BE49-F238E27FC236}">
                  <a16:creationId xmlns:a16="http://schemas.microsoft.com/office/drawing/2014/main" id="{FA0F69A2-FABE-2C5D-9982-69C0F9BFE91B}"/>
                </a:ext>
              </a:extLst>
            </p:cNvPr>
            <p:cNvSpPr txBox="1"/>
            <p:nvPr/>
          </p:nvSpPr>
          <p:spPr>
            <a:xfrm>
              <a:off x="1208148" y="5561294"/>
              <a:ext cx="805029" cy="307777"/>
            </a:xfrm>
            <a:prstGeom prst="rect">
              <a:avLst/>
            </a:prstGeom>
            <a:noFill/>
          </p:spPr>
          <p:txBody>
            <a:bodyPr wrap="none" rtlCol="0">
              <a:spAutoFit/>
            </a:bodyPr>
            <a:lstStyle/>
            <a:p>
              <a:r>
                <a:rPr lang="en-US" sz="1400" dirty="0"/>
                <a:t>PubMed</a:t>
              </a:r>
            </a:p>
          </p:txBody>
        </p:sp>
      </p:grpSp>
      <p:sp>
        <p:nvSpPr>
          <p:cNvPr id="73" name="Rounded Rectangle 72">
            <a:extLst>
              <a:ext uri="{FF2B5EF4-FFF2-40B4-BE49-F238E27FC236}">
                <a16:creationId xmlns:a16="http://schemas.microsoft.com/office/drawing/2014/main" id="{9F7433D8-1C8F-A82E-5997-41F9F88B2C18}"/>
              </a:ext>
            </a:extLst>
          </p:cNvPr>
          <p:cNvSpPr/>
          <p:nvPr/>
        </p:nvSpPr>
        <p:spPr>
          <a:xfrm>
            <a:off x="2792503" y="1683755"/>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Genes-related Abstracts</a:t>
            </a:r>
          </a:p>
        </p:txBody>
      </p:sp>
      <p:sp>
        <p:nvSpPr>
          <p:cNvPr id="74" name="Rounded Rectangle 73">
            <a:extLst>
              <a:ext uri="{FF2B5EF4-FFF2-40B4-BE49-F238E27FC236}">
                <a16:creationId xmlns:a16="http://schemas.microsoft.com/office/drawing/2014/main" id="{E2213D3E-CF8C-CA42-7800-E84A4766E163}"/>
              </a:ext>
            </a:extLst>
          </p:cNvPr>
          <p:cNvSpPr/>
          <p:nvPr/>
        </p:nvSpPr>
        <p:spPr>
          <a:xfrm>
            <a:off x="5590993" y="16785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Pathway-matched Abstracts</a:t>
            </a:r>
          </a:p>
        </p:txBody>
      </p:sp>
      <p:sp>
        <p:nvSpPr>
          <p:cNvPr id="75" name="Rounded Rectangle 74">
            <a:extLst>
              <a:ext uri="{FF2B5EF4-FFF2-40B4-BE49-F238E27FC236}">
                <a16:creationId xmlns:a16="http://schemas.microsoft.com/office/drawing/2014/main" id="{8C517E6F-DAE2-EB4F-6755-1617D1485D48}"/>
              </a:ext>
            </a:extLst>
          </p:cNvPr>
          <p:cNvSpPr/>
          <p:nvPr/>
        </p:nvSpPr>
        <p:spPr>
          <a:xfrm>
            <a:off x="9191981" y="5779322"/>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Final Summary</a:t>
            </a:r>
          </a:p>
        </p:txBody>
      </p:sp>
      <p:sp>
        <p:nvSpPr>
          <p:cNvPr id="76" name="Rounded Rectangle 75">
            <a:extLst>
              <a:ext uri="{FF2B5EF4-FFF2-40B4-BE49-F238E27FC236}">
                <a16:creationId xmlns:a16="http://schemas.microsoft.com/office/drawing/2014/main" id="{10D1EF11-6E25-41CA-946C-57F3B79BA843}"/>
              </a:ext>
            </a:extLst>
          </p:cNvPr>
          <p:cNvSpPr/>
          <p:nvPr/>
        </p:nvSpPr>
        <p:spPr>
          <a:xfrm>
            <a:off x="9191983" y="2247399"/>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Abstract &amp; Pathway Summary</a:t>
            </a:r>
          </a:p>
        </p:txBody>
      </p:sp>
      <p:sp>
        <p:nvSpPr>
          <p:cNvPr id="83" name="Rounded Rectangle 82">
            <a:extLst>
              <a:ext uri="{FF2B5EF4-FFF2-40B4-BE49-F238E27FC236}">
                <a16:creationId xmlns:a16="http://schemas.microsoft.com/office/drawing/2014/main" id="{E26A296C-ADE9-947F-DF11-1522CA8B45CA}"/>
              </a:ext>
            </a:extLst>
          </p:cNvPr>
          <p:cNvSpPr/>
          <p:nvPr/>
        </p:nvSpPr>
        <p:spPr>
          <a:xfrm>
            <a:off x="5594286"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 Summaries</a:t>
            </a:r>
          </a:p>
        </p:txBody>
      </p:sp>
      <p:sp>
        <p:nvSpPr>
          <p:cNvPr id="84" name="Rounded Rectangle 83">
            <a:extLst>
              <a:ext uri="{FF2B5EF4-FFF2-40B4-BE49-F238E27FC236}">
                <a16:creationId xmlns:a16="http://schemas.microsoft.com/office/drawing/2014/main" id="{FA51FF6F-8FC0-6D3C-ED9A-2B610B3A9492}"/>
              </a:ext>
            </a:extLst>
          </p:cNvPr>
          <p:cNvSpPr/>
          <p:nvPr/>
        </p:nvSpPr>
        <p:spPr>
          <a:xfrm>
            <a:off x="8417914" y="1015859"/>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5" name="Rounded Rectangle 84">
            <a:extLst>
              <a:ext uri="{FF2B5EF4-FFF2-40B4-BE49-F238E27FC236}">
                <a16:creationId xmlns:a16="http://schemas.microsoft.com/office/drawing/2014/main" id="{355CF96D-8DEC-CF06-1B59-AFF8DEE04070}"/>
              </a:ext>
            </a:extLst>
          </p:cNvPr>
          <p:cNvSpPr/>
          <p:nvPr/>
        </p:nvSpPr>
        <p:spPr>
          <a:xfrm>
            <a:off x="9503314" y="3543484"/>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6" name="Rounded Rectangle 85">
            <a:extLst>
              <a:ext uri="{FF2B5EF4-FFF2-40B4-BE49-F238E27FC236}">
                <a16:creationId xmlns:a16="http://schemas.microsoft.com/office/drawing/2014/main" id="{89C377A5-DC5A-6EC7-0D2C-B4F22D89C749}"/>
              </a:ext>
            </a:extLst>
          </p:cNvPr>
          <p:cNvSpPr/>
          <p:nvPr/>
        </p:nvSpPr>
        <p:spPr>
          <a:xfrm>
            <a:off x="9503313" y="4690496"/>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87" name="Rounded Rectangle 86">
            <a:extLst>
              <a:ext uri="{FF2B5EF4-FFF2-40B4-BE49-F238E27FC236}">
                <a16:creationId xmlns:a16="http://schemas.microsoft.com/office/drawing/2014/main" id="{13C5D2D2-840E-E4AD-B61F-6A1AB8774A5A}"/>
              </a:ext>
            </a:extLst>
          </p:cNvPr>
          <p:cNvSpPr/>
          <p:nvPr/>
        </p:nvSpPr>
        <p:spPr>
          <a:xfrm>
            <a:off x="10573657" y="1015859"/>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cxnSp>
        <p:nvCxnSpPr>
          <p:cNvPr id="91" name="Straight Arrow Connector 90">
            <a:extLst>
              <a:ext uri="{FF2B5EF4-FFF2-40B4-BE49-F238E27FC236}">
                <a16:creationId xmlns:a16="http://schemas.microsoft.com/office/drawing/2014/main" id="{397175A9-AEA1-232D-ACC8-36B46E183DE1}"/>
              </a:ext>
            </a:extLst>
          </p:cNvPr>
          <p:cNvCxnSpPr>
            <a:stCxn id="5" idx="0"/>
            <a:endCxn id="62" idx="2"/>
          </p:cNvCxnSpPr>
          <p:nvPr/>
        </p:nvCxnSpPr>
        <p:spPr>
          <a:xfrm flipV="1">
            <a:off x="958198" y="2559543"/>
            <a:ext cx="7257" cy="6072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86499FDB-3203-9BF8-9CD3-127BFECE8250}"/>
              </a:ext>
            </a:extLst>
          </p:cNvPr>
          <p:cNvCxnSpPr>
            <a:cxnSpLocks/>
            <a:stCxn id="5" idx="2"/>
            <a:endCxn id="23" idx="0"/>
          </p:cNvCxnSpPr>
          <p:nvPr/>
        </p:nvCxnSpPr>
        <p:spPr>
          <a:xfrm flipH="1">
            <a:off x="953211" y="3689491"/>
            <a:ext cx="4987" cy="67845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BDA3E46F-A633-3C7E-FE9D-146AD2C47059}"/>
              </a:ext>
            </a:extLst>
          </p:cNvPr>
          <p:cNvCxnSpPr>
            <a:cxnSpLocks/>
            <a:endCxn id="73" idx="1"/>
          </p:cNvCxnSpPr>
          <p:nvPr/>
        </p:nvCxnSpPr>
        <p:spPr>
          <a:xfrm>
            <a:off x="1367969" y="1945100"/>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55476624-4222-0BCF-544C-6A331320650A}"/>
              </a:ext>
            </a:extLst>
          </p:cNvPr>
          <p:cNvCxnSpPr>
            <a:cxnSpLocks/>
            <a:endCxn id="33" idx="2"/>
          </p:cNvCxnSpPr>
          <p:nvPr/>
        </p:nvCxnSpPr>
        <p:spPr>
          <a:xfrm flipV="1">
            <a:off x="1367969" y="3714441"/>
            <a:ext cx="2247494" cy="799502"/>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0207AF6B-A0A5-C4C6-A363-EC99D79BE136}"/>
              </a:ext>
            </a:extLst>
          </p:cNvPr>
          <p:cNvCxnSpPr>
            <a:cxnSpLocks/>
            <a:endCxn id="34" idx="1"/>
          </p:cNvCxnSpPr>
          <p:nvPr/>
        </p:nvCxnSpPr>
        <p:spPr>
          <a:xfrm>
            <a:off x="1367969" y="5031883"/>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 name="Elbow Connector 106">
            <a:extLst>
              <a:ext uri="{FF2B5EF4-FFF2-40B4-BE49-F238E27FC236}">
                <a16:creationId xmlns:a16="http://schemas.microsoft.com/office/drawing/2014/main" id="{70888C22-E726-CDB1-4ECD-1478DFD12BD9}"/>
              </a:ext>
            </a:extLst>
          </p:cNvPr>
          <p:cNvCxnSpPr>
            <a:stCxn id="33" idx="3"/>
          </p:cNvCxnSpPr>
          <p:nvPr/>
        </p:nvCxnSpPr>
        <p:spPr>
          <a:xfrm>
            <a:off x="4438423" y="3453096"/>
            <a:ext cx="1592263" cy="1578787"/>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CFCA544E-9517-CD77-845E-08EA3336DC88}"/>
              </a:ext>
            </a:extLst>
          </p:cNvPr>
          <p:cNvCxnSpPr>
            <a:cxnSpLocks/>
            <a:endCxn id="83" idx="2"/>
          </p:cNvCxnSpPr>
          <p:nvPr/>
        </p:nvCxnSpPr>
        <p:spPr>
          <a:xfrm flipV="1">
            <a:off x="6417246" y="3714441"/>
            <a:ext cx="0" cy="7257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348684F3-8175-8C50-45C3-4C3DE925F6E3}"/>
              </a:ext>
            </a:extLst>
          </p:cNvPr>
          <p:cNvCxnSpPr>
            <a:stCxn id="73" idx="3"/>
            <a:endCxn id="74" idx="1"/>
          </p:cNvCxnSpPr>
          <p:nvPr/>
        </p:nvCxnSpPr>
        <p:spPr>
          <a:xfrm flipV="1">
            <a:off x="4438423" y="1939896"/>
            <a:ext cx="1152570" cy="52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2BE8BBC8-ABF6-16A4-167D-C34B5A82F450}"/>
              </a:ext>
            </a:extLst>
          </p:cNvPr>
          <p:cNvCxnSpPr>
            <a:stCxn id="83" idx="0"/>
            <a:endCxn id="74" idx="2"/>
          </p:cNvCxnSpPr>
          <p:nvPr/>
        </p:nvCxnSpPr>
        <p:spPr>
          <a:xfrm flipH="1" flipV="1">
            <a:off x="6413953" y="2201241"/>
            <a:ext cx="3293" cy="9905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C33FE0F3-96FC-F729-E99E-4AD2611D7E37}"/>
              </a:ext>
            </a:extLst>
          </p:cNvPr>
          <p:cNvCxnSpPr>
            <a:stCxn id="74" idx="3"/>
            <a:endCxn id="84" idx="1"/>
          </p:cNvCxnSpPr>
          <p:nvPr/>
        </p:nvCxnSpPr>
        <p:spPr>
          <a:xfrm flipV="1">
            <a:off x="7236913" y="1277204"/>
            <a:ext cx="1181001" cy="66269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78E554E-0728-E47B-4B44-29CB95BDCE9C}"/>
              </a:ext>
            </a:extLst>
          </p:cNvPr>
          <p:cNvCxnSpPr>
            <a:stCxn id="84" idx="3"/>
            <a:endCxn id="87" idx="1"/>
          </p:cNvCxnSpPr>
          <p:nvPr/>
        </p:nvCxnSpPr>
        <p:spPr>
          <a:xfrm>
            <a:off x="9441171" y="1277204"/>
            <a:ext cx="113248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Elbow Connector 127">
            <a:extLst>
              <a:ext uri="{FF2B5EF4-FFF2-40B4-BE49-F238E27FC236}">
                <a16:creationId xmlns:a16="http://schemas.microsoft.com/office/drawing/2014/main" id="{EA9AD9A0-48E4-BCD4-ECC2-F74B34BB2BE0}"/>
              </a:ext>
            </a:extLst>
          </p:cNvPr>
          <p:cNvCxnSpPr>
            <a:stCxn id="87" idx="2"/>
            <a:endCxn id="76" idx="0"/>
          </p:cNvCxnSpPr>
          <p:nvPr/>
        </p:nvCxnSpPr>
        <p:spPr>
          <a:xfrm rot="5400000">
            <a:off x="10195690" y="1357803"/>
            <a:ext cx="708850" cy="107034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152E186-BAC7-CB3B-4536-88CD97EECD76}"/>
              </a:ext>
            </a:extLst>
          </p:cNvPr>
          <p:cNvCxnSpPr>
            <a:stCxn id="76" idx="2"/>
            <a:endCxn id="85" idx="0"/>
          </p:cNvCxnSpPr>
          <p:nvPr/>
        </p:nvCxnSpPr>
        <p:spPr>
          <a:xfrm>
            <a:off x="10014943" y="2770089"/>
            <a:ext cx="0" cy="77339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FE650BE8-4731-E5CA-EF32-B2F2D6A4DCB7}"/>
              </a:ext>
            </a:extLst>
          </p:cNvPr>
          <p:cNvCxnSpPr>
            <a:stCxn id="85" idx="2"/>
            <a:endCxn id="86" idx="0"/>
          </p:cNvCxnSpPr>
          <p:nvPr/>
        </p:nvCxnSpPr>
        <p:spPr>
          <a:xfrm flipH="1">
            <a:off x="10014942" y="4066174"/>
            <a:ext cx="1" cy="6243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7F08CBDD-0FDE-7DF9-7E05-F232E9CB6C1B}"/>
              </a:ext>
            </a:extLst>
          </p:cNvPr>
          <p:cNvCxnSpPr>
            <a:stCxn id="86" idx="2"/>
            <a:endCxn id="75" idx="0"/>
          </p:cNvCxnSpPr>
          <p:nvPr/>
        </p:nvCxnSpPr>
        <p:spPr>
          <a:xfrm flipH="1">
            <a:off x="10014941" y="5213186"/>
            <a:ext cx="1" cy="5661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99">
            <a:extLst>
              <a:ext uri="{FF2B5EF4-FFF2-40B4-BE49-F238E27FC236}">
                <a16:creationId xmlns:a16="http://schemas.microsoft.com/office/drawing/2014/main" id="{BD067B6E-E375-CA49-BF8A-EBB05A84BE08}"/>
              </a:ext>
            </a:extLst>
          </p:cNvPr>
          <p:cNvCxnSpPr>
            <a:cxnSpLocks/>
            <a:stCxn id="34" idx="2"/>
            <a:endCxn id="84" idx="2"/>
          </p:cNvCxnSpPr>
          <p:nvPr/>
        </p:nvCxnSpPr>
        <p:spPr>
          <a:xfrm rot="5400000" flipH="1" flipV="1">
            <a:off x="4395163" y="758849"/>
            <a:ext cx="3754679" cy="5314080"/>
          </a:xfrm>
          <a:prstGeom prst="bentConnector3">
            <a:avLst>
              <a:gd name="adj1" fmla="val -10147"/>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D8804FBF-5A7D-8C61-D1FF-D85B56440403}"/>
              </a:ext>
            </a:extLst>
          </p:cNvPr>
          <p:cNvSpPr txBox="1"/>
          <p:nvPr/>
        </p:nvSpPr>
        <p:spPr>
          <a:xfrm>
            <a:off x="7997371" y="1015859"/>
            <a:ext cx="300082" cy="369332"/>
          </a:xfrm>
          <a:prstGeom prst="rect">
            <a:avLst/>
          </a:prstGeom>
          <a:noFill/>
        </p:spPr>
        <p:txBody>
          <a:bodyPr wrap="none" rtlCol="0">
            <a:spAutoFit/>
          </a:bodyPr>
          <a:lstStyle/>
          <a:p>
            <a:r>
              <a:rPr lang="en-US" dirty="0"/>
              <a:t>*</a:t>
            </a:r>
          </a:p>
        </p:txBody>
      </p:sp>
      <p:sp>
        <p:nvSpPr>
          <p:cNvPr id="140" name="TextBox 139">
            <a:extLst>
              <a:ext uri="{FF2B5EF4-FFF2-40B4-BE49-F238E27FC236}">
                <a16:creationId xmlns:a16="http://schemas.microsoft.com/office/drawing/2014/main" id="{A55A880D-A15D-2FC2-C713-FB6453AC6BB9}"/>
              </a:ext>
            </a:extLst>
          </p:cNvPr>
          <p:cNvSpPr txBox="1"/>
          <p:nvPr/>
        </p:nvSpPr>
        <p:spPr>
          <a:xfrm>
            <a:off x="7785269" y="1262725"/>
            <a:ext cx="694421" cy="276999"/>
          </a:xfrm>
          <a:prstGeom prst="rect">
            <a:avLst/>
          </a:prstGeom>
          <a:noFill/>
        </p:spPr>
        <p:txBody>
          <a:bodyPr wrap="none" rtlCol="0">
            <a:spAutoFit/>
          </a:bodyPr>
          <a:lstStyle/>
          <a:p>
            <a:r>
              <a:rPr lang="en-US" sz="1200" dirty="0"/>
              <a:t>for each</a:t>
            </a:r>
          </a:p>
        </p:txBody>
      </p:sp>
      <p:cxnSp>
        <p:nvCxnSpPr>
          <p:cNvPr id="141" name="Straight Arrow Connector 99">
            <a:extLst>
              <a:ext uri="{FF2B5EF4-FFF2-40B4-BE49-F238E27FC236}">
                <a16:creationId xmlns:a16="http://schemas.microsoft.com/office/drawing/2014/main" id="{428DF19F-DDA0-A371-3F9A-0E5CD2E882E7}"/>
              </a:ext>
            </a:extLst>
          </p:cNvPr>
          <p:cNvCxnSpPr>
            <a:cxnSpLocks/>
            <a:stCxn id="34" idx="2"/>
            <a:endCxn id="85" idx="1"/>
          </p:cNvCxnSpPr>
          <p:nvPr/>
        </p:nvCxnSpPr>
        <p:spPr>
          <a:xfrm rot="5400000" flipH="1" flipV="1">
            <a:off x="5815188" y="1605103"/>
            <a:ext cx="1488399" cy="5887851"/>
          </a:xfrm>
          <a:prstGeom prst="bentConnector4">
            <a:avLst>
              <a:gd name="adj1" fmla="val -25111"/>
              <a:gd name="adj2" fmla="val 90268"/>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F2F1B5BA-4A58-E75F-6D5E-F3AAE459E93D}"/>
              </a:ext>
            </a:extLst>
          </p:cNvPr>
          <p:cNvSpPr txBox="1"/>
          <p:nvPr/>
        </p:nvSpPr>
        <p:spPr>
          <a:xfrm>
            <a:off x="9985643" y="3025609"/>
            <a:ext cx="1138581" cy="276999"/>
          </a:xfrm>
          <a:prstGeom prst="rect">
            <a:avLst/>
          </a:prstGeom>
          <a:noFill/>
        </p:spPr>
        <p:txBody>
          <a:bodyPr wrap="none" rtlCol="0">
            <a:spAutoFit/>
          </a:bodyPr>
          <a:lstStyle/>
          <a:p>
            <a:r>
              <a:rPr lang="en-US" sz="1200" dirty="0"/>
              <a:t>merge into one</a:t>
            </a:r>
          </a:p>
        </p:txBody>
      </p:sp>
      <p:sp>
        <p:nvSpPr>
          <p:cNvPr id="147" name="TextBox 146">
            <a:extLst>
              <a:ext uri="{FF2B5EF4-FFF2-40B4-BE49-F238E27FC236}">
                <a16:creationId xmlns:a16="http://schemas.microsoft.com/office/drawing/2014/main" id="{7840E79A-DB9D-5673-497A-D1272E4A70A5}"/>
              </a:ext>
            </a:extLst>
          </p:cNvPr>
          <p:cNvSpPr txBox="1"/>
          <p:nvPr/>
        </p:nvSpPr>
        <p:spPr>
          <a:xfrm>
            <a:off x="28185" y="6387996"/>
            <a:ext cx="1131079" cy="400110"/>
          </a:xfrm>
          <a:prstGeom prst="rect">
            <a:avLst/>
          </a:prstGeom>
          <a:noFill/>
        </p:spPr>
        <p:txBody>
          <a:bodyPr wrap="none" rtlCol="0">
            <a:spAutoFit/>
          </a:bodyPr>
          <a:lstStyle/>
          <a:p>
            <a:r>
              <a:rPr lang="en-US" sz="2000" b="1" u="sng" dirty="0"/>
              <a:t>Retrieval</a:t>
            </a:r>
          </a:p>
        </p:txBody>
      </p:sp>
      <p:sp>
        <p:nvSpPr>
          <p:cNvPr id="148" name="TextBox 147">
            <a:extLst>
              <a:ext uri="{FF2B5EF4-FFF2-40B4-BE49-F238E27FC236}">
                <a16:creationId xmlns:a16="http://schemas.microsoft.com/office/drawing/2014/main" id="{0FD0A4D8-F131-43AB-660E-25FA3C7F3994}"/>
              </a:ext>
            </a:extLst>
          </p:cNvPr>
          <p:cNvSpPr txBox="1"/>
          <p:nvPr/>
        </p:nvSpPr>
        <p:spPr>
          <a:xfrm>
            <a:off x="10673487" y="6387996"/>
            <a:ext cx="1382110" cy="400110"/>
          </a:xfrm>
          <a:prstGeom prst="rect">
            <a:avLst/>
          </a:prstGeom>
          <a:noFill/>
        </p:spPr>
        <p:txBody>
          <a:bodyPr wrap="none" rtlCol="0">
            <a:spAutoFit/>
          </a:bodyPr>
          <a:lstStyle/>
          <a:p>
            <a:r>
              <a:rPr lang="en-US" sz="2000" b="1" u="sng" dirty="0"/>
              <a:t>Generation</a:t>
            </a:r>
          </a:p>
        </p:txBody>
      </p:sp>
      <p:sp>
        <p:nvSpPr>
          <p:cNvPr id="3" name="TextBox 2">
            <a:extLst>
              <a:ext uri="{FF2B5EF4-FFF2-40B4-BE49-F238E27FC236}">
                <a16:creationId xmlns:a16="http://schemas.microsoft.com/office/drawing/2014/main" id="{35E02F5D-F3F4-8C06-2B0D-B266E9C5CEE2}"/>
              </a:ext>
            </a:extLst>
          </p:cNvPr>
          <p:cNvSpPr txBox="1"/>
          <p:nvPr/>
        </p:nvSpPr>
        <p:spPr>
          <a:xfrm>
            <a:off x="1881439" y="5031883"/>
            <a:ext cx="524503" cy="369332"/>
          </a:xfrm>
          <a:prstGeom prst="rect">
            <a:avLst/>
          </a:prstGeom>
          <a:solidFill>
            <a:srgbClr val="FFFF00"/>
          </a:solidFill>
        </p:spPr>
        <p:txBody>
          <a:bodyPr wrap="none" rtlCol="0">
            <a:spAutoFit/>
          </a:bodyPr>
          <a:lstStyle/>
          <a:p>
            <a:r>
              <a:rPr lang="en-US" dirty="0"/>
              <a:t>FIs </a:t>
            </a:r>
          </a:p>
        </p:txBody>
      </p:sp>
      <p:sp>
        <p:nvSpPr>
          <p:cNvPr id="4" name="TextBox 3">
            <a:extLst>
              <a:ext uri="{FF2B5EF4-FFF2-40B4-BE49-F238E27FC236}">
                <a16:creationId xmlns:a16="http://schemas.microsoft.com/office/drawing/2014/main" id="{CAFB7D35-BC10-5CFD-BA39-E18C4EDB30FC}"/>
              </a:ext>
            </a:extLst>
          </p:cNvPr>
          <p:cNvSpPr txBox="1"/>
          <p:nvPr/>
        </p:nvSpPr>
        <p:spPr>
          <a:xfrm>
            <a:off x="765748" y="5952620"/>
            <a:ext cx="2755883" cy="369332"/>
          </a:xfrm>
          <a:prstGeom prst="rect">
            <a:avLst/>
          </a:prstGeom>
          <a:solidFill>
            <a:srgbClr val="FFFF00"/>
          </a:solidFill>
        </p:spPr>
        <p:txBody>
          <a:bodyPr wrap="none" rtlCol="0">
            <a:spAutoFit/>
          </a:bodyPr>
          <a:lstStyle/>
          <a:p>
            <a:r>
              <a:rPr lang="en-US" dirty="0"/>
              <a:t>PPIs in </a:t>
            </a:r>
            <a:r>
              <a:rPr lang="en-US" dirty="0" err="1"/>
              <a:t>IntAct</a:t>
            </a:r>
            <a:r>
              <a:rPr lang="en-US" dirty="0"/>
              <a:t> and </a:t>
            </a:r>
            <a:r>
              <a:rPr lang="en-US" dirty="0" err="1"/>
              <a:t>BioGrid</a:t>
            </a:r>
            <a:r>
              <a:rPr lang="en-US" dirty="0"/>
              <a:t> </a:t>
            </a:r>
          </a:p>
        </p:txBody>
      </p:sp>
      <p:cxnSp>
        <p:nvCxnSpPr>
          <p:cNvPr id="7" name="Straight Arrow Connector 6">
            <a:extLst>
              <a:ext uri="{FF2B5EF4-FFF2-40B4-BE49-F238E27FC236}">
                <a16:creationId xmlns:a16="http://schemas.microsoft.com/office/drawing/2014/main" id="{26CE129C-7B2A-6ED6-CB1E-3FA37B3FABC6}"/>
              </a:ext>
            </a:extLst>
          </p:cNvPr>
          <p:cNvCxnSpPr>
            <a:stCxn id="3" idx="2"/>
            <a:endCxn id="4" idx="0"/>
          </p:cNvCxnSpPr>
          <p:nvPr/>
        </p:nvCxnSpPr>
        <p:spPr>
          <a:xfrm flipH="1">
            <a:off x="2143690" y="5401215"/>
            <a:ext cx="1" cy="55140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029C7EE-C850-4AAC-56DB-0E89DBF51115}"/>
              </a:ext>
            </a:extLst>
          </p:cNvPr>
          <p:cNvSpPr txBox="1"/>
          <p:nvPr/>
        </p:nvSpPr>
        <p:spPr>
          <a:xfrm>
            <a:off x="1297127" y="1247827"/>
            <a:ext cx="2624886" cy="369332"/>
          </a:xfrm>
          <a:prstGeom prst="rect">
            <a:avLst/>
          </a:prstGeom>
          <a:solidFill>
            <a:srgbClr val="FFFF00"/>
          </a:solidFill>
        </p:spPr>
        <p:txBody>
          <a:bodyPr wrap="none" rtlCol="0">
            <a:spAutoFit/>
          </a:bodyPr>
          <a:lstStyle/>
          <a:p>
            <a:r>
              <a:rPr lang="en-US" dirty="0"/>
              <a:t>Download from PubMed </a:t>
            </a:r>
          </a:p>
        </p:txBody>
      </p:sp>
      <p:sp>
        <p:nvSpPr>
          <p:cNvPr id="8" name="TextBox 7">
            <a:extLst>
              <a:ext uri="{FF2B5EF4-FFF2-40B4-BE49-F238E27FC236}">
                <a16:creationId xmlns:a16="http://schemas.microsoft.com/office/drawing/2014/main" id="{FF71328E-BE89-F225-B83B-880D6E09721E}"/>
              </a:ext>
            </a:extLst>
          </p:cNvPr>
          <p:cNvSpPr txBox="1"/>
          <p:nvPr/>
        </p:nvSpPr>
        <p:spPr>
          <a:xfrm>
            <a:off x="4204678" y="697295"/>
            <a:ext cx="1745158" cy="369332"/>
          </a:xfrm>
          <a:prstGeom prst="rect">
            <a:avLst/>
          </a:prstGeom>
          <a:solidFill>
            <a:srgbClr val="FFFF00"/>
          </a:solidFill>
        </p:spPr>
        <p:txBody>
          <a:bodyPr wrap="none" rtlCol="0">
            <a:spAutoFit/>
          </a:bodyPr>
          <a:lstStyle/>
          <a:p>
            <a:r>
              <a:rPr lang="en-US" dirty="0"/>
              <a:t>Local </a:t>
            </a:r>
            <a:r>
              <a:rPr lang="en-US" dirty="0" err="1"/>
              <a:t>MangoDB</a:t>
            </a:r>
            <a:endParaRPr lang="en-US" dirty="0"/>
          </a:p>
        </p:txBody>
      </p:sp>
      <p:cxnSp>
        <p:nvCxnSpPr>
          <p:cNvPr id="9" name="Straight Arrow Connector 8">
            <a:extLst>
              <a:ext uri="{FF2B5EF4-FFF2-40B4-BE49-F238E27FC236}">
                <a16:creationId xmlns:a16="http://schemas.microsoft.com/office/drawing/2014/main" id="{9F066D53-FDB0-33B8-CB34-A93B35A99723}"/>
              </a:ext>
            </a:extLst>
          </p:cNvPr>
          <p:cNvCxnSpPr>
            <a:cxnSpLocks/>
            <a:stCxn id="6" idx="0"/>
            <a:endCxn id="8" idx="1"/>
          </p:cNvCxnSpPr>
          <p:nvPr/>
        </p:nvCxnSpPr>
        <p:spPr>
          <a:xfrm rot="5400000" flipH="1" flipV="1">
            <a:off x="3224191" y="267340"/>
            <a:ext cx="365866" cy="1595108"/>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DA24CC6-988A-F1E1-895A-9AE967449830}"/>
              </a:ext>
            </a:extLst>
          </p:cNvPr>
          <p:cNvSpPr txBox="1"/>
          <p:nvPr/>
        </p:nvSpPr>
        <p:spPr>
          <a:xfrm>
            <a:off x="4760421" y="2485946"/>
            <a:ext cx="1357231" cy="369332"/>
          </a:xfrm>
          <a:prstGeom prst="rect">
            <a:avLst/>
          </a:prstGeom>
          <a:solidFill>
            <a:srgbClr val="FFFF00"/>
          </a:solidFill>
        </p:spPr>
        <p:txBody>
          <a:bodyPr wrap="none" rtlCol="0">
            <a:spAutoFit/>
          </a:bodyPr>
          <a:lstStyle/>
          <a:p>
            <a:r>
              <a:rPr lang="en-US" dirty="0" err="1"/>
              <a:t>VectorStore</a:t>
            </a:r>
            <a:endParaRPr lang="en-US" dirty="0"/>
          </a:p>
        </p:txBody>
      </p:sp>
      <p:sp>
        <p:nvSpPr>
          <p:cNvPr id="11" name="TextBox 10">
            <a:extLst>
              <a:ext uri="{FF2B5EF4-FFF2-40B4-BE49-F238E27FC236}">
                <a16:creationId xmlns:a16="http://schemas.microsoft.com/office/drawing/2014/main" id="{96A0D119-DA96-9A01-7E73-ABE6AAEACDCE}"/>
              </a:ext>
            </a:extLst>
          </p:cNvPr>
          <p:cNvSpPr txBox="1"/>
          <p:nvPr/>
        </p:nvSpPr>
        <p:spPr>
          <a:xfrm>
            <a:off x="6810917" y="2485946"/>
            <a:ext cx="2032992" cy="369332"/>
          </a:xfrm>
          <a:prstGeom prst="rect">
            <a:avLst/>
          </a:prstGeom>
          <a:solidFill>
            <a:srgbClr val="FFFF00"/>
          </a:solidFill>
        </p:spPr>
        <p:txBody>
          <a:bodyPr wrap="none" rtlCol="0">
            <a:spAutoFit/>
          </a:bodyPr>
          <a:lstStyle/>
          <a:p>
            <a:r>
              <a:rPr lang="en-US" dirty="0"/>
              <a:t>Direct comparison</a:t>
            </a:r>
          </a:p>
        </p:txBody>
      </p:sp>
      <p:cxnSp>
        <p:nvCxnSpPr>
          <p:cNvPr id="12" name="Straight Arrow Connector 11">
            <a:extLst>
              <a:ext uri="{FF2B5EF4-FFF2-40B4-BE49-F238E27FC236}">
                <a16:creationId xmlns:a16="http://schemas.microsoft.com/office/drawing/2014/main" id="{2098B5D1-E6E6-A4E3-B69E-35FDDF55C903}"/>
              </a:ext>
            </a:extLst>
          </p:cNvPr>
          <p:cNvCxnSpPr>
            <a:cxnSpLocks/>
            <a:stCxn id="10" idx="3"/>
            <a:endCxn id="11" idx="1"/>
          </p:cNvCxnSpPr>
          <p:nvPr/>
        </p:nvCxnSpPr>
        <p:spPr>
          <a:xfrm>
            <a:off x="6117652" y="2670612"/>
            <a:ext cx="693265"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1329415-507A-D1AB-25C1-FD7B2AA6B980}"/>
              </a:ext>
            </a:extLst>
          </p:cNvPr>
          <p:cNvSpPr txBox="1"/>
          <p:nvPr/>
        </p:nvSpPr>
        <p:spPr>
          <a:xfrm>
            <a:off x="7475277" y="3318319"/>
            <a:ext cx="1858650" cy="369332"/>
          </a:xfrm>
          <a:prstGeom prst="rect">
            <a:avLst/>
          </a:prstGeom>
          <a:solidFill>
            <a:srgbClr val="FFFF00"/>
          </a:solidFill>
        </p:spPr>
        <p:txBody>
          <a:bodyPr wrap="none" rtlCol="0">
            <a:spAutoFit/>
          </a:bodyPr>
          <a:lstStyle/>
          <a:p>
            <a:r>
              <a:rPr lang="en-US" dirty="0"/>
              <a:t>Ask LLM to score</a:t>
            </a:r>
          </a:p>
        </p:txBody>
      </p:sp>
      <p:cxnSp>
        <p:nvCxnSpPr>
          <p:cNvPr id="14" name="Straight Arrow Connector 8">
            <a:extLst>
              <a:ext uri="{FF2B5EF4-FFF2-40B4-BE49-F238E27FC236}">
                <a16:creationId xmlns:a16="http://schemas.microsoft.com/office/drawing/2014/main" id="{74C306FC-5C09-A347-24F4-8797335306CF}"/>
              </a:ext>
            </a:extLst>
          </p:cNvPr>
          <p:cNvCxnSpPr>
            <a:cxnSpLocks/>
            <a:stCxn id="13" idx="1"/>
          </p:cNvCxnSpPr>
          <p:nvPr/>
        </p:nvCxnSpPr>
        <p:spPr>
          <a:xfrm rot="10800000">
            <a:off x="6413953" y="2906655"/>
            <a:ext cx="1061324" cy="596331"/>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39DFD46-DC72-775D-28F3-0276320DFDE4}"/>
              </a:ext>
            </a:extLst>
          </p:cNvPr>
          <p:cNvSpPr txBox="1"/>
          <p:nvPr/>
        </p:nvSpPr>
        <p:spPr>
          <a:xfrm>
            <a:off x="4532647" y="6418774"/>
            <a:ext cx="1498039" cy="369332"/>
          </a:xfrm>
          <a:prstGeom prst="rect">
            <a:avLst/>
          </a:prstGeom>
          <a:solidFill>
            <a:srgbClr val="FFFF00"/>
          </a:solidFill>
        </p:spPr>
        <p:txBody>
          <a:bodyPr wrap="none" rtlCol="0">
            <a:spAutoFit/>
          </a:bodyPr>
          <a:lstStyle/>
          <a:p>
            <a:r>
              <a:rPr lang="en-US" dirty="0"/>
              <a:t>PPI abstracts</a:t>
            </a:r>
          </a:p>
        </p:txBody>
      </p:sp>
      <p:cxnSp>
        <p:nvCxnSpPr>
          <p:cNvPr id="16" name="Straight Arrow Connector 8">
            <a:extLst>
              <a:ext uri="{FF2B5EF4-FFF2-40B4-BE49-F238E27FC236}">
                <a16:creationId xmlns:a16="http://schemas.microsoft.com/office/drawing/2014/main" id="{72BD10A9-8C0A-A947-C96B-C4F09309407D}"/>
              </a:ext>
            </a:extLst>
          </p:cNvPr>
          <p:cNvCxnSpPr>
            <a:cxnSpLocks/>
            <a:stCxn id="4" idx="3"/>
            <a:endCxn id="15" idx="1"/>
          </p:cNvCxnSpPr>
          <p:nvPr/>
        </p:nvCxnSpPr>
        <p:spPr>
          <a:xfrm>
            <a:off x="3521631" y="6137286"/>
            <a:ext cx="1011016" cy="466154"/>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8">
            <a:extLst>
              <a:ext uri="{FF2B5EF4-FFF2-40B4-BE49-F238E27FC236}">
                <a16:creationId xmlns:a16="http://schemas.microsoft.com/office/drawing/2014/main" id="{FB9BF50A-908F-8C1D-8FE7-800BE9A61F2C}"/>
              </a:ext>
            </a:extLst>
          </p:cNvPr>
          <p:cNvCxnSpPr>
            <a:cxnSpLocks/>
            <a:stCxn id="15" idx="3"/>
            <a:endCxn id="25" idx="1"/>
          </p:cNvCxnSpPr>
          <p:nvPr/>
        </p:nvCxnSpPr>
        <p:spPr>
          <a:xfrm>
            <a:off x="6030686" y="6603440"/>
            <a:ext cx="1410738" cy="2288"/>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F141B3F4-CF97-028E-5D60-4C2BCED9CA64}"/>
              </a:ext>
            </a:extLst>
          </p:cNvPr>
          <p:cNvSpPr/>
          <p:nvPr/>
        </p:nvSpPr>
        <p:spPr>
          <a:xfrm>
            <a:off x="7441424" y="6420718"/>
            <a:ext cx="1382110" cy="370020"/>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Final Output</a:t>
            </a:r>
          </a:p>
        </p:txBody>
      </p:sp>
      <p:cxnSp>
        <p:nvCxnSpPr>
          <p:cNvPr id="35" name="Straight Arrow Connector 8">
            <a:extLst>
              <a:ext uri="{FF2B5EF4-FFF2-40B4-BE49-F238E27FC236}">
                <a16:creationId xmlns:a16="http://schemas.microsoft.com/office/drawing/2014/main" id="{EDA9DF54-009D-FEF1-CD9C-E132DD07A174}"/>
              </a:ext>
            </a:extLst>
          </p:cNvPr>
          <p:cNvCxnSpPr>
            <a:cxnSpLocks/>
            <a:stCxn id="75" idx="2"/>
            <a:endCxn id="25" idx="3"/>
          </p:cNvCxnSpPr>
          <p:nvPr/>
        </p:nvCxnSpPr>
        <p:spPr>
          <a:xfrm rot="5400000">
            <a:off x="9267380" y="5858167"/>
            <a:ext cx="303716" cy="1191407"/>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8220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895B-3B8C-BF03-A920-6BA4E0C55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FA129-629E-F5E7-26ED-C0BC91B01F45}"/>
              </a:ext>
            </a:extLst>
          </p:cNvPr>
          <p:cNvSpPr>
            <a:spLocks noGrp="1"/>
          </p:cNvSpPr>
          <p:nvPr>
            <p:ph type="title"/>
          </p:nvPr>
        </p:nvSpPr>
        <p:spPr>
          <a:xfrm>
            <a:off x="12418" y="47404"/>
            <a:ext cx="12163815" cy="751275"/>
          </a:xfrm>
        </p:spPr>
        <p:txBody>
          <a:bodyPr>
            <a:normAutofit/>
          </a:bodyPr>
          <a:lstStyle/>
          <a:p>
            <a:pPr algn="ctr"/>
            <a:r>
              <a:rPr lang="en-US" dirty="0"/>
              <a:t>RAG-based Workflow for LLM App in Curator Tool</a:t>
            </a:r>
          </a:p>
        </p:txBody>
      </p:sp>
      <p:sp>
        <p:nvSpPr>
          <p:cNvPr id="5" name="Rounded Rectangle 4">
            <a:extLst>
              <a:ext uri="{FF2B5EF4-FFF2-40B4-BE49-F238E27FC236}">
                <a16:creationId xmlns:a16="http://schemas.microsoft.com/office/drawing/2014/main" id="{819227F2-8D04-8B0D-0744-F1099E8A2158}"/>
              </a:ext>
            </a:extLst>
          </p:cNvPr>
          <p:cNvSpPr/>
          <p:nvPr/>
        </p:nvSpPr>
        <p:spPr>
          <a:xfrm>
            <a:off x="135238" y="316680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 not annotated</a:t>
            </a:r>
          </a:p>
        </p:txBody>
      </p:sp>
      <p:grpSp>
        <p:nvGrpSpPr>
          <p:cNvPr id="27" name="Group 26">
            <a:extLst>
              <a:ext uri="{FF2B5EF4-FFF2-40B4-BE49-F238E27FC236}">
                <a16:creationId xmlns:a16="http://schemas.microsoft.com/office/drawing/2014/main" id="{178E6AF6-E220-C67A-341F-8B18AB55F579}"/>
              </a:ext>
            </a:extLst>
          </p:cNvPr>
          <p:cNvGrpSpPr/>
          <p:nvPr/>
        </p:nvGrpSpPr>
        <p:grpSpPr>
          <a:xfrm>
            <a:off x="218063" y="4367946"/>
            <a:ext cx="1433277" cy="1254572"/>
            <a:chOff x="1034766" y="4668922"/>
            <a:chExt cx="1433277" cy="1254572"/>
          </a:xfrm>
        </p:grpSpPr>
        <p:pic>
          <p:nvPicPr>
            <p:cNvPr id="23" name="Graphic 22" descr="Database with solid fill">
              <a:extLst>
                <a:ext uri="{FF2B5EF4-FFF2-40B4-BE49-F238E27FC236}">
                  <a16:creationId xmlns:a16="http://schemas.microsoft.com/office/drawing/2014/main" id="{B9B6B92B-FA0B-D045-E70C-97E96A0549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8285" y="4668922"/>
              <a:ext cx="1023257" cy="1023257"/>
            </a:xfrm>
            <a:prstGeom prst="rect">
              <a:avLst/>
            </a:prstGeom>
          </p:spPr>
        </p:pic>
        <p:sp>
          <p:nvSpPr>
            <p:cNvPr id="26" name="TextBox 25">
              <a:extLst>
                <a:ext uri="{FF2B5EF4-FFF2-40B4-BE49-F238E27FC236}">
                  <a16:creationId xmlns:a16="http://schemas.microsoft.com/office/drawing/2014/main" id="{8FC3961A-6EAC-E0E8-3EC0-171006BC619C}"/>
                </a:ext>
              </a:extLst>
            </p:cNvPr>
            <p:cNvSpPr txBox="1"/>
            <p:nvPr/>
          </p:nvSpPr>
          <p:spPr>
            <a:xfrm>
              <a:off x="1034766" y="5615717"/>
              <a:ext cx="1433277" cy="307777"/>
            </a:xfrm>
            <a:prstGeom prst="rect">
              <a:avLst/>
            </a:prstGeom>
            <a:noFill/>
          </p:spPr>
          <p:txBody>
            <a:bodyPr wrap="none" rtlCol="0">
              <a:spAutoFit/>
            </a:bodyPr>
            <a:lstStyle/>
            <a:p>
              <a:r>
                <a:rPr lang="en-US" sz="1400" dirty="0" err="1"/>
                <a:t>idg.reactome.org</a:t>
              </a:r>
              <a:endParaRPr lang="en-US" sz="1400" dirty="0"/>
            </a:p>
          </p:txBody>
        </p:sp>
      </p:grpSp>
      <p:sp>
        <p:nvSpPr>
          <p:cNvPr id="33" name="Rounded Rectangle 32">
            <a:extLst>
              <a:ext uri="{FF2B5EF4-FFF2-40B4-BE49-F238E27FC236}">
                <a16:creationId xmlns:a16="http://schemas.microsoft.com/office/drawing/2014/main" id="{57B4503F-EAEB-DE66-1D51-2FF7D173ED3F}"/>
              </a:ext>
            </a:extLst>
          </p:cNvPr>
          <p:cNvSpPr/>
          <p:nvPr/>
        </p:nvSpPr>
        <p:spPr>
          <a:xfrm>
            <a:off x="2792503"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pathways</a:t>
            </a:r>
          </a:p>
        </p:txBody>
      </p:sp>
      <p:sp>
        <p:nvSpPr>
          <p:cNvPr id="34" name="Rounded Rectangle 33">
            <a:extLst>
              <a:ext uri="{FF2B5EF4-FFF2-40B4-BE49-F238E27FC236}">
                <a16:creationId xmlns:a16="http://schemas.microsoft.com/office/drawing/2014/main" id="{FB3BA453-9F6A-1D43-F982-8D624D931665}"/>
              </a:ext>
            </a:extLst>
          </p:cNvPr>
          <p:cNvSpPr/>
          <p:nvPr/>
        </p:nvSpPr>
        <p:spPr>
          <a:xfrm>
            <a:off x="2792503" y="4770538"/>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Interacting genes</a:t>
            </a:r>
          </a:p>
        </p:txBody>
      </p:sp>
      <p:grpSp>
        <p:nvGrpSpPr>
          <p:cNvPr id="36" name="Group 35">
            <a:extLst>
              <a:ext uri="{FF2B5EF4-FFF2-40B4-BE49-F238E27FC236}">
                <a16:creationId xmlns:a16="http://schemas.microsoft.com/office/drawing/2014/main" id="{190520D3-7173-DFAA-B9FD-696B3A43D3A9}"/>
              </a:ext>
            </a:extLst>
          </p:cNvPr>
          <p:cNvGrpSpPr/>
          <p:nvPr/>
        </p:nvGrpSpPr>
        <p:grpSpPr>
          <a:xfrm>
            <a:off x="5721414" y="4440213"/>
            <a:ext cx="1391663" cy="1205235"/>
            <a:chOff x="914833" y="4686385"/>
            <a:chExt cx="1391663" cy="1205235"/>
          </a:xfrm>
        </p:grpSpPr>
        <p:pic>
          <p:nvPicPr>
            <p:cNvPr id="38" name="Graphic 37" descr="Database with solid fill">
              <a:extLst>
                <a:ext uri="{FF2B5EF4-FFF2-40B4-BE49-F238E27FC236}">
                  <a16:creationId xmlns:a16="http://schemas.microsoft.com/office/drawing/2014/main" id="{F2D0E886-FEBD-E033-5D38-85AC7EB76C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40" name="TextBox 39">
              <a:extLst>
                <a:ext uri="{FF2B5EF4-FFF2-40B4-BE49-F238E27FC236}">
                  <a16:creationId xmlns:a16="http://schemas.microsoft.com/office/drawing/2014/main" id="{4605DBF4-D0B4-3602-A9F2-F697FE6E199C}"/>
                </a:ext>
              </a:extLst>
            </p:cNvPr>
            <p:cNvSpPr txBox="1"/>
            <p:nvPr/>
          </p:nvSpPr>
          <p:spPr>
            <a:xfrm>
              <a:off x="914833" y="5583843"/>
              <a:ext cx="1391663" cy="307777"/>
            </a:xfrm>
            <a:prstGeom prst="rect">
              <a:avLst/>
            </a:prstGeom>
            <a:noFill/>
          </p:spPr>
          <p:txBody>
            <a:bodyPr wrap="none" rtlCol="0">
              <a:spAutoFit/>
            </a:bodyPr>
            <a:lstStyle/>
            <a:p>
              <a:r>
                <a:rPr lang="en-US" sz="1400" dirty="0" err="1"/>
                <a:t>Reactome</a:t>
              </a:r>
              <a:r>
                <a:rPr lang="en-US" sz="1400" dirty="0"/>
                <a:t> Neo4j</a:t>
              </a:r>
            </a:p>
          </p:txBody>
        </p:sp>
      </p:grpSp>
      <p:grpSp>
        <p:nvGrpSpPr>
          <p:cNvPr id="60" name="Group 59">
            <a:extLst>
              <a:ext uri="{FF2B5EF4-FFF2-40B4-BE49-F238E27FC236}">
                <a16:creationId xmlns:a16="http://schemas.microsoft.com/office/drawing/2014/main" id="{CF23EBD8-3100-F5D7-C732-E59545CB2B5B}"/>
              </a:ext>
            </a:extLst>
          </p:cNvPr>
          <p:cNvGrpSpPr/>
          <p:nvPr/>
        </p:nvGrpSpPr>
        <p:grpSpPr>
          <a:xfrm>
            <a:off x="453827" y="1376857"/>
            <a:ext cx="1023257" cy="1182686"/>
            <a:chOff x="1099035" y="4686385"/>
            <a:chExt cx="1023257" cy="1182686"/>
          </a:xfrm>
        </p:grpSpPr>
        <p:pic>
          <p:nvPicPr>
            <p:cNvPr id="61" name="Graphic 60" descr="Database with solid fill">
              <a:extLst>
                <a:ext uri="{FF2B5EF4-FFF2-40B4-BE49-F238E27FC236}">
                  <a16:creationId xmlns:a16="http://schemas.microsoft.com/office/drawing/2014/main" id="{C371E6FC-EEE9-E7B7-09A6-C40049AF74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9035" y="4686385"/>
              <a:ext cx="1023257" cy="1023257"/>
            </a:xfrm>
            <a:prstGeom prst="rect">
              <a:avLst/>
            </a:prstGeom>
          </p:spPr>
        </p:pic>
        <p:sp>
          <p:nvSpPr>
            <p:cNvPr id="62" name="TextBox 61">
              <a:extLst>
                <a:ext uri="{FF2B5EF4-FFF2-40B4-BE49-F238E27FC236}">
                  <a16:creationId xmlns:a16="http://schemas.microsoft.com/office/drawing/2014/main" id="{47C960A8-3225-0754-CFC0-5FAA960A5E40}"/>
                </a:ext>
              </a:extLst>
            </p:cNvPr>
            <p:cNvSpPr txBox="1"/>
            <p:nvPr/>
          </p:nvSpPr>
          <p:spPr>
            <a:xfrm>
              <a:off x="1208148" y="5561294"/>
              <a:ext cx="805029" cy="307777"/>
            </a:xfrm>
            <a:prstGeom prst="rect">
              <a:avLst/>
            </a:prstGeom>
            <a:noFill/>
          </p:spPr>
          <p:txBody>
            <a:bodyPr wrap="none" rtlCol="0">
              <a:spAutoFit/>
            </a:bodyPr>
            <a:lstStyle/>
            <a:p>
              <a:r>
                <a:rPr lang="en-US" sz="1400" dirty="0"/>
                <a:t>PubMed</a:t>
              </a:r>
            </a:p>
          </p:txBody>
        </p:sp>
      </p:grpSp>
      <p:sp>
        <p:nvSpPr>
          <p:cNvPr id="73" name="Rounded Rectangle 72">
            <a:extLst>
              <a:ext uri="{FF2B5EF4-FFF2-40B4-BE49-F238E27FC236}">
                <a16:creationId xmlns:a16="http://schemas.microsoft.com/office/drawing/2014/main" id="{F894372B-338C-0206-47DD-061C1BDB3ACF}"/>
              </a:ext>
            </a:extLst>
          </p:cNvPr>
          <p:cNvSpPr/>
          <p:nvPr/>
        </p:nvSpPr>
        <p:spPr>
          <a:xfrm>
            <a:off x="2792503" y="1683755"/>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Genes-related Abstracts</a:t>
            </a:r>
          </a:p>
        </p:txBody>
      </p:sp>
      <p:sp>
        <p:nvSpPr>
          <p:cNvPr id="74" name="Rounded Rectangle 73">
            <a:extLst>
              <a:ext uri="{FF2B5EF4-FFF2-40B4-BE49-F238E27FC236}">
                <a16:creationId xmlns:a16="http://schemas.microsoft.com/office/drawing/2014/main" id="{F08C18BF-3AA5-56EA-75D5-17228DB5A61D}"/>
              </a:ext>
            </a:extLst>
          </p:cNvPr>
          <p:cNvSpPr/>
          <p:nvPr/>
        </p:nvSpPr>
        <p:spPr>
          <a:xfrm>
            <a:off x="5590993" y="16785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Pathway-matched Abstracts</a:t>
            </a:r>
          </a:p>
        </p:txBody>
      </p:sp>
      <p:sp>
        <p:nvSpPr>
          <p:cNvPr id="75" name="Rounded Rectangle 74">
            <a:extLst>
              <a:ext uri="{FF2B5EF4-FFF2-40B4-BE49-F238E27FC236}">
                <a16:creationId xmlns:a16="http://schemas.microsoft.com/office/drawing/2014/main" id="{94BBE411-B70A-25E6-D5BB-8D7219E58573}"/>
              </a:ext>
            </a:extLst>
          </p:cNvPr>
          <p:cNvSpPr/>
          <p:nvPr/>
        </p:nvSpPr>
        <p:spPr>
          <a:xfrm>
            <a:off x="9191981" y="5779322"/>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Final Summary</a:t>
            </a:r>
          </a:p>
        </p:txBody>
      </p:sp>
      <p:sp>
        <p:nvSpPr>
          <p:cNvPr id="76" name="Rounded Rectangle 75">
            <a:extLst>
              <a:ext uri="{FF2B5EF4-FFF2-40B4-BE49-F238E27FC236}">
                <a16:creationId xmlns:a16="http://schemas.microsoft.com/office/drawing/2014/main" id="{DCD6E050-C835-7CCA-E51A-D8D2ECC92287}"/>
              </a:ext>
            </a:extLst>
          </p:cNvPr>
          <p:cNvSpPr/>
          <p:nvPr/>
        </p:nvSpPr>
        <p:spPr>
          <a:xfrm>
            <a:off x="9191983" y="2247399"/>
            <a:ext cx="1645920" cy="52269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Abstract &amp; Pathway Summary</a:t>
            </a:r>
          </a:p>
        </p:txBody>
      </p:sp>
      <p:sp>
        <p:nvSpPr>
          <p:cNvPr id="83" name="Rounded Rectangle 82">
            <a:extLst>
              <a:ext uri="{FF2B5EF4-FFF2-40B4-BE49-F238E27FC236}">
                <a16:creationId xmlns:a16="http://schemas.microsoft.com/office/drawing/2014/main" id="{142C935E-42CA-C246-8B31-9503E3347B7C}"/>
              </a:ext>
            </a:extLst>
          </p:cNvPr>
          <p:cNvSpPr/>
          <p:nvPr/>
        </p:nvSpPr>
        <p:spPr>
          <a:xfrm>
            <a:off x="5594286" y="3191751"/>
            <a:ext cx="1645920" cy="5226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Pathway Summaries</a:t>
            </a:r>
          </a:p>
        </p:txBody>
      </p:sp>
      <p:sp>
        <p:nvSpPr>
          <p:cNvPr id="84" name="Rounded Rectangle 83">
            <a:extLst>
              <a:ext uri="{FF2B5EF4-FFF2-40B4-BE49-F238E27FC236}">
                <a16:creationId xmlns:a16="http://schemas.microsoft.com/office/drawing/2014/main" id="{4DDC13D7-9EA5-F172-2434-DCE81C431D0C}"/>
              </a:ext>
            </a:extLst>
          </p:cNvPr>
          <p:cNvSpPr/>
          <p:nvPr/>
        </p:nvSpPr>
        <p:spPr>
          <a:xfrm>
            <a:off x="8417914" y="1015859"/>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5" name="Rounded Rectangle 84">
            <a:extLst>
              <a:ext uri="{FF2B5EF4-FFF2-40B4-BE49-F238E27FC236}">
                <a16:creationId xmlns:a16="http://schemas.microsoft.com/office/drawing/2014/main" id="{5CCE5B7E-96FC-3D96-7A79-0671FE2F8D51}"/>
              </a:ext>
            </a:extLst>
          </p:cNvPr>
          <p:cNvSpPr/>
          <p:nvPr/>
        </p:nvSpPr>
        <p:spPr>
          <a:xfrm>
            <a:off x="9503314" y="3543484"/>
            <a:ext cx="1023257" cy="522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6" name="Rounded Rectangle 85">
            <a:extLst>
              <a:ext uri="{FF2B5EF4-FFF2-40B4-BE49-F238E27FC236}">
                <a16:creationId xmlns:a16="http://schemas.microsoft.com/office/drawing/2014/main" id="{B999D10A-6DF9-8E0E-BF79-D1C9B0D1EA0D}"/>
              </a:ext>
            </a:extLst>
          </p:cNvPr>
          <p:cNvSpPr/>
          <p:nvPr/>
        </p:nvSpPr>
        <p:spPr>
          <a:xfrm>
            <a:off x="9503313" y="4690496"/>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87" name="Rounded Rectangle 86">
            <a:extLst>
              <a:ext uri="{FF2B5EF4-FFF2-40B4-BE49-F238E27FC236}">
                <a16:creationId xmlns:a16="http://schemas.microsoft.com/office/drawing/2014/main" id="{F7A44294-FC65-A92B-27F0-BD7577865197}"/>
              </a:ext>
            </a:extLst>
          </p:cNvPr>
          <p:cNvSpPr/>
          <p:nvPr/>
        </p:nvSpPr>
        <p:spPr>
          <a:xfrm>
            <a:off x="10573657" y="1015859"/>
            <a:ext cx="1023257" cy="52269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cxnSp>
        <p:nvCxnSpPr>
          <p:cNvPr id="91" name="Straight Arrow Connector 90">
            <a:extLst>
              <a:ext uri="{FF2B5EF4-FFF2-40B4-BE49-F238E27FC236}">
                <a16:creationId xmlns:a16="http://schemas.microsoft.com/office/drawing/2014/main" id="{3635F914-C141-D960-54FF-D10DD79A3125}"/>
              </a:ext>
            </a:extLst>
          </p:cNvPr>
          <p:cNvCxnSpPr>
            <a:stCxn id="5" idx="0"/>
            <a:endCxn id="62" idx="2"/>
          </p:cNvCxnSpPr>
          <p:nvPr/>
        </p:nvCxnSpPr>
        <p:spPr>
          <a:xfrm flipV="1">
            <a:off x="958198" y="2559543"/>
            <a:ext cx="7257" cy="6072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2C507544-255D-3C73-B10D-7D3638406531}"/>
              </a:ext>
            </a:extLst>
          </p:cNvPr>
          <p:cNvCxnSpPr>
            <a:cxnSpLocks/>
            <a:stCxn id="5" idx="2"/>
            <a:endCxn id="23" idx="0"/>
          </p:cNvCxnSpPr>
          <p:nvPr/>
        </p:nvCxnSpPr>
        <p:spPr>
          <a:xfrm flipH="1">
            <a:off x="953211" y="3689491"/>
            <a:ext cx="4987" cy="67845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41A4D94A-5F23-6DE0-A1B9-DB7076094B99}"/>
              </a:ext>
            </a:extLst>
          </p:cNvPr>
          <p:cNvCxnSpPr>
            <a:cxnSpLocks/>
            <a:endCxn id="73" idx="1"/>
          </p:cNvCxnSpPr>
          <p:nvPr/>
        </p:nvCxnSpPr>
        <p:spPr>
          <a:xfrm>
            <a:off x="1367969" y="1945100"/>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6CC8F7BB-738E-8D31-A273-3ABD47EAC5DD}"/>
              </a:ext>
            </a:extLst>
          </p:cNvPr>
          <p:cNvCxnSpPr>
            <a:cxnSpLocks/>
            <a:endCxn id="33" idx="2"/>
          </p:cNvCxnSpPr>
          <p:nvPr/>
        </p:nvCxnSpPr>
        <p:spPr>
          <a:xfrm flipV="1">
            <a:off x="1367969" y="3714441"/>
            <a:ext cx="2247494" cy="799502"/>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7F6D5C76-55AE-4AB2-1FDF-79C0DA11A21A}"/>
              </a:ext>
            </a:extLst>
          </p:cNvPr>
          <p:cNvCxnSpPr>
            <a:cxnSpLocks/>
            <a:endCxn id="34" idx="1"/>
          </p:cNvCxnSpPr>
          <p:nvPr/>
        </p:nvCxnSpPr>
        <p:spPr>
          <a:xfrm>
            <a:off x="1367969" y="5031883"/>
            <a:ext cx="142453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 name="Elbow Connector 106">
            <a:extLst>
              <a:ext uri="{FF2B5EF4-FFF2-40B4-BE49-F238E27FC236}">
                <a16:creationId xmlns:a16="http://schemas.microsoft.com/office/drawing/2014/main" id="{EA3EE50F-B682-BE48-EB2D-9725B41C3F2B}"/>
              </a:ext>
            </a:extLst>
          </p:cNvPr>
          <p:cNvCxnSpPr>
            <a:stCxn id="33" idx="3"/>
          </p:cNvCxnSpPr>
          <p:nvPr/>
        </p:nvCxnSpPr>
        <p:spPr>
          <a:xfrm>
            <a:off x="4438423" y="3453096"/>
            <a:ext cx="1592263" cy="1578787"/>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7037538-71B6-B1EC-FE85-C6B8BE75DCBE}"/>
              </a:ext>
            </a:extLst>
          </p:cNvPr>
          <p:cNvCxnSpPr>
            <a:cxnSpLocks/>
            <a:endCxn id="83" idx="2"/>
          </p:cNvCxnSpPr>
          <p:nvPr/>
        </p:nvCxnSpPr>
        <p:spPr>
          <a:xfrm flipV="1">
            <a:off x="6417246" y="3714441"/>
            <a:ext cx="0" cy="7257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792A67E1-478A-DBB3-3DBF-B69E333FA44E}"/>
              </a:ext>
            </a:extLst>
          </p:cNvPr>
          <p:cNvCxnSpPr>
            <a:stCxn id="73" idx="3"/>
            <a:endCxn id="74" idx="1"/>
          </p:cNvCxnSpPr>
          <p:nvPr/>
        </p:nvCxnSpPr>
        <p:spPr>
          <a:xfrm flipV="1">
            <a:off x="4438423" y="1939896"/>
            <a:ext cx="1152570" cy="52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D29416FE-42AD-02BD-F6CB-8F807514993B}"/>
              </a:ext>
            </a:extLst>
          </p:cNvPr>
          <p:cNvCxnSpPr>
            <a:stCxn id="83" idx="0"/>
            <a:endCxn id="74" idx="2"/>
          </p:cNvCxnSpPr>
          <p:nvPr/>
        </p:nvCxnSpPr>
        <p:spPr>
          <a:xfrm flipH="1" flipV="1">
            <a:off x="6413953" y="2201241"/>
            <a:ext cx="3293" cy="9905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4" name="Elbow Connector 123">
            <a:extLst>
              <a:ext uri="{FF2B5EF4-FFF2-40B4-BE49-F238E27FC236}">
                <a16:creationId xmlns:a16="http://schemas.microsoft.com/office/drawing/2014/main" id="{EA8C8209-2785-0680-8164-5D5F1AA20E8E}"/>
              </a:ext>
            </a:extLst>
          </p:cNvPr>
          <p:cNvCxnSpPr>
            <a:stCxn id="74" idx="3"/>
            <a:endCxn id="84" idx="1"/>
          </p:cNvCxnSpPr>
          <p:nvPr/>
        </p:nvCxnSpPr>
        <p:spPr>
          <a:xfrm flipV="1">
            <a:off x="7236913" y="1277204"/>
            <a:ext cx="1181001" cy="66269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8CA2EB6-BDC1-B229-0CB8-9A803E813986}"/>
              </a:ext>
            </a:extLst>
          </p:cNvPr>
          <p:cNvCxnSpPr>
            <a:stCxn id="84" idx="3"/>
            <a:endCxn id="87" idx="1"/>
          </p:cNvCxnSpPr>
          <p:nvPr/>
        </p:nvCxnSpPr>
        <p:spPr>
          <a:xfrm>
            <a:off x="9441171" y="1277204"/>
            <a:ext cx="113248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8" name="Elbow Connector 127">
            <a:extLst>
              <a:ext uri="{FF2B5EF4-FFF2-40B4-BE49-F238E27FC236}">
                <a16:creationId xmlns:a16="http://schemas.microsoft.com/office/drawing/2014/main" id="{72758B6E-9341-9A70-7CBF-3CFE7A6F63EA}"/>
              </a:ext>
            </a:extLst>
          </p:cNvPr>
          <p:cNvCxnSpPr>
            <a:stCxn id="87" idx="2"/>
            <a:endCxn id="76" idx="0"/>
          </p:cNvCxnSpPr>
          <p:nvPr/>
        </p:nvCxnSpPr>
        <p:spPr>
          <a:xfrm rot="5400000">
            <a:off x="10195690" y="1357803"/>
            <a:ext cx="708850" cy="107034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2EAFA00A-9817-57BB-5212-B63EC7C79571}"/>
              </a:ext>
            </a:extLst>
          </p:cNvPr>
          <p:cNvCxnSpPr>
            <a:stCxn id="76" idx="2"/>
            <a:endCxn id="85" idx="0"/>
          </p:cNvCxnSpPr>
          <p:nvPr/>
        </p:nvCxnSpPr>
        <p:spPr>
          <a:xfrm>
            <a:off x="10014943" y="2770089"/>
            <a:ext cx="0" cy="77339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C3BCDB7B-585D-F974-7326-55FF211D75BE}"/>
              </a:ext>
            </a:extLst>
          </p:cNvPr>
          <p:cNvCxnSpPr>
            <a:stCxn id="85" idx="2"/>
            <a:endCxn id="86" idx="0"/>
          </p:cNvCxnSpPr>
          <p:nvPr/>
        </p:nvCxnSpPr>
        <p:spPr>
          <a:xfrm flipH="1">
            <a:off x="10014942" y="4066174"/>
            <a:ext cx="1" cy="62432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5F3DFAB6-268A-3B61-BD0F-F4D4FF146BE6}"/>
              </a:ext>
            </a:extLst>
          </p:cNvPr>
          <p:cNvCxnSpPr>
            <a:stCxn id="86" idx="2"/>
            <a:endCxn id="75" idx="0"/>
          </p:cNvCxnSpPr>
          <p:nvPr/>
        </p:nvCxnSpPr>
        <p:spPr>
          <a:xfrm flipH="1">
            <a:off x="10014941" y="5213186"/>
            <a:ext cx="1" cy="5661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99">
            <a:extLst>
              <a:ext uri="{FF2B5EF4-FFF2-40B4-BE49-F238E27FC236}">
                <a16:creationId xmlns:a16="http://schemas.microsoft.com/office/drawing/2014/main" id="{EC4C37E0-F7FF-73E2-EDA6-53899B96112D}"/>
              </a:ext>
            </a:extLst>
          </p:cNvPr>
          <p:cNvCxnSpPr>
            <a:cxnSpLocks/>
            <a:stCxn id="34" idx="2"/>
            <a:endCxn id="84" idx="2"/>
          </p:cNvCxnSpPr>
          <p:nvPr/>
        </p:nvCxnSpPr>
        <p:spPr>
          <a:xfrm rot="5400000" flipH="1" flipV="1">
            <a:off x="4395163" y="758849"/>
            <a:ext cx="3754679" cy="5314080"/>
          </a:xfrm>
          <a:prstGeom prst="bentConnector3">
            <a:avLst>
              <a:gd name="adj1" fmla="val -10147"/>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753A8BD0-C41E-2AF6-22AD-AF01D5E5EA96}"/>
              </a:ext>
            </a:extLst>
          </p:cNvPr>
          <p:cNvSpPr txBox="1"/>
          <p:nvPr/>
        </p:nvSpPr>
        <p:spPr>
          <a:xfrm>
            <a:off x="7997371" y="1015859"/>
            <a:ext cx="300082" cy="369332"/>
          </a:xfrm>
          <a:prstGeom prst="rect">
            <a:avLst/>
          </a:prstGeom>
          <a:noFill/>
        </p:spPr>
        <p:txBody>
          <a:bodyPr wrap="none" rtlCol="0">
            <a:spAutoFit/>
          </a:bodyPr>
          <a:lstStyle/>
          <a:p>
            <a:r>
              <a:rPr lang="en-US" dirty="0"/>
              <a:t>*</a:t>
            </a:r>
          </a:p>
        </p:txBody>
      </p:sp>
      <p:sp>
        <p:nvSpPr>
          <p:cNvPr id="140" name="TextBox 139">
            <a:extLst>
              <a:ext uri="{FF2B5EF4-FFF2-40B4-BE49-F238E27FC236}">
                <a16:creationId xmlns:a16="http://schemas.microsoft.com/office/drawing/2014/main" id="{325E88CF-2E8A-70DE-EC09-39390CF4C9C7}"/>
              </a:ext>
            </a:extLst>
          </p:cNvPr>
          <p:cNvSpPr txBox="1"/>
          <p:nvPr/>
        </p:nvSpPr>
        <p:spPr>
          <a:xfrm>
            <a:off x="7785269" y="1262725"/>
            <a:ext cx="694421" cy="276999"/>
          </a:xfrm>
          <a:prstGeom prst="rect">
            <a:avLst/>
          </a:prstGeom>
          <a:noFill/>
        </p:spPr>
        <p:txBody>
          <a:bodyPr wrap="none" rtlCol="0">
            <a:spAutoFit/>
          </a:bodyPr>
          <a:lstStyle/>
          <a:p>
            <a:r>
              <a:rPr lang="en-US" sz="1200" dirty="0"/>
              <a:t>for each</a:t>
            </a:r>
          </a:p>
        </p:txBody>
      </p:sp>
      <p:cxnSp>
        <p:nvCxnSpPr>
          <p:cNvPr id="141" name="Straight Arrow Connector 99">
            <a:extLst>
              <a:ext uri="{FF2B5EF4-FFF2-40B4-BE49-F238E27FC236}">
                <a16:creationId xmlns:a16="http://schemas.microsoft.com/office/drawing/2014/main" id="{D0276B83-F48A-3515-8413-976516DA00A5}"/>
              </a:ext>
            </a:extLst>
          </p:cNvPr>
          <p:cNvCxnSpPr>
            <a:cxnSpLocks/>
            <a:stCxn id="34" idx="2"/>
            <a:endCxn id="85" idx="1"/>
          </p:cNvCxnSpPr>
          <p:nvPr/>
        </p:nvCxnSpPr>
        <p:spPr>
          <a:xfrm rot="5400000" flipH="1" flipV="1">
            <a:off x="5815188" y="1605103"/>
            <a:ext cx="1488399" cy="5887851"/>
          </a:xfrm>
          <a:prstGeom prst="bentConnector4">
            <a:avLst>
              <a:gd name="adj1" fmla="val -25111"/>
              <a:gd name="adj2" fmla="val 90268"/>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C4557092-DFFE-DB2B-18E5-128857AA7930}"/>
              </a:ext>
            </a:extLst>
          </p:cNvPr>
          <p:cNvSpPr txBox="1"/>
          <p:nvPr/>
        </p:nvSpPr>
        <p:spPr>
          <a:xfrm>
            <a:off x="9985643" y="3025609"/>
            <a:ext cx="1138581" cy="276999"/>
          </a:xfrm>
          <a:prstGeom prst="rect">
            <a:avLst/>
          </a:prstGeom>
          <a:noFill/>
        </p:spPr>
        <p:txBody>
          <a:bodyPr wrap="none" rtlCol="0">
            <a:spAutoFit/>
          </a:bodyPr>
          <a:lstStyle/>
          <a:p>
            <a:r>
              <a:rPr lang="en-US" sz="1200" dirty="0"/>
              <a:t>merge into one</a:t>
            </a:r>
          </a:p>
        </p:txBody>
      </p:sp>
      <p:sp>
        <p:nvSpPr>
          <p:cNvPr id="147" name="TextBox 146">
            <a:extLst>
              <a:ext uri="{FF2B5EF4-FFF2-40B4-BE49-F238E27FC236}">
                <a16:creationId xmlns:a16="http://schemas.microsoft.com/office/drawing/2014/main" id="{485BCA32-F9EA-5547-2E23-2B21DC013646}"/>
              </a:ext>
            </a:extLst>
          </p:cNvPr>
          <p:cNvSpPr txBox="1"/>
          <p:nvPr/>
        </p:nvSpPr>
        <p:spPr>
          <a:xfrm>
            <a:off x="28185" y="6387996"/>
            <a:ext cx="1131079" cy="400110"/>
          </a:xfrm>
          <a:prstGeom prst="rect">
            <a:avLst/>
          </a:prstGeom>
          <a:noFill/>
        </p:spPr>
        <p:txBody>
          <a:bodyPr wrap="none" rtlCol="0">
            <a:spAutoFit/>
          </a:bodyPr>
          <a:lstStyle/>
          <a:p>
            <a:r>
              <a:rPr lang="en-US" sz="2000" b="1" u="sng" dirty="0"/>
              <a:t>Retrieval</a:t>
            </a:r>
          </a:p>
        </p:txBody>
      </p:sp>
      <p:sp>
        <p:nvSpPr>
          <p:cNvPr id="148" name="TextBox 147">
            <a:extLst>
              <a:ext uri="{FF2B5EF4-FFF2-40B4-BE49-F238E27FC236}">
                <a16:creationId xmlns:a16="http://schemas.microsoft.com/office/drawing/2014/main" id="{C2113CF3-3A1D-4E43-FA22-A96A9F572329}"/>
              </a:ext>
            </a:extLst>
          </p:cNvPr>
          <p:cNvSpPr txBox="1"/>
          <p:nvPr/>
        </p:nvSpPr>
        <p:spPr>
          <a:xfrm>
            <a:off x="10673487" y="6387996"/>
            <a:ext cx="1382110" cy="400110"/>
          </a:xfrm>
          <a:prstGeom prst="rect">
            <a:avLst/>
          </a:prstGeom>
          <a:noFill/>
        </p:spPr>
        <p:txBody>
          <a:bodyPr wrap="none" rtlCol="0">
            <a:spAutoFit/>
          </a:bodyPr>
          <a:lstStyle/>
          <a:p>
            <a:r>
              <a:rPr lang="en-US" sz="2000" b="1" u="sng" dirty="0"/>
              <a:t>Generation</a:t>
            </a:r>
          </a:p>
        </p:txBody>
      </p:sp>
      <p:sp>
        <p:nvSpPr>
          <p:cNvPr id="3" name="TextBox 2">
            <a:extLst>
              <a:ext uri="{FF2B5EF4-FFF2-40B4-BE49-F238E27FC236}">
                <a16:creationId xmlns:a16="http://schemas.microsoft.com/office/drawing/2014/main" id="{E3B7948A-EC0F-A111-685F-A929AD3668E6}"/>
              </a:ext>
            </a:extLst>
          </p:cNvPr>
          <p:cNvSpPr txBox="1"/>
          <p:nvPr/>
        </p:nvSpPr>
        <p:spPr>
          <a:xfrm>
            <a:off x="1881439" y="5031883"/>
            <a:ext cx="524503" cy="369332"/>
          </a:xfrm>
          <a:prstGeom prst="rect">
            <a:avLst/>
          </a:prstGeom>
          <a:solidFill>
            <a:srgbClr val="FFFF00"/>
          </a:solidFill>
        </p:spPr>
        <p:txBody>
          <a:bodyPr wrap="none" rtlCol="0">
            <a:spAutoFit/>
          </a:bodyPr>
          <a:lstStyle/>
          <a:p>
            <a:r>
              <a:rPr lang="en-US" dirty="0"/>
              <a:t>FIs </a:t>
            </a:r>
          </a:p>
        </p:txBody>
      </p:sp>
      <p:sp>
        <p:nvSpPr>
          <p:cNvPr id="4" name="TextBox 3">
            <a:extLst>
              <a:ext uri="{FF2B5EF4-FFF2-40B4-BE49-F238E27FC236}">
                <a16:creationId xmlns:a16="http://schemas.microsoft.com/office/drawing/2014/main" id="{D408A4A4-2B5D-B69E-96E4-8BCDD6B21CD1}"/>
              </a:ext>
            </a:extLst>
          </p:cNvPr>
          <p:cNvSpPr txBox="1"/>
          <p:nvPr/>
        </p:nvSpPr>
        <p:spPr>
          <a:xfrm>
            <a:off x="765748" y="5952620"/>
            <a:ext cx="2755883" cy="369332"/>
          </a:xfrm>
          <a:prstGeom prst="rect">
            <a:avLst/>
          </a:prstGeom>
          <a:solidFill>
            <a:srgbClr val="FFFF00"/>
          </a:solidFill>
        </p:spPr>
        <p:txBody>
          <a:bodyPr wrap="none" rtlCol="0">
            <a:spAutoFit/>
          </a:bodyPr>
          <a:lstStyle/>
          <a:p>
            <a:r>
              <a:rPr lang="en-US" dirty="0"/>
              <a:t>PPIs in </a:t>
            </a:r>
            <a:r>
              <a:rPr lang="en-US" dirty="0" err="1"/>
              <a:t>IntAct</a:t>
            </a:r>
            <a:r>
              <a:rPr lang="en-US" dirty="0"/>
              <a:t> and </a:t>
            </a:r>
            <a:r>
              <a:rPr lang="en-US" dirty="0" err="1"/>
              <a:t>BioGrid</a:t>
            </a:r>
            <a:r>
              <a:rPr lang="en-US" dirty="0"/>
              <a:t> </a:t>
            </a:r>
          </a:p>
        </p:txBody>
      </p:sp>
      <p:cxnSp>
        <p:nvCxnSpPr>
          <p:cNvPr id="7" name="Straight Arrow Connector 6">
            <a:extLst>
              <a:ext uri="{FF2B5EF4-FFF2-40B4-BE49-F238E27FC236}">
                <a16:creationId xmlns:a16="http://schemas.microsoft.com/office/drawing/2014/main" id="{65A7798B-64C8-0D6C-D6BB-41CA7A5A6D5F}"/>
              </a:ext>
            </a:extLst>
          </p:cNvPr>
          <p:cNvCxnSpPr>
            <a:stCxn id="3" idx="2"/>
            <a:endCxn id="4" idx="0"/>
          </p:cNvCxnSpPr>
          <p:nvPr/>
        </p:nvCxnSpPr>
        <p:spPr>
          <a:xfrm flipH="1">
            <a:off x="2143690" y="5401215"/>
            <a:ext cx="1" cy="55140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3C0F52E-489C-E316-892B-6721F432F94F}"/>
              </a:ext>
            </a:extLst>
          </p:cNvPr>
          <p:cNvSpPr txBox="1"/>
          <p:nvPr/>
        </p:nvSpPr>
        <p:spPr>
          <a:xfrm>
            <a:off x="1297127" y="1247827"/>
            <a:ext cx="2624886" cy="369332"/>
          </a:xfrm>
          <a:prstGeom prst="rect">
            <a:avLst/>
          </a:prstGeom>
          <a:solidFill>
            <a:srgbClr val="FFFF00"/>
          </a:solidFill>
        </p:spPr>
        <p:txBody>
          <a:bodyPr wrap="none" rtlCol="0">
            <a:spAutoFit/>
          </a:bodyPr>
          <a:lstStyle/>
          <a:p>
            <a:r>
              <a:rPr lang="en-US" dirty="0"/>
              <a:t>Download from PubMed </a:t>
            </a:r>
          </a:p>
        </p:txBody>
      </p:sp>
      <p:sp>
        <p:nvSpPr>
          <p:cNvPr id="8" name="TextBox 7">
            <a:extLst>
              <a:ext uri="{FF2B5EF4-FFF2-40B4-BE49-F238E27FC236}">
                <a16:creationId xmlns:a16="http://schemas.microsoft.com/office/drawing/2014/main" id="{5CD97C63-D20C-E474-68AC-7B05288F717D}"/>
              </a:ext>
            </a:extLst>
          </p:cNvPr>
          <p:cNvSpPr txBox="1"/>
          <p:nvPr/>
        </p:nvSpPr>
        <p:spPr>
          <a:xfrm>
            <a:off x="4204678" y="697295"/>
            <a:ext cx="1745158" cy="369332"/>
          </a:xfrm>
          <a:prstGeom prst="rect">
            <a:avLst/>
          </a:prstGeom>
          <a:solidFill>
            <a:srgbClr val="FFFF00"/>
          </a:solidFill>
        </p:spPr>
        <p:txBody>
          <a:bodyPr wrap="none" rtlCol="0">
            <a:spAutoFit/>
          </a:bodyPr>
          <a:lstStyle/>
          <a:p>
            <a:r>
              <a:rPr lang="en-US" dirty="0"/>
              <a:t>Local </a:t>
            </a:r>
            <a:r>
              <a:rPr lang="en-US" dirty="0" err="1"/>
              <a:t>MangoDB</a:t>
            </a:r>
            <a:endParaRPr lang="en-US" dirty="0"/>
          </a:p>
        </p:txBody>
      </p:sp>
      <p:cxnSp>
        <p:nvCxnSpPr>
          <p:cNvPr id="9" name="Straight Arrow Connector 8">
            <a:extLst>
              <a:ext uri="{FF2B5EF4-FFF2-40B4-BE49-F238E27FC236}">
                <a16:creationId xmlns:a16="http://schemas.microsoft.com/office/drawing/2014/main" id="{051D5608-11A2-3702-419B-1E1A07018653}"/>
              </a:ext>
            </a:extLst>
          </p:cNvPr>
          <p:cNvCxnSpPr>
            <a:cxnSpLocks/>
            <a:stCxn id="6" idx="0"/>
            <a:endCxn id="8" idx="1"/>
          </p:cNvCxnSpPr>
          <p:nvPr/>
        </p:nvCxnSpPr>
        <p:spPr>
          <a:xfrm rot="5400000" flipH="1" flipV="1">
            <a:off x="3224191" y="267340"/>
            <a:ext cx="365866" cy="1595108"/>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85B25B8-8874-A5CB-EF95-07DAE52DB75D}"/>
              </a:ext>
            </a:extLst>
          </p:cNvPr>
          <p:cNvSpPr txBox="1"/>
          <p:nvPr/>
        </p:nvSpPr>
        <p:spPr>
          <a:xfrm>
            <a:off x="4760421" y="2485946"/>
            <a:ext cx="1357231" cy="369332"/>
          </a:xfrm>
          <a:prstGeom prst="rect">
            <a:avLst/>
          </a:prstGeom>
          <a:solidFill>
            <a:srgbClr val="FFFF00"/>
          </a:solidFill>
        </p:spPr>
        <p:txBody>
          <a:bodyPr wrap="none" rtlCol="0">
            <a:spAutoFit/>
          </a:bodyPr>
          <a:lstStyle/>
          <a:p>
            <a:r>
              <a:rPr lang="en-US" dirty="0" err="1"/>
              <a:t>VectorStore</a:t>
            </a:r>
            <a:endParaRPr lang="en-US" dirty="0"/>
          </a:p>
        </p:txBody>
      </p:sp>
      <p:sp>
        <p:nvSpPr>
          <p:cNvPr id="11" name="TextBox 10">
            <a:extLst>
              <a:ext uri="{FF2B5EF4-FFF2-40B4-BE49-F238E27FC236}">
                <a16:creationId xmlns:a16="http://schemas.microsoft.com/office/drawing/2014/main" id="{8BB939D3-A6BB-49EA-74CD-9B1CF3AC39C8}"/>
              </a:ext>
            </a:extLst>
          </p:cNvPr>
          <p:cNvSpPr txBox="1"/>
          <p:nvPr/>
        </p:nvSpPr>
        <p:spPr>
          <a:xfrm>
            <a:off x="6810917" y="2485946"/>
            <a:ext cx="2032992" cy="369332"/>
          </a:xfrm>
          <a:prstGeom prst="rect">
            <a:avLst/>
          </a:prstGeom>
          <a:solidFill>
            <a:srgbClr val="FFFF00"/>
          </a:solidFill>
        </p:spPr>
        <p:txBody>
          <a:bodyPr wrap="none" rtlCol="0">
            <a:spAutoFit/>
          </a:bodyPr>
          <a:lstStyle/>
          <a:p>
            <a:r>
              <a:rPr lang="en-US" dirty="0"/>
              <a:t>Direct comparison</a:t>
            </a:r>
          </a:p>
        </p:txBody>
      </p:sp>
      <p:cxnSp>
        <p:nvCxnSpPr>
          <p:cNvPr id="12" name="Straight Arrow Connector 11">
            <a:extLst>
              <a:ext uri="{FF2B5EF4-FFF2-40B4-BE49-F238E27FC236}">
                <a16:creationId xmlns:a16="http://schemas.microsoft.com/office/drawing/2014/main" id="{14EF6827-2B7B-6F8F-0E4A-8ACF446F6B6C}"/>
              </a:ext>
            </a:extLst>
          </p:cNvPr>
          <p:cNvCxnSpPr>
            <a:cxnSpLocks/>
            <a:stCxn id="10" idx="3"/>
            <a:endCxn id="11" idx="1"/>
          </p:cNvCxnSpPr>
          <p:nvPr/>
        </p:nvCxnSpPr>
        <p:spPr>
          <a:xfrm>
            <a:off x="6117652" y="2670612"/>
            <a:ext cx="693265"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5E64ABC-87E7-DF9C-D537-07944E7A141F}"/>
              </a:ext>
            </a:extLst>
          </p:cNvPr>
          <p:cNvSpPr txBox="1"/>
          <p:nvPr/>
        </p:nvSpPr>
        <p:spPr>
          <a:xfrm>
            <a:off x="7475277" y="3318319"/>
            <a:ext cx="1858650" cy="369332"/>
          </a:xfrm>
          <a:prstGeom prst="rect">
            <a:avLst/>
          </a:prstGeom>
          <a:solidFill>
            <a:srgbClr val="FFFF00"/>
          </a:solidFill>
        </p:spPr>
        <p:txBody>
          <a:bodyPr wrap="none" rtlCol="0">
            <a:spAutoFit/>
          </a:bodyPr>
          <a:lstStyle/>
          <a:p>
            <a:r>
              <a:rPr lang="en-US" dirty="0"/>
              <a:t>Ask LLM to score</a:t>
            </a:r>
          </a:p>
        </p:txBody>
      </p:sp>
      <p:cxnSp>
        <p:nvCxnSpPr>
          <p:cNvPr id="14" name="Straight Arrow Connector 8">
            <a:extLst>
              <a:ext uri="{FF2B5EF4-FFF2-40B4-BE49-F238E27FC236}">
                <a16:creationId xmlns:a16="http://schemas.microsoft.com/office/drawing/2014/main" id="{877D1511-E4E6-B44A-7BDB-763DDAC076A0}"/>
              </a:ext>
            </a:extLst>
          </p:cNvPr>
          <p:cNvCxnSpPr>
            <a:cxnSpLocks/>
            <a:stCxn id="13" idx="1"/>
          </p:cNvCxnSpPr>
          <p:nvPr/>
        </p:nvCxnSpPr>
        <p:spPr>
          <a:xfrm rot="10800000">
            <a:off x="6413953" y="2906655"/>
            <a:ext cx="1061324" cy="596331"/>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6C0B1D0-3167-B3A4-B343-7438CED8ED01}"/>
              </a:ext>
            </a:extLst>
          </p:cNvPr>
          <p:cNvSpPr txBox="1"/>
          <p:nvPr/>
        </p:nvSpPr>
        <p:spPr>
          <a:xfrm>
            <a:off x="4532647" y="6418774"/>
            <a:ext cx="1498039" cy="369332"/>
          </a:xfrm>
          <a:prstGeom prst="rect">
            <a:avLst/>
          </a:prstGeom>
          <a:solidFill>
            <a:srgbClr val="FFFF00"/>
          </a:solidFill>
        </p:spPr>
        <p:txBody>
          <a:bodyPr wrap="none" rtlCol="0">
            <a:spAutoFit/>
          </a:bodyPr>
          <a:lstStyle/>
          <a:p>
            <a:r>
              <a:rPr lang="en-US" dirty="0"/>
              <a:t>PPI abstracts</a:t>
            </a:r>
          </a:p>
        </p:txBody>
      </p:sp>
      <p:cxnSp>
        <p:nvCxnSpPr>
          <p:cNvPr id="16" name="Straight Arrow Connector 8">
            <a:extLst>
              <a:ext uri="{FF2B5EF4-FFF2-40B4-BE49-F238E27FC236}">
                <a16:creationId xmlns:a16="http://schemas.microsoft.com/office/drawing/2014/main" id="{B5CBB8C3-5FEC-E122-0EB1-E378BEEE34D4}"/>
              </a:ext>
            </a:extLst>
          </p:cNvPr>
          <p:cNvCxnSpPr>
            <a:cxnSpLocks/>
            <a:stCxn id="4" idx="3"/>
            <a:endCxn id="15" idx="1"/>
          </p:cNvCxnSpPr>
          <p:nvPr/>
        </p:nvCxnSpPr>
        <p:spPr>
          <a:xfrm>
            <a:off x="3521631" y="6137286"/>
            <a:ext cx="1011016" cy="466154"/>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8">
            <a:extLst>
              <a:ext uri="{FF2B5EF4-FFF2-40B4-BE49-F238E27FC236}">
                <a16:creationId xmlns:a16="http://schemas.microsoft.com/office/drawing/2014/main" id="{66DA7B6D-22C3-B916-AA60-C4B57E25C62E}"/>
              </a:ext>
            </a:extLst>
          </p:cNvPr>
          <p:cNvCxnSpPr>
            <a:cxnSpLocks/>
            <a:stCxn id="15" idx="3"/>
            <a:endCxn id="25" idx="1"/>
          </p:cNvCxnSpPr>
          <p:nvPr/>
        </p:nvCxnSpPr>
        <p:spPr>
          <a:xfrm>
            <a:off x="6030686" y="6603440"/>
            <a:ext cx="1410738" cy="2288"/>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7A2858D7-43C2-910B-9A74-AF92EB438A71}"/>
              </a:ext>
            </a:extLst>
          </p:cNvPr>
          <p:cNvSpPr/>
          <p:nvPr/>
        </p:nvSpPr>
        <p:spPr>
          <a:xfrm>
            <a:off x="7441424" y="6420718"/>
            <a:ext cx="1382110" cy="370020"/>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Final Output</a:t>
            </a:r>
          </a:p>
        </p:txBody>
      </p:sp>
      <p:cxnSp>
        <p:nvCxnSpPr>
          <p:cNvPr id="35" name="Straight Arrow Connector 8">
            <a:extLst>
              <a:ext uri="{FF2B5EF4-FFF2-40B4-BE49-F238E27FC236}">
                <a16:creationId xmlns:a16="http://schemas.microsoft.com/office/drawing/2014/main" id="{7D2562AE-1DB4-A0A1-203C-04B95732B736}"/>
              </a:ext>
            </a:extLst>
          </p:cNvPr>
          <p:cNvCxnSpPr>
            <a:cxnSpLocks/>
            <a:stCxn id="75" idx="2"/>
            <a:endCxn id="25" idx="3"/>
          </p:cNvCxnSpPr>
          <p:nvPr/>
        </p:nvCxnSpPr>
        <p:spPr>
          <a:xfrm rot="5400000">
            <a:off x="9267380" y="5858167"/>
            <a:ext cx="303716" cy="1191407"/>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915C45D3-4D11-9F8A-F625-DAF184B535E0}"/>
              </a:ext>
            </a:extLst>
          </p:cNvPr>
          <p:cNvSpPr txBox="1"/>
          <p:nvPr/>
        </p:nvSpPr>
        <p:spPr>
          <a:xfrm>
            <a:off x="5141007" y="5774205"/>
            <a:ext cx="1754007" cy="523220"/>
          </a:xfrm>
          <a:prstGeom prst="rect">
            <a:avLst/>
          </a:prstGeom>
          <a:solidFill>
            <a:schemeClr val="accent1"/>
          </a:solidFill>
        </p:spPr>
        <p:txBody>
          <a:bodyPr wrap="square" rtlCol="0">
            <a:spAutoFit/>
          </a:bodyPr>
          <a:lstStyle/>
          <a:p>
            <a:pPr algn="ctr"/>
            <a:r>
              <a:rPr lang="en-US" sz="1400" dirty="0">
                <a:solidFill>
                  <a:schemeClr val="bg1"/>
                </a:solidFill>
              </a:rPr>
              <a:t>LLM summary of annotation</a:t>
            </a:r>
          </a:p>
        </p:txBody>
      </p:sp>
      <p:cxnSp>
        <p:nvCxnSpPr>
          <p:cNvPr id="46" name="Straight Arrow Connector 8">
            <a:extLst>
              <a:ext uri="{FF2B5EF4-FFF2-40B4-BE49-F238E27FC236}">
                <a16:creationId xmlns:a16="http://schemas.microsoft.com/office/drawing/2014/main" id="{2326B2D8-2407-8F43-BAF8-84AD96B74958}"/>
              </a:ext>
            </a:extLst>
          </p:cNvPr>
          <p:cNvCxnSpPr>
            <a:cxnSpLocks/>
            <a:stCxn id="43" idx="3"/>
            <a:endCxn id="25" idx="0"/>
          </p:cNvCxnSpPr>
          <p:nvPr/>
        </p:nvCxnSpPr>
        <p:spPr>
          <a:xfrm>
            <a:off x="6895014" y="6035815"/>
            <a:ext cx="1237465" cy="384903"/>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Elbow Connector 50">
            <a:extLst>
              <a:ext uri="{FF2B5EF4-FFF2-40B4-BE49-F238E27FC236}">
                <a16:creationId xmlns:a16="http://schemas.microsoft.com/office/drawing/2014/main" id="{87E09776-027F-708F-6152-A80F94A50D46}"/>
              </a:ext>
            </a:extLst>
          </p:cNvPr>
          <p:cNvCxnSpPr>
            <a:cxnSpLocks/>
            <a:stCxn id="34" idx="3"/>
            <a:endCxn id="43" idx="1"/>
          </p:cNvCxnSpPr>
          <p:nvPr/>
        </p:nvCxnSpPr>
        <p:spPr>
          <a:xfrm>
            <a:off x="4438423" y="5031883"/>
            <a:ext cx="702584" cy="100393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6165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1301</TotalTime>
  <Words>756</Words>
  <Application>Microsoft Macintosh PowerPoint</Application>
  <PresentationFormat>Widescreen</PresentationFormat>
  <Paragraphs>226</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Wingdings</vt:lpstr>
      <vt:lpstr>Office Theme</vt:lpstr>
      <vt:lpstr>Update to LLM App in the Curator Tool</vt:lpstr>
      <vt:lpstr>Computational Evaluation: data sources</vt:lpstr>
      <vt:lpstr>Computational Evaluation: workflow</vt:lpstr>
      <vt:lpstr>Computational Evaluation: results</vt:lpstr>
      <vt:lpstr>Curation Manual Evaluation</vt:lpstr>
      <vt:lpstr>Curation Manual Evaluation: Summary</vt:lpstr>
      <vt:lpstr>RAG-based Workflow for LLM App in Curator Tool</vt:lpstr>
      <vt:lpstr>RAG-based Workflow for LLM App in Curator Tool</vt:lpstr>
      <vt:lpstr>RAG-based Workflow for LLM App in Curator Tool</vt:lpstr>
      <vt:lpstr>RAG-based Workflow for LLM App in Curator Tool</vt:lpstr>
      <vt:lpstr>RAG-based Workflow for LLM App in Curator Tool</vt:lpstr>
      <vt:lpstr>RAG-based Workflow for LLM App in Curator Tool</vt:lpstr>
      <vt:lpstr>RAG-based Workflow for LLM App in Curator Tool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Guanming Wu</dc:creator>
  <cp:lastModifiedBy>Guanming Wu</cp:lastModifiedBy>
  <cp:revision>55</cp:revision>
  <dcterms:created xsi:type="dcterms:W3CDTF">2025-04-08T17:21:27Z</dcterms:created>
  <dcterms:modified xsi:type="dcterms:W3CDTF">2025-04-09T15:02:28Z</dcterms:modified>
</cp:coreProperties>
</file>